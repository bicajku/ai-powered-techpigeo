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BA4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9789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hyperlink" Target="https://www.novusspark.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38BDF8"/>
          </a:solidFill>
          <a:ln w="12700">
            <a:solidFill>
              <a:srgbClr val="38BDF8"/>
            </a:solidFill>
            <a:prstDash val="solid"/>
          </a:ln>
        </p:spPr>
        <p:txBody>
          <a:bodyPr/>
          <a:lstStyle/>
          <a:p>
            <a:endParaRPr lang="en-US"/>
          </a:p>
        </p:txBody>
      </p:sp>
      <p:sp>
        <p:nvSpPr>
          <p:cNvPr id="3" name="Shape 1"/>
          <p:cNvSpPr/>
          <p:nvPr/>
        </p:nvSpPr>
        <p:spPr>
          <a:xfrm>
            <a:off x="10012680" y="0"/>
            <a:ext cx="2179015" cy="128016"/>
          </a:xfrm>
          <a:prstGeom prst="rect">
            <a:avLst/>
          </a:prstGeom>
          <a:solidFill>
            <a:srgbClr val="E5A932"/>
          </a:solidFill>
          <a:ln w="12700">
            <a:solidFill>
              <a:srgbClr val="E5A932"/>
            </a:solidFill>
            <a:prstDash val="solid"/>
          </a:ln>
        </p:spPr>
        <p:txBody>
          <a:bodyPr/>
          <a:lstStyle/>
          <a:p>
            <a:endParaRPr lang="en-US"/>
          </a:p>
        </p:txBody>
      </p:sp>
      <p:sp>
        <p:nvSpPr>
          <p:cNvPr id="4" name="Text 2"/>
          <p:cNvSpPr/>
          <p:nvPr/>
        </p:nvSpPr>
        <p:spPr>
          <a:xfrm>
            <a:off x="438912" y="6437376"/>
            <a:ext cx="1645920" cy="146304"/>
          </a:xfrm>
          <a:prstGeom prst="rect">
            <a:avLst/>
          </a:prstGeom>
          <a:noFill/>
          <a:ln/>
        </p:spPr>
        <p:txBody>
          <a:bodyPr wrap="square" lIns="0" tIns="0" rIns="0" bIns="0" rtlCol="0" anchor="ctr"/>
          <a:lstStyle/>
          <a:p>
            <a:pPr marL="0" indent="0">
              <a:buNone/>
            </a:pPr>
            <a:r>
              <a:rPr lang="en-US" sz="880" b="1" dirty="0">
                <a:solidFill>
                  <a:srgbClr val="1C1414"/>
                </a:solidFill>
                <a:latin typeface="Aptos" pitchFamily="34" charset="0"/>
                <a:ea typeface="Aptos" pitchFamily="34" charset="-122"/>
                <a:cs typeface="Aptos" pitchFamily="34" charset="-120"/>
              </a:rPr>
              <a:t>Techpigeon</a:t>
            </a:r>
            <a:endParaRPr lang="en-US" sz="880" dirty="0"/>
          </a:p>
        </p:txBody>
      </p:sp>
      <p:sp>
        <p:nvSpPr>
          <p:cNvPr id="5" name="Text 3"/>
          <p:cNvSpPr/>
          <p:nvPr/>
        </p:nvSpPr>
        <p:spPr>
          <a:xfrm>
            <a:off x="1920240" y="6437376"/>
            <a:ext cx="1828800" cy="146304"/>
          </a:xfrm>
          <a:prstGeom prst="rect">
            <a:avLst/>
          </a:prstGeom>
          <a:noFill/>
          <a:ln/>
        </p:spPr>
        <p:txBody>
          <a:bodyPr wrap="square" lIns="0" tIns="0" rIns="0" bIns="0" rtlCol="0" anchor="ctr"/>
          <a:lstStyle/>
          <a:p>
            <a:pPr marL="0" indent="0">
              <a:buNone/>
            </a:pPr>
            <a:r>
              <a:rPr lang="en-US" sz="880" dirty="0">
                <a:solidFill>
                  <a:srgbClr val="5F6A6A"/>
                </a:solidFill>
                <a:latin typeface="Aptos" pitchFamily="34" charset="0"/>
                <a:ea typeface="Aptos" pitchFamily="34" charset="-122"/>
                <a:cs typeface="Aptos" pitchFamily="34" charset="-120"/>
              </a:rPr>
              <a:t>NovusSparks AI</a:t>
            </a:r>
            <a:endParaRPr lang="en-US" sz="880" dirty="0"/>
          </a:p>
        </p:txBody>
      </p:sp>
      <p:sp>
        <p:nvSpPr>
          <p:cNvPr id="6" name="Text 4"/>
          <p:cNvSpPr/>
          <p:nvPr/>
        </p:nvSpPr>
        <p:spPr>
          <a:xfrm>
            <a:off x="8732520" y="6437376"/>
            <a:ext cx="2926080" cy="146304"/>
          </a:xfrm>
          <a:prstGeom prst="rect">
            <a:avLst/>
          </a:prstGeom>
          <a:noFill/>
          <a:ln/>
        </p:spPr>
        <p:txBody>
          <a:bodyPr wrap="square" lIns="0" tIns="0" rIns="0" bIns="0" rtlCol="0" anchor="ctr"/>
          <a:lstStyle/>
          <a:p>
            <a:pPr marL="0" indent="0" algn="r">
              <a:buNone/>
            </a:pPr>
            <a:r>
              <a:rPr lang="en-US" sz="880" dirty="0">
                <a:solidFill>
                  <a:srgbClr val="5F6A6A"/>
                </a:solidFill>
                <a:latin typeface="Aptos" pitchFamily="34" charset="0"/>
                <a:ea typeface="Aptos" pitchFamily="34" charset="-122"/>
                <a:cs typeface="Aptos" pitchFamily="34" charset="-120"/>
              </a:rPr>
              <a:t>AWS Activate via Spendbase</a:t>
            </a:r>
            <a:endParaRPr lang="en-US" sz="880" dirty="0"/>
          </a:p>
        </p:txBody>
      </p:sp>
      <p:pic>
        <p:nvPicPr>
          <p:cNvPr id="7" name="Image 0"/>
          <p:cNvPicPr>
            <a:picLocks noChangeAspect="1"/>
          </p:cNvPicPr>
          <p:nvPr/>
        </p:nvPicPr>
        <p:blipFill>
          <a:blip r:embed="rId3"/>
          <a:srcRect t="25581" b="23256"/>
          <a:stretch>
            <a:fillRect/>
          </a:stretch>
        </p:blipFill>
        <p:spPr>
          <a:xfrm>
            <a:off x="853440" y="316012"/>
            <a:ext cx="1660003" cy="849304"/>
          </a:xfrm>
          <a:prstGeom prst="rect">
            <a:avLst/>
          </a:prstGeom>
        </p:spPr>
      </p:pic>
      <p:pic>
        <p:nvPicPr>
          <p:cNvPr id="8" name="Image 1" descr="D:\ai-powered-techpigeon\src\assets\images\novussparks-logo-1200.png"/>
          <p:cNvPicPr>
            <a:picLocks noChangeAspect="1"/>
          </p:cNvPicPr>
          <p:nvPr/>
        </p:nvPicPr>
        <p:blipFill>
          <a:blip r:embed="rId4"/>
          <a:stretch>
            <a:fillRect/>
          </a:stretch>
        </p:blipFill>
        <p:spPr>
          <a:xfrm>
            <a:off x="9006840" y="274320"/>
            <a:ext cx="2331720" cy="749808"/>
          </a:xfrm>
          <a:prstGeom prst="rect">
            <a:avLst/>
          </a:prstGeom>
        </p:spPr>
      </p:pic>
      <p:pic>
        <p:nvPicPr>
          <p:cNvPr id="9" name="Image 2" descr="D:\ai-powered-techpigeon\src\assets\images\Watermark_tp.png"/>
          <p:cNvPicPr>
            <a:picLocks noChangeAspect="1"/>
          </p:cNvPicPr>
          <p:nvPr/>
        </p:nvPicPr>
        <p:blipFill>
          <a:blip r:embed="rId5">
            <a:alphaModFix amt="15000"/>
          </a:blip>
          <a:stretch>
            <a:fillRect/>
          </a:stretch>
        </p:blipFill>
        <p:spPr>
          <a:xfrm>
            <a:off x="7818120" y="914400"/>
            <a:ext cx="3474720" cy="3474720"/>
          </a:xfrm>
          <a:prstGeom prst="rect">
            <a:avLst/>
          </a:prstGeom>
        </p:spPr>
      </p:pic>
      <p:sp>
        <p:nvSpPr>
          <p:cNvPr id="10" name="Text 5"/>
          <p:cNvSpPr/>
          <p:nvPr/>
        </p:nvSpPr>
        <p:spPr>
          <a:xfrm>
            <a:off x="658368" y="1143000"/>
            <a:ext cx="6309360" cy="603504"/>
          </a:xfrm>
          <a:prstGeom prst="rect">
            <a:avLst/>
          </a:prstGeom>
          <a:noFill/>
          <a:ln/>
        </p:spPr>
        <p:txBody>
          <a:bodyPr wrap="square" lIns="0" tIns="0" rIns="0" bIns="0" rtlCol="0" anchor="ctr"/>
          <a:lstStyle/>
          <a:p>
            <a:pPr marL="0" indent="0">
              <a:buNone/>
            </a:pPr>
            <a:r>
              <a:rPr lang="en-US" sz="2500" b="1" dirty="0">
                <a:solidFill>
                  <a:srgbClr val="1C1414"/>
                </a:solidFill>
                <a:latin typeface="Aptos Display" pitchFamily="34" charset="0"/>
                <a:ea typeface="Aptos Display" pitchFamily="34" charset="-122"/>
                <a:cs typeface="Aptos Display" pitchFamily="34" charset="-120"/>
              </a:rPr>
              <a:t>Stop guessing. Build with Techpigeon.</a:t>
            </a:r>
            <a:endParaRPr lang="en-US" sz="2500" dirty="0"/>
          </a:p>
        </p:txBody>
      </p:sp>
      <p:sp>
        <p:nvSpPr>
          <p:cNvPr id="11" name="Text 6"/>
          <p:cNvSpPr/>
          <p:nvPr/>
        </p:nvSpPr>
        <p:spPr>
          <a:xfrm>
            <a:off x="676656" y="1709928"/>
            <a:ext cx="6309360" cy="384048"/>
          </a:xfrm>
          <a:prstGeom prst="rect">
            <a:avLst/>
          </a:prstGeom>
          <a:noFill/>
          <a:ln/>
        </p:spPr>
        <p:txBody>
          <a:bodyPr wrap="square" lIns="0" tIns="0" rIns="0" bIns="0" rtlCol="0" anchor="ctr"/>
          <a:lstStyle/>
          <a:p>
            <a:pPr marL="0" indent="0">
              <a:buNone/>
            </a:pPr>
            <a:r>
              <a:rPr lang="en-US" sz="1220" dirty="0">
                <a:solidFill>
                  <a:srgbClr val="5F6A6A"/>
                </a:solidFill>
                <a:latin typeface="Aptos" pitchFamily="34" charset="0"/>
                <a:ea typeface="Aptos" pitchFamily="34" charset="-122"/>
                <a:cs typeface="Aptos" pitchFamily="34" charset="-120"/>
              </a:rPr>
              <a:t>Techpigeon is a B2B software company bridging the gap between cutting-edge technology and strict enterprise governance.</a:t>
            </a:r>
            <a:endParaRPr lang="en-US" sz="1220" dirty="0"/>
          </a:p>
        </p:txBody>
      </p:sp>
      <p:sp>
        <p:nvSpPr>
          <p:cNvPr id="12" name="Text 7"/>
          <p:cNvSpPr/>
          <p:nvPr/>
        </p:nvSpPr>
        <p:spPr>
          <a:xfrm>
            <a:off x="676656" y="2148840"/>
            <a:ext cx="5303520" cy="182880"/>
          </a:xfrm>
          <a:prstGeom prst="rect">
            <a:avLst/>
          </a:prstGeom>
          <a:noFill/>
          <a:ln/>
        </p:spPr>
        <p:txBody>
          <a:bodyPr wrap="square" lIns="0" tIns="0" rIns="0" bIns="0" rtlCol="0" anchor="ctr"/>
          <a:lstStyle/>
          <a:p>
            <a:pPr marL="0" indent="0">
              <a:buNone/>
            </a:pPr>
            <a:r>
              <a:rPr lang="en-US" sz="1120" b="1" dirty="0">
                <a:solidFill>
                  <a:srgbClr val="E5A932"/>
                </a:solidFill>
                <a:latin typeface="Aptos" pitchFamily="34" charset="0"/>
                <a:ea typeface="Aptos" pitchFamily="34" charset="-122"/>
                <a:cs typeface="Aptos" pitchFamily="34" charset="-120"/>
              </a:rPr>
              <a:t>Prepared to secure high-tier AWS Activate credits via Spendbase.</a:t>
            </a:r>
            <a:endParaRPr lang="en-US" sz="1120" dirty="0"/>
          </a:p>
        </p:txBody>
      </p:sp>
      <p:sp>
        <p:nvSpPr>
          <p:cNvPr id="13" name="Shape 8"/>
          <p:cNvSpPr/>
          <p:nvPr/>
        </p:nvSpPr>
        <p:spPr>
          <a:xfrm>
            <a:off x="713232" y="2788920"/>
            <a:ext cx="2514600" cy="1051560"/>
          </a:xfrm>
          <a:prstGeom prst="roundRect">
            <a:avLst>
              <a:gd name="adj" fmla="val 6957"/>
            </a:avLst>
          </a:prstGeom>
          <a:solidFill>
            <a:srgbClr val="F0FAF5"/>
          </a:solidFill>
          <a:ln w="12700">
            <a:solidFill>
              <a:srgbClr val="38BDF8"/>
            </a:solidFill>
            <a:prstDash val="solid"/>
          </a:ln>
          <a:effectLst>
            <a:outerShdw blurRad="12700" dist="50800" dir="2700000" algn="bl" rotWithShape="0">
              <a:srgbClr val="DDECF3">
                <a:alpha val="12000"/>
              </a:srgbClr>
            </a:outerShdw>
          </a:effectLst>
        </p:spPr>
        <p:txBody>
          <a:bodyPr/>
          <a:lstStyle/>
          <a:p>
            <a:endParaRPr lang="en-US"/>
          </a:p>
        </p:txBody>
      </p:sp>
      <p:sp>
        <p:nvSpPr>
          <p:cNvPr id="14" name="Shape 9"/>
          <p:cNvSpPr/>
          <p:nvPr/>
        </p:nvSpPr>
        <p:spPr>
          <a:xfrm>
            <a:off x="731520" y="2807208"/>
            <a:ext cx="2478024" cy="54864"/>
          </a:xfrm>
          <a:prstGeom prst="rect">
            <a:avLst/>
          </a:prstGeom>
          <a:solidFill>
            <a:srgbClr val="E5A932"/>
          </a:solidFill>
          <a:ln w="12700">
            <a:solidFill>
              <a:srgbClr val="E5A932"/>
            </a:solidFill>
            <a:prstDash val="solid"/>
          </a:ln>
        </p:spPr>
        <p:txBody>
          <a:bodyPr/>
          <a:lstStyle/>
          <a:p>
            <a:endParaRPr lang="en-US"/>
          </a:p>
        </p:txBody>
      </p:sp>
      <p:sp>
        <p:nvSpPr>
          <p:cNvPr id="15" name="Text 10"/>
          <p:cNvSpPr/>
          <p:nvPr/>
        </p:nvSpPr>
        <p:spPr>
          <a:xfrm>
            <a:off x="859536" y="2935224"/>
            <a:ext cx="2221992" cy="146304"/>
          </a:xfrm>
          <a:prstGeom prst="rect">
            <a:avLst/>
          </a:prstGeom>
          <a:noFill/>
          <a:ln/>
        </p:spPr>
        <p:txBody>
          <a:bodyPr wrap="square" lIns="0" tIns="0" rIns="0" bIns="0" rtlCol="0" anchor="ctr"/>
          <a:lstStyle/>
          <a:p>
            <a:pPr marL="0" indent="0">
              <a:buNone/>
            </a:pPr>
            <a:r>
              <a:rPr lang="en-US" sz="1000" b="1" dirty="0">
                <a:solidFill>
                  <a:srgbClr val="5F6A6A"/>
                </a:solidFill>
                <a:latin typeface="Aptos" pitchFamily="34" charset="0"/>
                <a:ea typeface="Aptos" pitchFamily="34" charset="-122"/>
                <a:cs typeface="Aptos" pitchFamily="34" charset="-120"/>
              </a:rPr>
              <a:t>Focus</a:t>
            </a:r>
            <a:endParaRPr lang="en-US" sz="1000" dirty="0"/>
          </a:p>
        </p:txBody>
      </p:sp>
      <p:sp>
        <p:nvSpPr>
          <p:cNvPr id="16" name="Text 11"/>
          <p:cNvSpPr/>
          <p:nvPr/>
        </p:nvSpPr>
        <p:spPr>
          <a:xfrm>
            <a:off x="859536" y="3191256"/>
            <a:ext cx="2221992" cy="594360"/>
          </a:xfrm>
          <a:prstGeom prst="rect">
            <a:avLst/>
          </a:prstGeom>
          <a:noFill/>
          <a:ln/>
        </p:spPr>
        <p:txBody>
          <a:bodyPr wrap="square" lIns="0" tIns="0" rIns="0" bIns="0" rtlCol="0" anchor="ctr">
            <a:normAutofit/>
          </a:bodyPr>
          <a:lstStyle/>
          <a:p>
            <a:pPr marL="0" indent="0">
              <a:buNone/>
            </a:pPr>
            <a:r>
              <a:rPr lang="en-US" sz="1650" b="1" dirty="0">
                <a:solidFill>
                  <a:srgbClr val="1C1414"/>
                </a:solidFill>
                <a:latin typeface="Aptos Display" pitchFamily="34" charset="0"/>
                <a:ea typeface="Aptos Display" pitchFamily="34" charset="-122"/>
                <a:cs typeface="Aptos Display" pitchFamily="34" charset="-120"/>
              </a:rPr>
              <a:t>B2B SaaS &amp; Enterprise AI</a:t>
            </a:r>
            <a:endParaRPr lang="en-US" sz="1650" dirty="0"/>
          </a:p>
        </p:txBody>
      </p:sp>
      <p:sp>
        <p:nvSpPr>
          <p:cNvPr id="17" name="Shape 12"/>
          <p:cNvSpPr/>
          <p:nvPr/>
        </p:nvSpPr>
        <p:spPr>
          <a:xfrm>
            <a:off x="3429000" y="2788920"/>
            <a:ext cx="2514600" cy="1051560"/>
          </a:xfrm>
          <a:prstGeom prst="roundRect">
            <a:avLst>
              <a:gd name="adj" fmla="val 6957"/>
            </a:avLst>
          </a:prstGeom>
          <a:solidFill>
            <a:srgbClr val="F0FAF5"/>
          </a:solidFill>
          <a:ln w="12700">
            <a:solidFill>
              <a:srgbClr val="38BDF8"/>
            </a:solidFill>
            <a:prstDash val="solid"/>
          </a:ln>
          <a:effectLst>
            <a:outerShdw blurRad="12700" dist="50800" dir="2700000" algn="bl" rotWithShape="0">
              <a:srgbClr val="DDECF3">
                <a:alpha val="12000"/>
              </a:srgbClr>
            </a:outerShdw>
          </a:effectLst>
        </p:spPr>
        <p:txBody>
          <a:bodyPr/>
          <a:lstStyle/>
          <a:p>
            <a:endParaRPr lang="en-US"/>
          </a:p>
        </p:txBody>
      </p:sp>
      <p:sp>
        <p:nvSpPr>
          <p:cNvPr id="18" name="Shape 13"/>
          <p:cNvSpPr/>
          <p:nvPr/>
        </p:nvSpPr>
        <p:spPr>
          <a:xfrm>
            <a:off x="3447288" y="2807208"/>
            <a:ext cx="2478024" cy="54864"/>
          </a:xfrm>
          <a:prstGeom prst="rect">
            <a:avLst/>
          </a:prstGeom>
          <a:solidFill>
            <a:srgbClr val="E5A932"/>
          </a:solidFill>
          <a:ln w="12700">
            <a:solidFill>
              <a:srgbClr val="E5A932"/>
            </a:solidFill>
            <a:prstDash val="solid"/>
          </a:ln>
        </p:spPr>
        <p:txBody>
          <a:bodyPr/>
          <a:lstStyle/>
          <a:p>
            <a:endParaRPr lang="en-US"/>
          </a:p>
        </p:txBody>
      </p:sp>
      <p:sp>
        <p:nvSpPr>
          <p:cNvPr id="19" name="Text 14"/>
          <p:cNvSpPr/>
          <p:nvPr/>
        </p:nvSpPr>
        <p:spPr>
          <a:xfrm>
            <a:off x="3575304" y="2935224"/>
            <a:ext cx="2221992" cy="146304"/>
          </a:xfrm>
          <a:prstGeom prst="rect">
            <a:avLst/>
          </a:prstGeom>
          <a:noFill/>
          <a:ln/>
        </p:spPr>
        <p:txBody>
          <a:bodyPr wrap="square" lIns="0" tIns="0" rIns="0" bIns="0" rtlCol="0" anchor="ctr"/>
          <a:lstStyle/>
          <a:p>
            <a:pPr marL="0" indent="0">
              <a:buNone/>
            </a:pPr>
            <a:r>
              <a:rPr lang="en-US" sz="1000" b="1" dirty="0">
                <a:solidFill>
                  <a:srgbClr val="5F6A6A"/>
                </a:solidFill>
                <a:latin typeface="Aptos" pitchFamily="34" charset="0"/>
                <a:ea typeface="Aptos" pitchFamily="34" charset="-122"/>
                <a:cs typeface="Aptos" pitchFamily="34" charset="-120"/>
              </a:rPr>
              <a:t>Infrastructure</a:t>
            </a:r>
            <a:endParaRPr lang="en-US" sz="1000" dirty="0"/>
          </a:p>
        </p:txBody>
      </p:sp>
      <p:sp>
        <p:nvSpPr>
          <p:cNvPr id="20" name="Text 15"/>
          <p:cNvSpPr/>
          <p:nvPr/>
        </p:nvSpPr>
        <p:spPr>
          <a:xfrm>
            <a:off x="3575304" y="3191256"/>
            <a:ext cx="2221992" cy="594360"/>
          </a:xfrm>
          <a:prstGeom prst="rect">
            <a:avLst/>
          </a:prstGeom>
          <a:noFill/>
          <a:ln/>
        </p:spPr>
        <p:txBody>
          <a:bodyPr wrap="square" lIns="0" tIns="0" rIns="0" bIns="0" rtlCol="0" anchor="ctr">
            <a:normAutofit/>
          </a:bodyPr>
          <a:lstStyle/>
          <a:p>
            <a:pPr marL="0" indent="0">
              <a:buNone/>
            </a:pPr>
            <a:r>
              <a:rPr lang="en-US" sz="1650" b="1" dirty="0">
                <a:solidFill>
                  <a:srgbClr val="1C1414"/>
                </a:solidFill>
                <a:latin typeface="Aptos Display" pitchFamily="34" charset="0"/>
                <a:ea typeface="Aptos Display" pitchFamily="34" charset="-122"/>
                <a:cs typeface="Aptos Display" pitchFamily="34" charset="-120"/>
              </a:rPr>
              <a:t>Cloud Ready Architecture</a:t>
            </a:r>
            <a:endParaRPr lang="en-US" sz="1650" dirty="0"/>
          </a:p>
        </p:txBody>
      </p:sp>
      <p:sp>
        <p:nvSpPr>
          <p:cNvPr id="21" name="Shape 16"/>
          <p:cNvSpPr/>
          <p:nvPr/>
        </p:nvSpPr>
        <p:spPr>
          <a:xfrm>
            <a:off x="713232" y="4041648"/>
            <a:ext cx="2514600" cy="1051560"/>
          </a:xfrm>
          <a:prstGeom prst="roundRect">
            <a:avLst>
              <a:gd name="adj" fmla="val 6957"/>
            </a:avLst>
          </a:prstGeom>
          <a:solidFill>
            <a:srgbClr val="F0FAF5"/>
          </a:solidFill>
          <a:ln w="12700">
            <a:solidFill>
              <a:srgbClr val="38BDF8"/>
            </a:solidFill>
            <a:prstDash val="solid"/>
          </a:ln>
          <a:effectLst>
            <a:outerShdw blurRad="12700" dist="50800" dir="2700000" algn="bl" rotWithShape="0">
              <a:srgbClr val="DDECF3">
                <a:alpha val="12000"/>
              </a:srgbClr>
            </a:outerShdw>
          </a:effectLst>
        </p:spPr>
        <p:txBody>
          <a:bodyPr/>
          <a:lstStyle/>
          <a:p>
            <a:endParaRPr lang="en-US"/>
          </a:p>
        </p:txBody>
      </p:sp>
      <p:sp>
        <p:nvSpPr>
          <p:cNvPr id="22" name="Shape 17"/>
          <p:cNvSpPr/>
          <p:nvPr/>
        </p:nvSpPr>
        <p:spPr>
          <a:xfrm>
            <a:off x="731520" y="4059936"/>
            <a:ext cx="2478024" cy="54864"/>
          </a:xfrm>
          <a:prstGeom prst="rect">
            <a:avLst/>
          </a:prstGeom>
          <a:solidFill>
            <a:srgbClr val="E5A932"/>
          </a:solidFill>
          <a:ln w="12700">
            <a:solidFill>
              <a:srgbClr val="E5A932"/>
            </a:solidFill>
            <a:prstDash val="solid"/>
          </a:ln>
        </p:spPr>
        <p:txBody>
          <a:bodyPr/>
          <a:lstStyle/>
          <a:p>
            <a:endParaRPr lang="en-US"/>
          </a:p>
        </p:txBody>
      </p:sp>
      <p:sp>
        <p:nvSpPr>
          <p:cNvPr id="23" name="Text 18"/>
          <p:cNvSpPr/>
          <p:nvPr/>
        </p:nvSpPr>
        <p:spPr>
          <a:xfrm>
            <a:off x="859536" y="4187952"/>
            <a:ext cx="2221992" cy="146304"/>
          </a:xfrm>
          <a:prstGeom prst="rect">
            <a:avLst/>
          </a:prstGeom>
          <a:noFill/>
          <a:ln/>
        </p:spPr>
        <p:txBody>
          <a:bodyPr wrap="square" lIns="0" tIns="0" rIns="0" bIns="0" rtlCol="0" anchor="ctr"/>
          <a:lstStyle/>
          <a:p>
            <a:pPr marL="0" indent="0">
              <a:buNone/>
            </a:pPr>
            <a:r>
              <a:rPr lang="en-US" sz="1000" b="1" dirty="0">
                <a:solidFill>
                  <a:srgbClr val="5F6A6A"/>
                </a:solidFill>
                <a:latin typeface="Aptos" pitchFamily="34" charset="0"/>
                <a:ea typeface="Aptos" pitchFamily="34" charset="-122"/>
                <a:cs typeface="Aptos" pitchFamily="34" charset="-120"/>
              </a:rPr>
              <a:t>Target Sectors</a:t>
            </a:r>
            <a:endParaRPr lang="en-US" sz="1000" dirty="0"/>
          </a:p>
        </p:txBody>
      </p:sp>
      <p:sp>
        <p:nvSpPr>
          <p:cNvPr id="24" name="Text 19"/>
          <p:cNvSpPr/>
          <p:nvPr/>
        </p:nvSpPr>
        <p:spPr>
          <a:xfrm>
            <a:off x="859536" y="4443984"/>
            <a:ext cx="2221992" cy="594360"/>
          </a:xfrm>
          <a:prstGeom prst="rect">
            <a:avLst/>
          </a:prstGeom>
          <a:noFill/>
          <a:ln/>
        </p:spPr>
        <p:txBody>
          <a:bodyPr wrap="square" lIns="0" tIns="0" rIns="0" bIns="0" rtlCol="0" anchor="ctr">
            <a:normAutofit/>
          </a:bodyPr>
          <a:lstStyle/>
          <a:p>
            <a:pPr marL="0" indent="0">
              <a:buNone/>
            </a:pPr>
            <a:r>
              <a:rPr lang="en-US" sz="1650" b="1" dirty="0">
                <a:solidFill>
                  <a:srgbClr val="1C1414"/>
                </a:solidFill>
                <a:latin typeface="Aptos Display" pitchFamily="34" charset="0"/>
                <a:ea typeface="Aptos Display" pitchFamily="34" charset="-122"/>
                <a:cs typeface="Aptos Display" pitchFamily="34" charset="-120"/>
              </a:rPr>
              <a:t>Finance, Healthcare, Enterprise, NGOs</a:t>
            </a:r>
            <a:endParaRPr lang="en-US" sz="1650" dirty="0"/>
          </a:p>
        </p:txBody>
      </p:sp>
      <p:sp>
        <p:nvSpPr>
          <p:cNvPr id="25" name="Shape 20"/>
          <p:cNvSpPr/>
          <p:nvPr/>
        </p:nvSpPr>
        <p:spPr>
          <a:xfrm>
            <a:off x="3429000" y="4041648"/>
            <a:ext cx="2514600" cy="1051560"/>
          </a:xfrm>
          <a:prstGeom prst="roundRect">
            <a:avLst>
              <a:gd name="adj" fmla="val 6957"/>
            </a:avLst>
          </a:prstGeom>
          <a:solidFill>
            <a:srgbClr val="F0FAF5"/>
          </a:solidFill>
          <a:ln w="12700">
            <a:solidFill>
              <a:srgbClr val="38BDF8"/>
            </a:solidFill>
            <a:prstDash val="solid"/>
          </a:ln>
          <a:effectLst>
            <a:outerShdw blurRad="12700" dist="50800" dir="2700000" algn="bl" rotWithShape="0">
              <a:srgbClr val="DDECF3">
                <a:alpha val="12000"/>
              </a:srgbClr>
            </a:outerShdw>
          </a:effectLst>
        </p:spPr>
        <p:txBody>
          <a:bodyPr/>
          <a:lstStyle/>
          <a:p>
            <a:endParaRPr lang="en-US"/>
          </a:p>
        </p:txBody>
      </p:sp>
      <p:sp>
        <p:nvSpPr>
          <p:cNvPr id="26" name="Shape 21"/>
          <p:cNvSpPr/>
          <p:nvPr/>
        </p:nvSpPr>
        <p:spPr>
          <a:xfrm>
            <a:off x="3447288" y="4059936"/>
            <a:ext cx="2478024" cy="54864"/>
          </a:xfrm>
          <a:prstGeom prst="rect">
            <a:avLst/>
          </a:prstGeom>
          <a:solidFill>
            <a:srgbClr val="E5A932"/>
          </a:solidFill>
          <a:ln w="12700">
            <a:solidFill>
              <a:srgbClr val="E5A932"/>
            </a:solidFill>
            <a:prstDash val="solid"/>
          </a:ln>
        </p:spPr>
        <p:txBody>
          <a:bodyPr/>
          <a:lstStyle/>
          <a:p>
            <a:endParaRPr lang="en-US"/>
          </a:p>
        </p:txBody>
      </p:sp>
      <p:sp>
        <p:nvSpPr>
          <p:cNvPr id="27" name="Text 22"/>
          <p:cNvSpPr/>
          <p:nvPr/>
        </p:nvSpPr>
        <p:spPr>
          <a:xfrm>
            <a:off x="3575304" y="4187952"/>
            <a:ext cx="2221992" cy="146304"/>
          </a:xfrm>
          <a:prstGeom prst="rect">
            <a:avLst/>
          </a:prstGeom>
          <a:noFill/>
          <a:ln/>
        </p:spPr>
        <p:txBody>
          <a:bodyPr wrap="square" lIns="0" tIns="0" rIns="0" bIns="0" rtlCol="0" anchor="ctr"/>
          <a:lstStyle/>
          <a:p>
            <a:pPr marL="0" indent="0">
              <a:buNone/>
            </a:pPr>
            <a:r>
              <a:rPr lang="en-US" sz="1000" b="1" dirty="0">
                <a:solidFill>
                  <a:srgbClr val="5F6A6A"/>
                </a:solidFill>
                <a:latin typeface="Aptos" pitchFamily="34" charset="0"/>
                <a:ea typeface="Aptos" pitchFamily="34" charset="-122"/>
                <a:cs typeface="Aptos" pitchFamily="34" charset="-120"/>
              </a:rPr>
              <a:t>Flagship Project</a:t>
            </a:r>
            <a:endParaRPr lang="en-US" sz="1000" dirty="0"/>
          </a:p>
        </p:txBody>
      </p:sp>
      <p:sp>
        <p:nvSpPr>
          <p:cNvPr id="28" name="Text 23"/>
          <p:cNvSpPr/>
          <p:nvPr/>
        </p:nvSpPr>
        <p:spPr>
          <a:xfrm>
            <a:off x="3575304" y="4443984"/>
            <a:ext cx="2221992" cy="594360"/>
          </a:xfrm>
          <a:prstGeom prst="rect">
            <a:avLst/>
          </a:prstGeom>
          <a:noFill/>
          <a:ln/>
        </p:spPr>
        <p:txBody>
          <a:bodyPr wrap="square" lIns="0" tIns="0" rIns="0" bIns="0" rtlCol="0" anchor="ctr">
            <a:normAutofit/>
          </a:bodyPr>
          <a:lstStyle/>
          <a:p>
            <a:pPr marL="0" indent="0">
              <a:buNone/>
            </a:pPr>
            <a:r>
              <a:rPr lang="en-US" sz="1650" b="1" dirty="0">
                <a:solidFill>
                  <a:srgbClr val="1C1414"/>
                </a:solidFill>
                <a:latin typeface="Aptos Display" pitchFamily="34" charset="0"/>
                <a:ea typeface="Aptos Display" pitchFamily="34" charset="-122"/>
                <a:cs typeface="Aptos Display" pitchFamily="34" charset="-120"/>
              </a:rPr>
              <a:t>NovusSparks AI</a:t>
            </a:r>
            <a:endParaRPr lang="en-US" sz="1650" dirty="0"/>
          </a:p>
        </p:txBody>
      </p:sp>
      <p:sp>
        <p:nvSpPr>
          <p:cNvPr id="29" name="Shape 24"/>
          <p:cNvSpPr/>
          <p:nvPr/>
        </p:nvSpPr>
        <p:spPr>
          <a:xfrm>
            <a:off x="7360920" y="4224528"/>
            <a:ext cx="4160520" cy="987552"/>
          </a:xfrm>
          <a:prstGeom prst="roundRect">
            <a:avLst>
              <a:gd name="adj" fmla="val 7407"/>
            </a:avLst>
          </a:prstGeom>
          <a:solidFill>
            <a:srgbClr val="BBA442"/>
          </a:solidFill>
          <a:ln w="12700">
            <a:solidFill>
              <a:srgbClr val="102027"/>
            </a:solidFill>
            <a:prstDash val="solid"/>
          </a:ln>
          <a:effectLst>
            <a:outerShdw blurRad="12700" dist="50800" dir="2700000" algn="bl" rotWithShape="0">
              <a:srgbClr val="DDECF3">
                <a:alpha val="12000"/>
              </a:srgbClr>
            </a:outerShdw>
          </a:effectLst>
        </p:spPr>
        <p:txBody>
          <a:bodyPr/>
          <a:lstStyle/>
          <a:p>
            <a:endParaRPr lang="en-US"/>
          </a:p>
        </p:txBody>
      </p:sp>
      <p:sp>
        <p:nvSpPr>
          <p:cNvPr id="30" name="Text 25"/>
          <p:cNvSpPr/>
          <p:nvPr/>
        </p:nvSpPr>
        <p:spPr>
          <a:xfrm>
            <a:off x="7607808" y="4443984"/>
            <a:ext cx="1737360" cy="146304"/>
          </a:xfrm>
          <a:prstGeom prst="rect">
            <a:avLst/>
          </a:prstGeom>
          <a:noFill/>
          <a:ln/>
        </p:spPr>
        <p:txBody>
          <a:bodyPr wrap="square" lIns="0" tIns="0" rIns="0" bIns="0" rtlCol="0" anchor="ctr"/>
          <a:lstStyle/>
          <a:p>
            <a:pPr marL="0" indent="0">
              <a:buNone/>
            </a:pPr>
            <a:r>
              <a:rPr lang="en-US" sz="1020" b="1" dirty="0">
                <a:solidFill>
                  <a:srgbClr val="0070C0"/>
                </a:solidFill>
                <a:latin typeface="Aptos" pitchFamily="34" charset="0"/>
                <a:ea typeface="Aptos" pitchFamily="34" charset="-122"/>
                <a:cs typeface="Aptos" pitchFamily="34" charset="-120"/>
              </a:rPr>
              <a:t>Why this matters for AWS</a:t>
            </a:r>
            <a:endParaRPr lang="en-US" sz="1020" dirty="0">
              <a:solidFill>
                <a:srgbClr val="0070C0"/>
              </a:solidFill>
            </a:endParaRPr>
          </a:p>
        </p:txBody>
      </p:sp>
      <p:sp>
        <p:nvSpPr>
          <p:cNvPr id="31" name="Text 26"/>
          <p:cNvSpPr/>
          <p:nvPr/>
        </p:nvSpPr>
        <p:spPr>
          <a:xfrm>
            <a:off x="7607808" y="4663440"/>
            <a:ext cx="3611880" cy="329184"/>
          </a:xfrm>
          <a:prstGeom prst="rect">
            <a:avLst/>
          </a:prstGeom>
          <a:noFill/>
          <a:ln/>
        </p:spPr>
        <p:txBody>
          <a:bodyPr wrap="square" lIns="0" tIns="0" rIns="0" bIns="0" rtlCol="0" anchor="ctr"/>
          <a:lstStyle/>
          <a:p>
            <a:pPr marL="0" indent="0">
              <a:buNone/>
            </a:pPr>
            <a:r>
              <a:rPr lang="en-US" sz="1120" dirty="0">
                <a:solidFill>
                  <a:srgbClr val="FFFFFF"/>
                </a:solidFill>
                <a:latin typeface="Aptos" pitchFamily="34" charset="0"/>
                <a:ea typeface="Aptos" pitchFamily="34" charset="-122"/>
                <a:cs typeface="Aptos" pitchFamily="34" charset="-120"/>
              </a:rPr>
              <a:t>High-compute validation, enterprise storage, and secure scaling make cloud infrastructure a core part of product delivery.</a:t>
            </a:r>
            <a:endParaRPr lang="en-US" sz="11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38BDF8"/>
          </a:solidFill>
          <a:ln w="12700">
            <a:solidFill>
              <a:srgbClr val="38BDF8"/>
            </a:solidFill>
            <a:prstDash val="solid"/>
          </a:ln>
        </p:spPr>
        <p:txBody>
          <a:bodyPr/>
          <a:lstStyle/>
          <a:p>
            <a:endParaRPr lang="en-US"/>
          </a:p>
        </p:txBody>
      </p:sp>
      <p:sp>
        <p:nvSpPr>
          <p:cNvPr id="3" name="Shape 1"/>
          <p:cNvSpPr/>
          <p:nvPr/>
        </p:nvSpPr>
        <p:spPr>
          <a:xfrm>
            <a:off x="10012680" y="0"/>
            <a:ext cx="2179015" cy="128016"/>
          </a:xfrm>
          <a:prstGeom prst="rect">
            <a:avLst/>
          </a:prstGeom>
          <a:solidFill>
            <a:srgbClr val="E5A932"/>
          </a:solidFill>
          <a:ln w="12700">
            <a:solidFill>
              <a:srgbClr val="E5A932"/>
            </a:solidFill>
            <a:prstDash val="solid"/>
          </a:ln>
        </p:spPr>
        <p:txBody>
          <a:bodyPr/>
          <a:lstStyle/>
          <a:p>
            <a:endParaRPr lang="en-US"/>
          </a:p>
        </p:txBody>
      </p:sp>
      <p:sp>
        <p:nvSpPr>
          <p:cNvPr id="4" name="Text 2"/>
          <p:cNvSpPr/>
          <p:nvPr/>
        </p:nvSpPr>
        <p:spPr>
          <a:xfrm>
            <a:off x="438912" y="6437376"/>
            <a:ext cx="1645920" cy="146304"/>
          </a:xfrm>
          <a:prstGeom prst="rect">
            <a:avLst/>
          </a:prstGeom>
          <a:noFill/>
          <a:ln/>
        </p:spPr>
        <p:txBody>
          <a:bodyPr wrap="square" lIns="0" tIns="0" rIns="0" bIns="0" rtlCol="0" anchor="ctr"/>
          <a:lstStyle/>
          <a:p>
            <a:pPr marL="0" indent="0">
              <a:buNone/>
            </a:pPr>
            <a:r>
              <a:rPr lang="en-US" sz="880" b="1" dirty="0">
                <a:solidFill>
                  <a:srgbClr val="1C1414"/>
                </a:solidFill>
                <a:latin typeface="Aptos" pitchFamily="34" charset="0"/>
                <a:ea typeface="Aptos" pitchFamily="34" charset="-122"/>
                <a:cs typeface="Aptos" pitchFamily="34" charset="-120"/>
              </a:rPr>
              <a:t>Techpigeon</a:t>
            </a:r>
            <a:endParaRPr lang="en-US" sz="880" dirty="0"/>
          </a:p>
        </p:txBody>
      </p:sp>
      <p:sp>
        <p:nvSpPr>
          <p:cNvPr id="5" name="Text 3"/>
          <p:cNvSpPr/>
          <p:nvPr/>
        </p:nvSpPr>
        <p:spPr>
          <a:xfrm>
            <a:off x="1920240" y="6437376"/>
            <a:ext cx="1828800" cy="146304"/>
          </a:xfrm>
          <a:prstGeom prst="rect">
            <a:avLst/>
          </a:prstGeom>
          <a:noFill/>
          <a:ln/>
        </p:spPr>
        <p:txBody>
          <a:bodyPr wrap="square" lIns="0" tIns="0" rIns="0" bIns="0" rtlCol="0" anchor="ctr"/>
          <a:lstStyle/>
          <a:p>
            <a:pPr marL="0" indent="0">
              <a:buNone/>
            </a:pPr>
            <a:r>
              <a:rPr lang="en-US" sz="880" dirty="0">
                <a:solidFill>
                  <a:srgbClr val="5F6A6A"/>
                </a:solidFill>
                <a:latin typeface="Aptos" pitchFamily="34" charset="0"/>
                <a:ea typeface="Aptos" pitchFamily="34" charset="-122"/>
                <a:cs typeface="Aptos" pitchFamily="34" charset="-120"/>
              </a:rPr>
              <a:t>NovusSparks AI</a:t>
            </a:r>
            <a:endParaRPr lang="en-US" sz="880" dirty="0"/>
          </a:p>
        </p:txBody>
      </p:sp>
      <p:sp>
        <p:nvSpPr>
          <p:cNvPr id="6" name="Text 4"/>
          <p:cNvSpPr/>
          <p:nvPr/>
        </p:nvSpPr>
        <p:spPr>
          <a:xfrm>
            <a:off x="8732520" y="6437376"/>
            <a:ext cx="2926080" cy="146304"/>
          </a:xfrm>
          <a:prstGeom prst="rect">
            <a:avLst/>
          </a:prstGeom>
          <a:noFill/>
          <a:ln/>
        </p:spPr>
        <p:txBody>
          <a:bodyPr wrap="square" lIns="0" tIns="0" rIns="0" bIns="0" rtlCol="0" anchor="ctr"/>
          <a:lstStyle/>
          <a:p>
            <a:pPr marL="0" indent="0" algn="r">
              <a:buNone/>
            </a:pPr>
            <a:r>
              <a:rPr lang="en-US" sz="880" dirty="0">
                <a:solidFill>
                  <a:srgbClr val="5F6A6A"/>
                </a:solidFill>
                <a:latin typeface="Aptos" pitchFamily="34" charset="0"/>
                <a:ea typeface="Aptos" pitchFamily="34" charset="-122"/>
                <a:cs typeface="Aptos" pitchFamily="34" charset="-120"/>
              </a:rPr>
              <a:t>AWS Activate via Spendbase</a:t>
            </a:r>
            <a:endParaRPr lang="en-US" sz="880" dirty="0"/>
          </a:p>
        </p:txBody>
      </p:sp>
      <p:sp>
        <p:nvSpPr>
          <p:cNvPr id="8" name="Text 5"/>
          <p:cNvSpPr/>
          <p:nvPr/>
        </p:nvSpPr>
        <p:spPr>
          <a:xfrm>
            <a:off x="658368" y="640080"/>
            <a:ext cx="8046720" cy="603504"/>
          </a:xfrm>
          <a:prstGeom prst="rect">
            <a:avLst/>
          </a:prstGeom>
          <a:noFill/>
          <a:ln/>
        </p:spPr>
        <p:txBody>
          <a:bodyPr wrap="square" lIns="0" tIns="0" rIns="0" bIns="0" rtlCol="0" anchor="ctr"/>
          <a:lstStyle/>
          <a:p>
            <a:pPr marL="0" indent="0">
              <a:buNone/>
            </a:pPr>
            <a:r>
              <a:rPr lang="en-US" sz="2150" b="1" dirty="0">
                <a:solidFill>
                  <a:srgbClr val="1C1414"/>
                </a:solidFill>
                <a:latin typeface="Aptos Display" pitchFamily="34" charset="0"/>
                <a:ea typeface="Aptos Display" pitchFamily="34" charset="-122"/>
                <a:cs typeface="Aptos Display" pitchFamily="34" charset="-120"/>
              </a:rPr>
              <a:t>On average, enterprises waste months and millions trying to adopt AI safely.</a:t>
            </a:r>
            <a:endParaRPr lang="en-US" sz="2150" dirty="0"/>
          </a:p>
        </p:txBody>
      </p:sp>
      <p:sp>
        <p:nvSpPr>
          <p:cNvPr id="9" name="Text 6"/>
          <p:cNvSpPr/>
          <p:nvPr/>
        </p:nvSpPr>
        <p:spPr>
          <a:xfrm>
            <a:off x="676656" y="1207008"/>
            <a:ext cx="7863840" cy="384048"/>
          </a:xfrm>
          <a:prstGeom prst="rect">
            <a:avLst/>
          </a:prstGeom>
          <a:noFill/>
          <a:ln/>
        </p:spPr>
        <p:txBody>
          <a:bodyPr wrap="square" lIns="0" tIns="0" rIns="0" bIns="0" rtlCol="0" anchor="ctr"/>
          <a:lstStyle/>
          <a:p>
            <a:pPr marL="0" indent="0">
              <a:buNone/>
            </a:pPr>
            <a:r>
              <a:rPr lang="en-US" sz="1150" dirty="0">
                <a:solidFill>
                  <a:srgbClr val="5F6A6A"/>
                </a:solidFill>
                <a:latin typeface="Aptos" pitchFamily="34" charset="0"/>
                <a:ea typeface="Aptos" pitchFamily="34" charset="-122"/>
                <a:cs typeface="Aptos" pitchFamily="34" charset="-120"/>
              </a:rPr>
              <a:t>The biggest roadblock to enterprise AI adoption isn't technology. It is trust.</a:t>
            </a:r>
            <a:endParaRPr lang="en-US" sz="1150" dirty="0"/>
          </a:p>
        </p:txBody>
      </p:sp>
      <p:sp>
        <p:nvSpPr>
          <p:cNvPr id="10" name="Shape 7"/>
          <p:cNvSpPr/>
          <p:nvPr/>
        </p:nvSpPr>
        <p:spPr>
          <a:xfrm>
            <a:off x="658368" y="1600200"/>
            <a:ext cx="5440680" cy="4526280"/>
          </a:xfrm>
          <a:prstGeom prst="roundRect">
            <a:avLst>
              <a:gd name="adj" fmla="val 1616"/>
            </a:avLst>
          </a:prstGeom>
          <a:solidFill>
            <a:srgbClr val="F0FAF5"/>
          </a:solidFill>
          <a:ln w="12700">
            <a:solidFill>
              <a:srgbClr val="DDD6D2"/>
            </a:solidFill>
            <a:prstDash val="solid"/>
          </a:ln>
          <a:effectLst>
            <a:outerShdw blurRad="12700" dist="50800" dir="2700000" algn="bl" rotWithShape="0">
              <a:srgbClr val="DDECF3">
                <a:alpha val="12000"/>
              </a:srgbClr>
            </a:outerShdw>
          </a:effectLst>
        </p:spPr>
        <p:txBody>
          <a:bodyPr/>
          <a:lstStyle/>
          <a:p>
            <a:endParaRPr lang="en-US"/>
          </a:p>
        </p:txBody>
      </p:sp>
      <p:sp>
        <p:nvSpPr>
          <p:cNvPr id="11" name="Shape 8"/>
          <p:cNvSpPr/>
          <p:nvPr/>
        </p:nvSpPr>
        <p:spPr>
          <a:xfrm>
            <a:off x="676656" y="1618488"/>
            <a:ext cx="5404104" cy="54864"/>
          </a:xfrm>
          <a:prstGeom prst="rect">
            <a:avLst/>
          </a:prstGeom>
          <a:solidFill>
            <a:srgbClr val="38BDF8"/>
          </a:solidFill>
          <a:ln w="12700">
            <a:solidFill>
              <a:srgbClr val="38BDF8"/>
            </a:solidFill>
            <a:prstDash val="solid"/>
          </a:ln>
        </p:spPr>
        <p:txBody>
          <a:bodyPr/>
          <a:lstStyle/>
          <a:p>
            <a:endParaRPr lang="en-US"/>
          </a:p>
        </p:txBody>
      </p:sp>
      <p:sp>
        <p:nvSpPr>
          <p:cNvPr id="12" name="Text 9"/>
          <p:cNvSpPr/>
          <p:nvPr/>
        </p:nvSpPr>
        <p:spPr>
          <a:xfrm>
            <a:off x="914400" y="1920240"/>
            <a:ext cx="2926080" cy="164592"/>
          </a:xfrm>
          <a:prstGeom prst="rect">
            <a:avLst/>
          </a:prstGeom>
          <a:noFill/>
          <a:ln/>
        </p:spPr>
        <p:txBody>
          <a:bodyPr wrap="square" lIns="0" tIns="0" rIns="0" bIns="0" rtlCol="0" anchor="ctr"/>
          <a:lstStyle/>
          <a:p>
            <a:pPr marL="0" indent="0">
              <a:buNone/>
            </a:pPr>
            <a:r>
              <a:rPr lang="en-US" sz="1440" b="1" dirty="0">
                <a:solidFill>
                  <a:srgbClr val="1C1414"/>
                </a:solidFill>
                <a:latin typeface="Aptos" pitchFamily="34" charset="0"/>
                <a:ea typeface="Aptos" pitchFamily="34" charset="-122"/>
                <a:cs typeface="Aptos" pitchFamily="34" charset="-120"/>
              </a:rPr>
              <a:t>Unverifiable outputs</a:t>
            </a:r>
            <a:endParaRPr lang="en-US" sz="1440" dirty="0"/>
          </a:p>
        </p:txBody>
      </p:sp>
      <p:sp>
        <p:nvSpPr>
          <p:cNvPr id="13" name="Text 10"/>
          <p:cNvSpPr/>
          <p:nvPr/>
        </p:nvSpPr>
        <p:spPr>
          <a:xfrm>
            <a:off x="914400" y="2176272"/>
            <a:ext cx="4389120" cy="310896"/>
          </a:xfrm>
          <a:prstGeom prst="rect">
            <a:avLst/>
          </a:prstGeom>
          <a:noFill/>
          <a:ln/>
        </p:spPr>
        <p:txBody>
          <a:bodyPr wrap="square" lIns="0" tIns="0" rIns="0" bIns="0" rtlCol="0" anchor="ctr"/>
          <a:lstStyle/>
          <a:p>
            <a:pPr marL="0" indent="0">
              <a:buNone/>
            </a:pPr>
            <a:r>
              <a:rPr lang="en-US" sz="1120" dirty="0">
                <a:solidFill>
                  <a:srgbClr val="5F6A6A"/>
                </a:solidFill>
                <a:latin typeface="Aptos" pitchFamily="34" charset="0"/>
                <a:ea typeface="Aptos" pitchFamily="34" charset="-122"/>
                <a:cs typeface="Aptos" pitchFamily="34" charset="-120"/>
              </a:rPr>
              <a:t>AI hallucinations slow sign-off, increase rework, and erode leadership confidence.</a:t>
            </a:r>
            <a:endParaRPr lang="en-US" sz="1120" dirty="0"/>
          </a:p>
        </p:txBody>
      </p:sp>
      <p:sp>
        <p:nvSpPr>
          <p:cNvPr id="14" name="Text 11"/>
          <p:cNvSpPr/>
          <p:nvPr/>
        </p:nvSpPr>
        <p:spPr>
          <a:xfrm>
            <a:off x="914400" y="2944368"/>
            <a:ext cx="2926080" cy="164592"/>
          </a:xfrm>
          <a:prstGeom prst="rect">
            <a:avLst/>
          </a:prstGeom>
          <a:noFill/>
          <a:ln/>
        </p:spPr>
        <p:txBody>
          <a:bodyPr wrap="square" lIns="0" tIns="0" rIns="0" bIns="0" rtlCol="0" anchor="ctr"/>
          <a:lstStyle/>
          <a:p>
            <a:pPr marL="0" indent="0">
              <a:buNone/>
            </a:pPr>
            <a:r>
              <a:rPr lang="en-US" sz="1440" b="1" dirty="0">
                <a:solidFill>
                  <a:srgbClr val="1C1414"/>
                </a:solidFill>
                <a:latin typeface="Aptos" pitchFamily="34" charset="0"/>
                <a:ea typeface="Aptos" pitchFamily="34" charset="-122"/>
                <a:cs typeface="Aptos" pitchFamily="34" charset="-120"/>
              </a:rPr>
              <a:t>Lack of provenance</a:t>
            </a:r>
            <a:endParaRPr lang="en-US" sz="1440" dirty="0"/>
          </a:p>
        </p:txBody>
      </p:sp>
      <p:sp>
        <p:nvSpPr>
          <p:cNvPr id="15" name="Text 12"/>
          <p:cNvSpPr/>
          <p:nvPr/>
        </p:nvSpPr>
        <p:spPr>
          <a:xfrm>
            <a:off x="914400" y="3200400"/>
            <a:ext cx="4389120" cy="329184"/>
          </a:xfrm>
          <a:prstGeom prst="rect">
            <a:avLst/>
          </a:prstGeom>
          <a:noFill/>
          <a:ln/>
        </p:spPr>
        <p:txBody>
          <a:bodyPr wrap="square" lIns="0" tIns="0" rIns="0" bIns="0" rtlCol="0" anchor="ctr"/>
          <a:lstStyle/>
          <a:p>
            <a:pPr marL="0" indent="0">
              <a:buNone/>
            </a:pPr>
            <a:r>
              <a:rPr lang="en-US" sz="1120" dirty="0">
                <a:solidFill>
                  <a:srgbClr val="5F6A6A"/>
                </a:solidFill>
                <a:latin typeface="Aptos" pitchFamily="34" charset="0"/>
                <a:ea typeface="Aptos" pitchFamily="34" charset="-122"/>
                <a:cs typeface="Aptos" pitchFamily="34" charset="-120"/>
              </a:rPr>
              <a:t>Without an audit trail, enterprise AI cannot pass procurement, governance, or compliance review.</a:t>
            </a:r>
            <a:endParaRPr lang="en-US" sz="1120" dirty="0"/>
          </a:p>
        </p:txBody>
      </p:sp>
      <p:sp>
        <p:nvSpPr>
          <p:cNvPr id="16" name="Text 13"/>
          <p:cNvSpPr/>
          <p:nvPr/>
        </p:nvSpPr>
        <p:spPr>
          <a:xfrm>
            <a:off x="914400" y="4005072"/>
            <a:ext cx="2743200" cy="164592"/>
          </a:xfrm>
          <a:prstGeom prst="rect">
            <a:avLst/>
          </a:prstGeom>
          <a:noFill/>
          <a:ln/>
        </p:spPr>
        <p:txBody>
          <a:bodyPr wrap="square" lIns="0" tIns="0" rIns="0" bIns="0" rtlCol="0" anchor="ctr"/>
          <a:lstStyle/>
          <a:p>
            <a:pPr marL="0" indent="0">
              <a:buNone/>
            </a:pPr>
            <a:r>
              <a:rPr lang="en-US" sz="1440" b="1" dirty="0">
                <a:solidFill>
                  <a:srgbClr val="1C1414"/>
                </a:solidFill>
                <a:latin typeface="Aptos" pitchFamily="34" charset="0"/>
                <a:ea typeface="Aptos" pitchFamily="34" charset="-122"/>
                <a:cs typeface="Aptos" pitchFamily="34" charset="-120"/>
              </a:rPr>
              <a:t>Compliance risks</a:t>
            </a:r>
            <a:endParaRPr lang="en-US" sz="1440" dirty="0"/>
          </a:p>
        </p:txBody>
      </p:sp>
      <p:sp>
        <p:nvSpPr>
          <p:cNvPr id="17" name="Text 14"/>
          <p:cNvSpPr/>
          <p:nvPr/>
        </p:nvSpPr>
        <p:spPr>
          <a:xfrm>
            <a:off x="914400" y="4261104"/>
            <a:ext cx="4389120" cy="347472"/>
          </a:xfrm>
          <a:prstGeom prst="rect">
            <a:avLst/>
          </a:prstGeom>
          <a:noFill/>
          <a:ln/>
        </p:spPr>
        <p:txBody>
          <a:bodyPr wrap="square" lIns="0" tIns="0" rIns="0" bIns="0" rtlCol="0" anchor="ctr"/>
          <a:lstStyle/>
          <a:p>
            <a:pPr marL="0" indent="0">
              <a:buNone/>
            </a:pPr>
            <a:r>
              <a:rPr lang="en-US" sz="1120" dirty="0">
                <a:solidFill>
                  <a:srgbClr val="5F6A6A"/>
                </a:solidFill>
                <a:latin typeface="Aptos" pitchFamily="34" charset="0"/>
                <a:ea typeface="Aptos" pitchFamily="34" charset="-122"/>
                <a:cs typeface="Aptos" pitchFamily="34" charset="-120"/>
              </a:rPr>
              <a:t>Privacy failures and undocumented model behavior expose teams to legal, financial, and reputational damage.</a:t>
            </a:r>
            <a:endParaRPr lang="en-US" sz="1120" dirty="0"/>
          </a:p>
        </p:txBody>
      </p:sp>
      <p:sp>
        <p:nvSpPr>
          <p:cNvPr id="18" name="Shape 15"/>
          <p:cNvSpPr/>
          <p:nvPr/>
        </p:nvSpPr>
        <p:spPr>
          <a:xfrm>
            <a:off x="6298537" y="1586484"/>
            <a:ext cx="5193792" cy="4526280"/>
          </a:xfrm>
          <a:prstGeom prst="roundRect">
            <a:avLst>
              <a:gd name="adj" fmla="val 1616"/>
            </a:avLst>
          </a:prstGeom>
          <a:solidFill>
            <a:srgbClr val="FFFFFF"/>
          </a:solidFill>
          <a:ln w="12700">
            <a:solidFill>
              <a:srgbClr val="DDD6D2"/>
            </a:solidFill>
            <a:prstDash val="solid"/>
          </a:ln>
          <a:effectLst>
            <a:outerShdw blurRad="12700" dist="50800" dir="2700000" algn="bl" rotWithShape="0">
              <a:srgbClr val="DDECF3">
                <a:alpha val="12000"/>
              </a:srgbClr>
            </a:outerShdw>
          </a:effectLst>
        </p:spPr>
        <p:txBody>
          <a:bodyPr/>
          <a:lstStyle/>
          <a:p>
            <a:endParaRPr lang="en-US"/>
          </a:p>
        </p:txBody>
      </p:sp>
      <p:sp>
        <p:nvSpPr>
          <p:cNvPr id="19" name="Shape 16"/>
          <p:cNvSpPr/>
          <p:nvPr/>
        </p:nvSpPr>
        <p:spPr>
          <a:xfrm>
            <a:off x="6373368" y="1618488"/>
            <a:ext cx="5157216" cy="54864"/>
          </a:xfrm>
          <a:prstGeom prst="rect">
            <a:avLst/>
          </a:prstGeom>
          <a:solidFill>
            <a:srgbClr val="E5A932"/>
          </a:solidFill>
          <a:ln w="12700">
            <a:solidFill>
              <a:srgbClr val="E5A932"/>
            </a:solidFill>
            <a:prstDash val="solid"/>
          </a:ln>
        </p:spPr>
        <p:txBody>
          <a:bodyPr/>
          <a:lstStyle/>
          <a:p>
            <a:endParaRPr lang="en-US"/>
          </a:p>
        </p:txBody>
      </p:sp>
      <p:sp>
        <p:nvSpPr>
          <p:cNvPr id="20" name="Text 17"/>
          <p:cNvSpPr/>
          <p:nvPr/>
        </p:nvSpPr>
        <p:spPr>
          <a:xfrm>
            <a:off x="6601968" y="1828800"/>
            <a:ext cx="2560320" cy="164592"/>
          </a:xfrm>
          <a:prstGeom prst="rect">
            <a:avLst/>
          </a:prstGeom>
          <a:noFill/>
          <a:ln/>
        </p:spPr>
        <p:txBody>
          <a:bodyPr wrap="square" lIns="0" tIns="0" rIns="0" bIns="0" rtlCol="0" anchor="ctr"/>
          <a:lstStyle/>
          <a:p>
            <a:pPr marL="0" indent="0">
              <a:buNone/>
            </a:pPr>
            <a:r>
              <a:rPr lang="en-US" sz="1600" b="1" dirty="0">
                <a:solidFill>
                  <a:srgbClr val="1C1414"/>
                </a:solidFill>
                <a:latin typeface="Aptos Display" pitchFamily="34" charset="0"/>
                <a:ea typeface="Aptos Display" pitchFamily="34" charset="-122"/>
                <a:cs typeface="Aptos Display" pitchFamily="34" charset="-120"/>
              </a:rPr>
              <a:t>Cost of AI Failure</a:t>
            </a:r>
            <a:endParaRPr lang="en-US" sz="1600" dirty="0"/>
          </a:p>
        </p:txBody>
      </p:sp>
      <p:sp>
        <p:nvSpPr>
          <p:cNvPr id="21" name="Text 18"/>
          <p:cNvSpPr/>
          <p:nvPr/>
        </p:nvSpPr>
        <p:spPr>
          <a:xfrm>
            <a:off x="6601968" y="2066544"/>
            <a:ext cx="3200400" cy="146304"/>
          </a:xfrm>
          <a:prstGeom prst="rect">
            <a:avLst/>
          </a:prstGeom>
          <a:noFill/>
          <a:ln/>
        </p:spPr>
        <p:txBody>
          <a:bodyPr wrap="square" lIns="0" tIns="0" rIns="0" bIns="0" rtlCol="0" anchor="ctr"/>
          <a:lstStyle/>
          <a:p>
            <a:pPr marL="0" indent="0">
              <a:buNone/>
            </a:pPr>
            <a:r>
              <a:rPr lang="en-US" sz="1020" dirty="0">
                <a:solidFill>
                  <a:srgbClr val="5F6A6A"/>
                </a:solidFill>
                <a:latin typeface="Aptos" pitchFamily="34" charset="0"/>
                <a:ea typeface="Aptos" pitchFamily="34" charset="-122"/>
                <a:cs typeface="Aptos" pitchFamily="34" charset="-120"/>
              </a:rPr>
              <a:t>Illustrative downside by company size</a:t>
            </a:r>
            <a:endParaRPr lang="en-US" sz="1020" dirty="0"/>
          </a:p>
        </p:txBody>
      </p:sp>
      <p:sp>
        <p:nvSpPr>
          <p:cNvPr id="22" name="Text 19"/>
          <p:cNvSpPr/>
          <p:nvPr/>
        </p:nvSpPr>
        <p:spPr>
          <a:xfrm>
            <a:off x="6601968" y="2578608"/>
            <a:ext cx="1554480" cy="146304"/>
          </a:xfrm>
          <a:prstGeom prst="rect">
            <a:avLst/>
          </a:prstGeom>
          <a:noFill/>
          <a:ln/>
        </p:spPr>
        <p:txBody>
          <a:bodyPr wrap="square" lIns="0" tIns="0" rIns="0" bIns="0" rtlCol="0" anchor="ctr"/>
          <a:lstStyle/>
          <a:p>
            <a:pPr marL="0" indent="0">
              <a:buNone/>
            </a:pPr>
            <a:r>
              <a:rPr lang="en-US" sz="1040" dirty="0">
                <a:solidFill>
                  <a:srgbClr val="1C1414"/>
                </a:solidFill>
                <a:latin typeface="Aptos" pitchFamily="34" charset="0"/>
                <a:ea typeface="Aptos" pitchFamily="34" charset="-122"/>
                <a:cs typeface="Aptos" pitchFamily="34" charset="-120"/>
              </a:rPr>
              <a:t>Startup</a:t>
            </a:r>
            <a:endParaRPr lang="en-US" sz="1040" dirty="0"/>
          </a:p>
        </p:txBody>
      </p:sp>
      <p:sp>
        <p:nvSpPr>
          <p:cNvPr id="23" name="Shape 20"/>
          <p:cNvSpPr/>
          <p:nvPr/>
        </p:nvSpPr>
        <p:spPr>
          <a:xfrm>
            <a:off x="8247888" y="2578608"/>
            <a:ext cx="2277043" cy="228600"/>
          </a:xfrm>
          <a:prstGeom prst="roundRect">
            <a:avLst>
              <a:gd name="adj" fmla="val 13636"/>
            </a:avLst>
          </a:prstGeom>
          <a:solidFill>
            <a:srgbClr val="F6FAFB"/>
          </a:solidFill>
          <a:ln w="12700">
            <a:solidFill>
              <a:srgbClr val="EAEFF2"/>
            </a:solidFill>
            <a:prstDash val="solid"/>
          </a:ln>
        </p:spPr>
        <p:txBody>
          <a:bodyPr/>
          <a:lstStyle/>
          <a:p>
            <a:endParaRPr lang="en-US"/>
          </a:p>
        </p:txBody>
      </p:sp>
      <p:sp>
        <p:nvSpPr>
          <p:cNvPr id="24" name="Shape 21"/>
          <p:cNvSpPr/>
          <p:nvPr/>
        </p:nvSpPr>
        <p:spPr>
          <a:xfrm>
            <a:off x="8247888" y="2606040"/>
            <a:ext cx="411480" cy="201168"/>
          </a:xfrm>
          <a:prstGeom prst="roundRect">
            <a:avLst>
              <a:gd name="adj" fmla="val 13636"/>
            </a:avLst>
          </a:prstGeom>
          <a:solidFill>
            <a:srgbClr val="6EE7A0"/>
          </a:solidFill>
          <a:ln w="12700">
            <a:solidFill>
              <a:srgbClr val="6EE7A0"/>
            </a:solidFill>
            <a:prstDash val="solid"/>
          </a:ln>
        </p:spPr>
        <p:txBody>
          <a:bodyPr/>
          <a:lstStyle/>
          <a:p>
            <a:endParaRPr lang="en-US"/>
          </a:p>
        </p:txBody>
      </p:sp>
      <p:sp>
        <p:nvSpPr>
          <p:cNvPr id="25" name="Text 22"/>
          <p:cNvSpPr/>
          <p:nvPr/>
        </p:nvSpPr>
        <p:spPr>
          <a:xfrm>
            <a:off x="10799064" y="2660904"/>
            <a:ext cx="731520" cy="146304"/>
          </a:xfrm>
          <a:prstGeom prst="rect">
            <a:avLst/>
          </a:prstGeom>
          <a:noFill/>
          <a:ln/>
        </p:spPr>
        <p:txBody>
          <a:bodyPr wrap="square" lIns="0" tIns="0" rIns="0" bIns="0" rtlCol="0" anchor="ctr"/>
          <a:lstStyle/>
          <a:p>
            <a:pPr marL="0" indent="0">
              <a:buNone/>
            </a:pPr>
            <a:r>
              <a:rPr lang="en-US" sz="1040" b="1" dirty="0">
                <a:solidFill>
                  <a:srgbClr val="1C1414"/>
                </a:solidFill>
                <a:latin typeface="Aptos" pitchFamily="34" charset="0"/>
                <a:ea typeface="Aptos" pitchFamily="34" charset="-122"/>
                <a:cs typeface="Aptos" pitchFamily="34" charset="-120"/>
              </a:rPr>
              <a:t>$200K</a:t>
            </a:r>
            <a:endParaRPr lang="en-US" sz="1040" dirty="0"/>
          </a:p>
        </p:txBody>
      </p:sp>
      <p:sp>
        <p:nvSpPr>
          <p:cNvPr id="26" name="Text 23"/>
          <p:cNvSpPr/>
          <p:nvPr/>
        </p:nvSpPr>
        <p:spPr>
          <a:xfrm>
            <a:off x="6601968" y="3099816"/>
            <a:ext cx="1554480" cy="146304"/>
          </a:xfrm>
          <a:prstGeom prst="rect">
            <a:avLst/>
          </a:prstGeom>
          <a:noFill/>
          <a:ln/>
        </p:spPr>
        <p:txBody>
          <a:bodyPr wrap="square" lIns="0" tIns="0" rIns="0" bIns="0" rtlCol="0" anchor="ctr"/>
          <a:lstStyle/>
          <a:p>
            <a:pPr marL="0" indent="0">
              <a:buNone/>
            </a:pPr>
            <a:r>
              <a:rPr lang="en-US" sz="1040" dirty="0">
                <a:solidFill>
                  <a:srgbClr val="1C1414"/>
                </a:solidFill>
                <a:latin typeface="Aptos" pitchFamily="34" charset="0"/>
                <a:ea typeface="Aptos" pitchFamily="34" charset="-122"/>
                <a:cs typeface="Aptos" pitchFamily="34" charset="-120"/>
              </a:rPr>
              <a:t>Mid-Market</a:t>
            </a:r>
            <a:endParaRPr lang="en-US" sz="1040" dirty="0"/>
          </a:p>
        </p:txBody>
      </p:sp>
      <p:sp>
        <p:nvSpPr>
          <p:cNvPr id="27" name="Shape 24"/>
          <p:cNvSpPr/>
          <p:nvPr/>
        </p:nvSpPr>
        <p:spPr>
          <a:xfrm>
            <a:off x="8247888" y="3035808"/>
            <a:ext cx="2277043" cy="292608"/>
          </a:xfrm>
          <a:prstGeom prst="roundRect">
            <a:avLst>
              <a:gd name="adj" fmla="val 13636"/>
            </a:avLst>
          </a:prstGeom>
          <a:solidFill>
            <a:srgbClr val="F6FAFB"/>
          </a:solidFill>
          <a:ln w="12700">
            <a:solidFill>
              <a:srgbClr val="EAEFF2"/>
            </a:solidFill>
            <a:prstDash val="solid"/>
          </a:ln>
        </p:spPr>
        <p:txBody>
          <a:bodyPr/>
          <a:lstStyle/>
          <a:p>
            <a:endParaRPr lang="en-US"/>
          </a:p>
        </p:txBody>
      </p:sp>
      <p:sp>
        <p:nvSpPr>
          <p:cNvPr id="28" name="Shape 25"/>
          <p:cNvSpPr/>
          <p:nvPr/>
        </p:nvSpPr>
        <p:spPr>
          <a:xfrm>
            <a:off x="8247888" y="3127248"/>
            <a:ext cx="960120" cy="201168"/>
          </a:xfrm>
          <a:prstGeom prst="roundRect">
            <a:avLst>
              <a:gd name="adj" fmla="val 13636"/>
            </a:avLst>
          </a:prstGeom>
          <a:solidFill>
            <a:srgbClr val="38BDF8"/>
          </a:solidFill>
          <a:ln w="12700">
            <a:solidFill>
              <a:srgbClr val="38BDF8"/>
            </a:solidFill>
            <a:prstDash val="solid"/>
          </a:ln>
        </p:spPr>
        <p:txBody>
          <a:bodyPr/>
          <a:lstStyle/>
          <a:p>
            <a:endParaRPr lang="en-US"/>
          </a:p>
        </p:txBody>
      </p:sp>
      <p:sp>
        <p:nvSpPr>
          <p:cNvPr id="29" name="Text 26"/>
          <p:cNvSpPr/>
          <p:nvPr/>
        </p:nvSpPr>
        <p:spPr>
          <a:xfrm>
            <a:off x="10799064" y="3118104"/>
            <a:ext cx="731520" cy="146304"/>
          </a:xfrm>
          <a:prstGeom prst="rect">
            <a:avLst/>
          </a:prstGeom>
          <a:noFill/>
          <a:ln/>
        </p:spPr>
        <p:txBody>
          <a:bodyPr wrap="square" lIns="0" tIns="0" rIns="0" bIns="0" rtlCol="0" anchor="ctr"/>
          <a:lstStyle/>
          <a:p>
            <a:pPr marL="0" indent="0">
              <a:buNone/>
            </a:pPr>
            <a:r>
              <a:rPr lang="en-US" sz="1040" b="1" dirty="0">
                <a:solidFill>
                  <a:srgbClr val="1C1414"/>
                </a:solidFill>
                <a:latin typeface="Aptos" pitchFamily="34" charset="0"/>
                <a:ea typeface="Aptos" pitchFamily="34" charset="-122"/>
                <a:cs typeface="Aptos" pitchFamily="34" charset="-120"/>
              </a:rPr>
              <a:t>$2M</a:t>
            </a:r>
            <a:endParaRPr lang="en-US" sz="1040" dirty="0"/>
          </a:p>
        </p:txBody>
      </p:sp>
      <p:sp>
        <p:nvSpPr>
          <p:cNvPr id="30" name="Text 27"/>
          <p:cNvSpPr/>
          <p:nvPr/>
        </p:nvSpPr>
        <p:spPr>
          <a:xfrm>
            <a:off x="6601968" y="3621024"/>
            <a:ext cx="1554480" cy="146304"/>
          </a:xfrm>
          <a:prstGeom prst="rect">
            <a:avLst/>
          </a:prstGeom>
          <a:noFill/>
          <a:ln/>
        </p:spPr>
        <p:txBody>
          <a:bodyPr wrap="square" lIns="0" tIns="0" rIns="0" bIns="0" rtlCol="0" anchor="ctr"/>
          <a:lstStyle/>
          <a:p>
            <a:pPr marL="0" indent="0">
              <a:buNone/>
            </a:pPr>
            <a:r>
              <a:rPr lang="en-US" sz="1040" dirty="0">
                <a:solidFill>
                  <a:srgbClr val="1C1414"/>
                </a:solidFill>
                <a:latin typeface="Aptos" pitchFamily="34" charset="0"/>
                <a:ea typeface="Aptos" pitchFamily="34" charset="-122"/>
                <a:cs typeface="Aptos" pitchFamily="34" charset="-120"/>
              </a:rPr>
              <a:t>Enterprise</a:t>
            </a:r>
            <a:endParaRPr lang="en-US" sz="1040" dirty="0"/>
          </a:p>
        </p:txBody>
      </p:sp>
      <p:sp>
        <p:nvSpPr>
          <p:cNvPr id="31" name="Shape 28"/>
          <p:cNvSpPr/>
          <p:nvPr/>
        </p:nvSpPr>
        <p:spPr>
          <a:xfrm>
            <a:off x="8247888" y="3655920"/>
            <a:ext cx="2361018" cy="228600"/>
          </a:xfrm>
          <a:prstGeom prst="roundRect">
            <a:avLst>
              <a:gd name="adj" fmla="val 13636"/>
            </a:avLst>
          </a:prstGeom>
          <a:solidFill>
            <a:srgbClr val="F6FAFB"/>
          </a:solidFill>
          <a:ln w="12700">
            <a:solidFill>
              <a:srgbClr val="EAEFF2"/>
            </a:solidFill>
            <a:prstDash val="solid"/>
          </a:ln>
        </p:spPr>
        <p:txBody>
          <a:bodyPr/>
          <a:lstStyle/>
          <a:p>
            <a:endParaRPr lang="en-US"/>
          </a:p>
        </p:txBody>
      </p:sp>
      <p:sp>
        <p:nvSpPr>
          <p:cNvPr id="32" name="Shape 29"/>
          <p:cNvSpPr/>
          <p:nvPr/>
        </p:nvSpPr>
        <p:spPr>
          <a:xfrm>
            <a:off x="8247888" y="3648456"/>
            <a:ext cx="1965960" cy="201168"/>
          </a:xfrm>
          <a:prstGeom prst="roundRect">
            <a:avLst>
              <a:gd name="adj" fmla="val 13636"/>
            </a:avLst>
          </a:prstGeom>
          <a:solidFill>
            <a:srgbClr val="E5A932"/>
          </a:solidFill>
          <a:ln w="12700">
            <a:solidFill>
              <a:srgbClr val="E5A932"/>
            </a:solidFill>
            <a:prstDash val="solid"/>
          </a:ln>
        </p:spPr>
        <p:txBody>
          <a:bodyPr/>
          <a:lstStyle/>
          <a:p>
            <a:endParaRPr lang="en-US"/>
          </a:p>
        </p:txBody>
      </p:sp>
      <p:sp>
        <p:nvSpPr>
          <p:cNvPr id="33" name="Text 30"/>
          <p:cNvSpPr/>
          <p:nvPr/>
        </p:nvSpPr>
        <p:spPr>
          <a:xfrm>
            <a:off x="10799064" y="3703320"/>
            <a:ext cx="731520" cy="146304"/>
          </a:xfrm>
          <a:prstGeom prst="rect">
            <a:avLst/>
          </a:prstGeom>
          <a:noFill/>
          <a:ln/>
        </p:spPr>
        <p:txBody>
          <a:bodyPr wrap="square" lIns="0" tIns="0" rIns="0" bIns="0" rtlCol="0" anchor="ctr"/>
          <a:lstStyle/>
          <a:p>
            <a:pPr marL="0" indent="0">
              <a:buNone/>
            </a:pPr>
            <a:r>
              <a:rPr lang="en-US" sz="1040" b="1" dirty="0">
                <a:solidFill>
                  <a:srgbClr val="1C1414"/>
                </a:solidFill>
                <a:latin typeface="Aptos" pitchFamily="34" charset="0"/>
                <a:ea typeface="Aptos" pitchFamily="34" charset="-122"/>
                <a:cs typeface="Aptos" pitchFamily="34" charset="-120"/>
              </a:rPr>
              <a:t>$15M</a:t>
            </a:r>
            <a:endParaRPr lang="en-US" sz="1040" dirty="0"/>
          </a:p>
        </p:txBody>
      </p:sp>
      <p:sp>
        <p:nvSpPr>
          <p:cNvPr id="34" name="Text 31"/>
          <p:cNvSpPr/>
          <p:nvPr/>
        </p:nvSpPr>
        <p:spPr>
          <a:xfrm>
            <a:off x="6601968" y="4142232"/>
            <a:ext cx="1554480" cy="146304"/>
          </a:xfrm>
          <a:prstGeom prst="rect">
            <a:avLst/>
          </a:prstGeom>
          <a:noFill/>
          <a:ln/>
        </p:spPr>
        <p:txBody>
          <a:bodyPr wrap="square" lIns="0" tIns="0" rIns="0" bIns="0" rtlCol="0" anchor="ctr"/>
          <a:lstStyle/>
          <a:p>
            <a:pPr marL="0" indent="0">
              <a:buNone/>
            </a:pPr>
            <a:r>
              <a:rPr lang="en-US" sz="1040" dirty="0">
                <a:solidFill>
                  <a:srgbClr val="1C1414"/>
                </a:solidFill>
                <a:latin typeface="Aptos" pitchFamily="34" charset="0"/>
                <a:ea typeface="Aptos" pitchFamily="34" charset="-122"/>
                <a:cs typeface="Aptos" pitchFamily="34" charset="-120"/>
              </a:rPr>
              <a:t>Global Corp</a:t>
            </a:r>
            <a:endParaRPr lang="en-US" sz="1040" dirty="0"/>
          </a:p>
        </p:txBody>
      </p:sp>
      <p:sp>
        <p:nvSpPr>
          <p:cNvPr id="35" name="Shape 32"/>
          <p:cNvSpPr/>
          <p:nvPr/>
        </p:nvSpPr>
        <p:spPr>
          <a:xfrm>
            <a:off x="8247888" y="4160520"/>
            <a:ext cx="2361018" cy="210312"/>
          </a:xfrm>
          <a:prstGeom prst="roundRect">
            <a:avLst>
              <a:gd name="adj" fmla="val 13636"/>
            </a:avLst>
          </a:prstGeom>
          <a:solidFill>
            <a:srgbClr val="F6FAFB"/>
          </a:solidFill>
          <a:ln w="12700">
            <a:solidFill>
              <a:srgbClr val="EAEFF2"/>
            </a:solidFill>
            <a:prstDash val="solid"/>
          </a:ln>
        </p:spPr>
        <p:txBody>
          <a:bodyPr/>
          <a:lstStyle/>
          <a:p>
            <a:endParaRPr lang="en-US"/>
          </a:p>
        </p:txBody>
      </p:sp>
      <p:sp>
        <p:nvSpPr>
          <p:cNvPr id="36" name="Shape 33"/>
          <p:cNvSpPr/>
          <p:nvPr/>
        </p:nvSpPr>
        <p:spPr>
          <a:xfrm>
            <a:off x="8247888" y="4142232"/>
            <a:ext cx="2361018" cy="228600"/>
          </a:xfrm>
          <a:prstGeom prst="roundRect">
            <a:avLst>
              <a:gd name="adj" fmla="val 13636"/>
            </a:avLst>
          </a:prstGeom>
          <a:solidFill>
            <a:srgbClr val="EF4444"/>
          </a:solidFill>
          <a:ln w="12700">
            <a:solidFill>
              <a:srgbClr val="EF4444"/>
            </a:solidFill>
            <a:prstDash val="solid"/>
          </a:ln>
        </p:spPr>
        <p:txBody>
          <a:bodyPr/>
          <a:lstStyle/>
          <a:p>
            <a:endParaRPr lang="en-US"/>
          </a:p>
        </p:txBody>
      </p:sp>
      <p:sp>
        <p:nvSpPr>
          <p:cNvPr id="37" name="Text 34"/>
          <p:cNvSpPr/>
          <p:nvPr/>
        </p:nvSpPr>
        <p:spPr>
          <a:xfrm>
            <a:off x="10863072" y="4160520"/>
            <a:ext cx="731520" cy="146304"/>
          </a:xfrm>
          <a:prstGeom prst="rect">
            <a:avLst/>
          </a:prstGeom>
          <a:noFill/>
          <a:ln/>
        </p:spPr>
        <p:txBody>
          <a:bodyPr wrap="square" lIns="0" tIns="0" rIns="0" bIns="0" rtlCol="0" anchor="ctr"/>
          <a:lstStyle/>
          <a:p>
            <a:pPr marL="0" indent="0">
              <a:buNone/>
            </a:pPr>
            <a:r>
              <a:rPr lang="en-US" sz="1040" b="1" dirty="0">
                <a:solidFill>
                  <a:srgbClr val="1C1414"/>
                </a:solidFill>
                <a:latin typeface="Aptos" pitchFamily="34" charset="0"/>
                <a:ea typeface="Aptos" pitchFamily="34" charset="-122"/>
                <a:cs typeface="Aptos" pitchFamily="34" charset="-120"/>
              </a:rPr>
              <a:t>$50M+</a:t>
            </a:r>
            <a:endParaRPr lang="en-US" sz="1040" dirty="0"/>
          </a:p>
        </p:txBody>
      </p:sp>
      <p:sp>
        <p:nvSpPr>
          <p:cNvPr id="38" name="Text 35"/>
          <p:cNvSpPr/>
          <p:nvPr/>
        </p:nvSpPr>
        <p:spPr>
          <a:xfrm>
            <a:off x="6601968" y="4892040"/>
            <a:ext cx="4389120" cy="256032"/>
          </a:xfrm>
          <a:prstGeom prst="rect">
            <a:avLst/>
          </a:prstGeom>
          <a:noFill/>
          <a:ln/>
        </p:spPr>
        <p:txBody>
          <a:bodyPr wrap="square" lIns="0" tIns="0" rIns="0" bIns="0" rtlCol="0" anchor="ctr"/>
          <a:lstStyle/>
          <a:p>
            <a:pPr marL="0" indent="0">
              <a:buNone/>
            </a:pPr>
            <a:r>
              <a:rPr lang="en-US" sz="1040" dirty="0">
                <a:solidFill>
                  <a:srgbClr val="5F6A6A"/>
                </a:solidFill>
                <a:latin typeface="Aptos" pitchFamily="34" charset="0"/>
                <a:ea typeface="Aptos" pitchFamily="34" charset="-122"/>
                <a:cs typeface="Aptos" pitchFamily="34" charset="-120"/>
              </a:rPr>
              <a:t>Enterprise buyers need defensible AI before they scale usage. That is the wedge.</a:t>
            </a:r>
            <a:endParaRPr lang="en-US" sz="10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38BDF8"/>
          </a:solidFill>
          <a:ln w="12700">
            <a:solidFill>
              <a:srgbClr val="38BDF8"/>
            </a:solidFill>
            <a:prstDash val="solid"/>
          </a:ln>
        </p:spPr>
        <p:txBody>
          <a:bodyPr/>
          <a:lstStyle/>
          <a:p>
            <a:endParaRPr lang="en-US"/>
          </a:p>
        </p:txBody>
      </p:sp>
      <p:sp>
        <p:nvSpPr>
          <p:cNvPr id="3" name="Shape 1"/>
          <p:cNvSpPr/>
          <p:nvPr/>
        </p:nvSpPr>
        <p:spPr>
          <a:xfrm>
            <a:off x="10012680" y="0"/>
            <a:ext cx="2179015" cy="128016"/>
          </a:xfrm>
          <a:prstGeom prst="rect">
            <a:avLst/>
          </a:prstGeom>
          <a:solidFill>
            <a:srgbClr val="E5A932"/>
          </a:solidFill>
          <a:ln w="12700">
            <a:solidFill>
              <a:srgbClr val="E5A932"/>
            </a:solidFill>
            <a:prstDash val="solid"/>
          </a:ln>
        </p:spPr>
        <p:txBody>
          <a:bodyPr/>
          <a:lstStyle/>
          <a:p>
            <a:endParaRPr lang="en-US"/>
          </a:p>
        </p:txBody>
      </p:sp>
      <p:sp>
        <p:nvSpPr>
          <p:cNvPr id="4" name="Text 2"/>
          <p:cNvSpPr/>
          <p:nvPr/>
        </p:nvSpPr>
        <p:spPr>
          <a:xfrm>
            <a:off x="438912" y="6437376"/>
            <a:ext cx="1645920" cy="146304"/>
          </a:xfrm>
          <a:prstGeom prst="rect">
            <a:avLst/>
          </a:prstGeom>
          <a:noFill/>
          <a:ln/>
        </p:spPr>
        <p:txBody>
          <a:bodyPr wrap="square" lIns="0" tIns="0" rIns="0" bIns="0" rtlCol="0" anchor="ctr"/>
          <a:lstStyle/>
          <a:p>
            <a:pPr marL="0" indent="0">
              <a:buNone/>
            </a:pPr>
            <a:r>
              <a:rPr lang="en-US" sz="880" b="1" dirty="0">
                <a:solidFill>
                  <a:srgbClr val="1C1414"/>
                </a:solidFill>
                <a:latin typeface="Aptos" pitchFamily="34" charset="0"/>
                <a:ea typeface="Aptos" pitchFamily="34" charset="-122"/>
                <a:cs typeface="Aptos" pitchFamily="34" charset="-120"/>
              </a:rPr>
              <a:t>Techpigeon</a:t>
            </a:r>
            <a:endParaRPr lang="en-US" sz="880" dirty="0"/>
          </a:p>
        </p:txBody>
      </p:sp>
      <p:sp>
        <p:nvSpPr>
          <p:cNvPr id="5" name="Text 3"/>
          <p:cNvSpPr/>
          <p:nvPr/>
        </p:nvSpPr>
        <p:spPr>
          <a:xfrm>
            <a:off x="1920240" y="6437376"/>
            <a:ext cx="1828800" cy="146304"/>
          </a:xfrm>
          <a:prstGeom prst="rect">
            <a:avLst/>
          </a:prstGeom>
          <a:noFill/>
          <a:ln/>
        </p:spPr>
        <p:txBody>
          <a:bodyPr wrap="square" lIns="0" tIns="0" rIns="0" bIns="0" rtlCol="0" anchor="ctr"/>
          <a:lstStyle/>
          <a:p>
            <a:pPr marL="0" indent="0">
              <a:buNone/>
            </a:pPr>
            <a:r>
              <a:rPr lang="en-US" sz="880" dirty="0">
                <a:solidFill>
                  <a:srgbClr val="5F6A6A"/>
                </a:solidFill>
                <a:latin typeface="Aptos" pitchFamily="34" charset="0"/>
                <a:ea typeface="Aptos" pitchFamily="34" charset="-122"/>
                <a:cs typeface="Aptos" pitchFamily="34" charset="-120"/>
              </a:rPr>
              <a:t>NovusSparks AI</a:t>
            </a:r>
            <a:endParaRPr lang="en-US" sz="880" dirty="0"/>
          </a:p>
        </p:txBody>
      </p:sp>
      <p:sp>
        <p:nvSpPr>
          <p:cNvPr id="6" name="Text 4"/>
          <p:cNvSpPr/>
          <p:nvPr/>
        </p:nvSpPr>
        <p:spPr>
          <a:xfrm>
            <a:off x="8732520" y="6437376"/>
            <a:ext cx="2926080" cy="146304"/>
          </a:xfrm>
          <a:prstGeom prst="rect">
            <a:avLst/>
          </a:prstGeom>
          <a:noFill/>
          <a:ln/>
        </p:spPr>
        <p:txBody>
          <a:bodyPr wrap="square" lIns="0" tIns="0" rIns="0" bIns="0" rtlCol="0" anchor="ctr"/>
          <a:lstStyle/>
          <a:p>
            <a:pPr marL="0" indent="0" algn="r">
              <a:buNone/>
            </a:pPr>
            <a:r>
              <a:rPr lang="en-US" sz="880" dirty="0">
                <a:solidFill>
                  <a:srgbClr val="5F6A6A"/>
                </a:solidFill>
                <a:latin typeface="Aptos" pitchFamily="34" charset="0"/>
                <a:ea typeface="Aptos" pitchFamily="34" charset="-122"/>
                <a:cs typeface="Aptos" pitchFamily="34" charset="-120"/>
              </a:rPr>
              <a:t>AWS Activate via Spendbase</a:t>
            </a:r>
            <a:endParaRPr lang="en-US" sz="880" dirty="0"/>
          </a:p>
        </p:txBody>
      </p:sp>
      <p:sp>
        <p:nvSpPr>
          <p:cNvPr id="8" name="Text 5"/>
          <p:cNvSpPr/>
          <p:nvPr/>
        </p:nvSpPr>
        <p:spPr>
          <a:xfrm>
            <a:off x="658368" y="640080"/>
            <a:ext cx="7772400" cy="603504"/>
          </a:xfrm>
          <a:prstGeom prst="rect">
            <a:avLst/>
          </a:prstGeom>
          <a:noFill/>
          <a:ln/>
        </p:spPr>
        <p:txBody>
          <a:bodyPr wrap="square" lIns="0" tIns="0" rIns="0" bIns="0" rtlCol="0" anchor="ctr"/>
          <a:lstStyle/>
          <a:p>
            <a:pPr marL="0" indent="0">
              <a:buNone/>
            </a:pPr>
            <a:r>
              <a:rPr lang="en-US" sz="2250" b="1" dirty="0">
                <a:solidFill>
                  <a:srgbClr val="1C1414"/>
                </a:solidFill>
                <a:latin typeface="Aptos Display" pitchFamily="34" charset="0"/>
                <a:ea typeface="Aptos Display" pitchFamily="34" charset="-122"/>
                <a:cs typeface="Aptos Display" pitchFamily="34" charset="-120"/>
              </a:rPr>
              <a:t>All your enterprise solutions in one governed ecosystem.</a:t>
            </a:r>
            <a:endParaRPr lang="en-US" sz="2250" dirty="0"/>
          </a:p>
        </p:txBody>
      </p:sp>
      <p:sp>
        <p:nvSpPr>
          <p:cNvPr id="9" name="Text 6"/>
          <p:cNvSpPr/>
          <p:nvPr/>
        </p:nvSpPr>
        <p:spPr>
          <a:xfrm>
            <a:off x="676656" y="1207008"/>
            <a:ext cx="8229600" cy="384048"/>
          </a:xfrm>
          <a:prstGeom prst="rect">
            <a:avLst/>
          </a:prstGeom>
          <a:noFill/>
          <a:ln/>
        </p:spPr>
        <p:txBody>
          <a:bodyPr wrap="square" lIns="0" tIns="0" rIns="0" bIns="0" rtlCol="0" anchor="ctr"/>
          <a:lstStyle/>
          <a:p>
            <a:pPr marL="0" indent="0">
              <a:buNone/>
            </a:pPr>
            <a:r>
              <a:rPr lang="en-US" sz="1150" dirty="0">
                <a:solidFill>
                  <a:srgbClr val="5F6A6A"/>
                </a:solidFill>
                <a:latin typeface="Aptos" pitchFamily="34" charset="0"/>
                <a:ea typeface="Aptos" pitchFamily="34" charset="-122"/>
                <a:cs typeface="Aptos" pitchFamily="34" charset="-120"/>
              </a:rPr>
              <a:t>Techpigeon builds the secure infrastructure businesses need to adopt next-gen tools.</a:t>
            </a:r>
            <a:endParaRPr lang="en-US" sz="1150" dirty="0"/>
          </a:p>
        </p:txBody>
      </p:sp>
      <p:sp>
        <p:nvSpPr>
          <p:cNvPr id="10" name="Shape 7"/>
          <p:cNvSpPr/>
          <p:nvPr/>
        </p:nvSpPr>
        <p:spPr>
          <a:xfrm>
            <a:off x="658368" y="1783080"/>
            <a:ext cx="5394960" cy="1298448"/>
          </a:xfrm>
          <a:prstGeom prst="roundRect">
            <a:avLst>
              <a:gd name="adj" fmla="val 5634"/>
            </a:avLst>
          </a:prstGeom>
          <a:solidFill>
            <a:srgbClr val="F0FAF5"/>
          </a:solidFill>
          <a:ln w="12700">
            <a:solidFill>
              <a:srgbClr val="38BDF8"/>
            </a:solidFill>
            <a:prstDash val="solid"/>
          </a:ln>
          <a:effectLst>
            <a:outerShdw blurRad="12700" dist="50800" dir="2700000" algn="bl" rotWithShape="0">
              <a:srgbClr val="DDECF3">
                <a:alpha val="12000"/>
              </a:srgbClr>
            </a:outerShdw>
          </a:effectLst>
        </p:spPr>
        <p:txBody>
          <a:bodyPr/>
          <a:lstStyle/>
          <a:p>
            <a:endParaRPr lang="en-US"/>
          </a:p>
        </p:txBody>
      </p:sp>
      <p:sp>
        <p:nvSpPr>
          <p:cNvPr id="11" name="Shape 8"/>
          <p:cNvSpPr/>
          <p:nvPr/>
        </p:nvSpPr>
        <p:spPr>
          <a:xfrm>
            <a:off x="676656" y="1801368"/>
            <a:ext cx="73152" cy="1261872"/>
          </a:xfrm>
          <a:prstGeom prst="rect">
            <a:avLst/>
          </a:prstGeom>
          <a:solidFill>
            <a:srgbClr val="38BDF8"/>
          </a:solidFill>
          <a:ln w="12700">
            <a:solidFill>
              <a:srgbClr val="38BDF8"/>
            </a:solidFill>
            <a:prstDash val="solid"/>
          </a:ln>
        </p:spPr>
        <p:txBody>
          <a:bodyPr/>
          <a:lstStyle/>
          <a:p>
            <a:endParaRPr lang="en-US"/>
          </a:p>
        </p:txBody>
      </p:sp>
      <p:sp>
        <p:nvSpPr>
          <p:cNvPr id="12" name="Text 9"/>
          <p:cNvSpPr/>
          <p:nvPr/>
        </p:nvSpPr>
        <p:spPr>
          <a:xfrm>
            <a:off x="877824" y="2002536"/>
            <a:ext cx="5029200" cy="164592"/>
          </a:xfrm>
          <a:prstGeom prst="rect">
            <a:avLst/>
          </a:prstGeom>
          <a:noFill/>
          <a:ln/>
        </p:spPr>
        <p:txBody>
          <a:bodyPr wrap="square" lIns="0" tIns="0" rIns="0" bIns="0" rtlCol="0" anchor="ctr"/>
          <a:lstStyle/>
          <a:p>
            <a:pPr marL="0" indent="0">
              <a:buNone/>
            </a:pPr>
            <a:r>
              <a:rPr lang="en-US" sz="1460" b="1" dirty="0">
                <a:solidFill>
                  <a:srgbClr val="1C1414"/>
                </a:solidFill>
                <a:latin typeface="Aptos" pitchFamily="34" charset="0"/>
                <a:ea typeface="Aptos" pitchFamily="34" charset="-122"/>
                <a:cs typeface="Aptos" pitchFamily="34" charset="-120"/>
              </a:rPr>
              <a:t>Secure Cloud Data Handling</a:t>
            </a:r>
            <a:endParaRPr lang="en-US" sz="1460" dirty="0"/>
          </a:p>
        </p:txBody>
      </p:sp>
      <p:sp>
        <p:nvSpPr>
          <p:cNvPr id="13" name="Text 10"/>
          <p:cNvSpPr/>
          <p:nvPr/>
        </p:nvSpPr>
        <p:spPr>
          <a:xfrm>
            <a:off x="877824" y="2295144"/>
            <a:ext cx="4983480" cy="310896"/>
          </a:xfrm>
          <a:prstGeom prst="rect">
            <a:avLst/>
          </a:prstGeom>
          <a:noFill/>
          <a:ln/>
        </p:spPr>
        <p:txBody>
          <a:bodyPr wrap="square" lIns="0" tIns="0" rIns="0" bIns="0" rtlCol="0" anchor="ctr"/>
          <a:lstStyle/>
          <a:p>
            <a:pPr marL="0" indent="0">
              <a:buNone/>
            </a:pPr>
            <a:r>
              <a:rPr lang="en-US" sz="1100" dirty="0">
                <a:solidFill>
                  <a:srgbClr val="5F6A6A"/>
                </a:solidFill>
                <a:latin typeface="Aptos" pitchFamily="34" charset="0"/>
                <a:ea typeface="Aptos" pitchFamily="34" charset="-122"/>
                <a:cs typeface="Aptos" pitchFamily="34" charset="-120"/>
              </a:rPr>
              <a:t>Encrypted storage, structured ingestion, and controlled document flows.</a:t>
            </a:r>
            <a:endParaRPr lang="en-US" sz="1100" dirty="0"/>
          </a:p>
        </p:txBody>
      </p:sp>
      <p:sp>
        <p:nvSpPr>
          <p:cNvPr id="14" name="Shape 11"/>
          <p:cNvSpPr/>
          <p:nvPr/>
        </p:nvSpPr>
        <p:spPr>
          <a:xfrm>
            <a:off x="6172200" y="1783080"/>
            <a:ext cx="5394960" cy="1298448"/>
          </a:xfrm>
          <a:prstGeom prst="roundRect">
            <a:avLst>
              <a:gd name="adj" fmla="val 5634"/>
            </a:avLst>
          </a:prstGeom>
          <a:solidFill>
            <a:srgbClr val="F0FAF5"/>
          </a:solidFill>
          <a:ln w="12700">
            <a:solidFill>
              <a:srgbClr val="6EE7A0"/>
            </a:solidFill>
            <a:prstDash val="solid"/>
          </a:ln>
          <a:effectLst>
            <a:outerShdw blurRad="12700" dist="50800" dir="2700000" algn="bl" rotWithShape="0">
              <a:srgbClr val="DDECF3">
                <a:alpha val="12000"/>
              </a:srgbClr>
            </a:outerShdw>
          </a:effectLst>
        </p:spPr>
        <p:txBody>
          <a:bodyPr/>
          <a:lstStyle/>
          <a:p>
            <a:endParaRPr lang="en-US"/>
          </a:p>
        </p:txBody>
      </p:sp>
      <p:sp>
        <p:nvSpPr>
          <p:cNvPr id="15" name="Shape 12"/>
          <p:cNvSpPr/>
          <p:nvPr/>
        </p:nvSpPr>
        <p:spPr>
          <a:xfrm>
            <a:off x="6190488" y="1801368"/>
            <a:ext cx="73152" cy="1261872"/>
          </a:xfrm>
          <a:prstGeom prst="rect">
            <a:avLst/>
          </a:prstGeom>
          <a:solidFill>
            <a:srgbClr val="6EE7A0"/>
          </a:solidFill>
          <a:ln w="12700">
            <a:solidFill>
              <a:srgbClr val="6EE7A0"/>
            </a:solidFill>
            <a:prstDash val="solid"/>
          </a:ln>
        </p:spPr>
        <p:txBody>
          <a:bodyPr/>
          <a:lstStyle/>
          <a:p>
            <a:endParaRPr lang="en-US"/>
          </a:p>
        </p:txBody>
      </p:sp>
      <p:sp>
        <p:nvSpPr>
          <p:cNvPr id="16" name="Text 13"/>
          <p:cNvSpPr/>
          <p:nvPr/>
        </p:nvSpPr>
        <p:spPr>
          <a:xfrm>
            <a:off x="6391656" y="2002536"/>
            <a:ext cx="5029200" cy="164592"/>
          </a:xfrm>
          <a:prstGeom prst="rect">
            <a:avLst/>
          </a:prstGeom>
          <a:noFill/>
          <a:ln/>
        </p:spPr>
        <p:txBody>
          <a:bodyPr wrap="square" lIns="0" tIns="0" rIns="0" bIns="0" rtlCol="0" anchor="ctr"/>
          <a:lstStyle/>
          <a:p>
            <a:pPr marL="0" indent="0">
              <a:buNone/>
            </a:pPr>
            <a:r>
              <a:rPr lang="en-US" sz="1460" b="1" dirty="0">
                <a:solidFill>
                  <a:srgbClr val="1C1414"/>
                </a:solidFill>
                <a:latin typeface="Aptos" pitchFamily="34" charset="0"/>
                <a:ea typeface="Aptos" pitchFamily="34" charset="-122"/>
                <a:cs typeface="Aptos" pitchFamily="34" charset="-120"/>
              </a:rPr>
              <a:t>Enterprise Command Center Controls</a:t>
            </a:r>
            <a:endParaRPr lang="en-US" sz="1460" dirty="0"/>
          </a:p>
        </p:txBody>
      </p:sp>
      <p:sp>
        <p:nvSpPr>
          <p:cNvPr id="17" name="Text 14"/>
          <p:cNvSpPr/>
          <p:nvPr/>
        </p:nvSpPr>
        <p:spPr>
          <a:xfrm>
            <a:off x="6391656" y="2295144"/>
            <a:ext cx="4983480" cy="310896"/>
          </a:xfrm>
          <a:prstGeom prst="rect">
            <a:avLst/>
          </a:prstGeom>
          <a:noFill/>
          <a:ln/>
        </p:spPr>
        <p:txBody>
          <a:bodyPr wrap="square" lIns="0" tIns="0" rIns="0" bIns="0" rtlCol="0" anchor="ctr"/>
          <a:lstStyle/>
          <a:p>
            <a:pPr marL="0" indent="0">
              <a:buNone/>
            </a:pPr>
            <a:r>
              <a:rPr lang="en-US" sz="1100" dirty="0">
                <a:solidFill>
                  <a:srgbClr val="5F6A6A"/>
                </a:solidFill>
                <a:latin typeface="Aptos" pitchFamily="34" charset="0"/>
                <a:ea typeface="Aptos" pitchFamily="34" charset="-122"/>
                <a:cs typeface="Aptos" pitchFamily="34" charset="-120"/>
              </a:rPr>
              <a:t>Centralized governance, policy enforcement, and workspace visibility.</a:t>
            </a:r>
            <a:endParaRPr lang="en-US" sz="1100" dirty="0"/>
          </a:p>
        </p:txBody>
      </p:sp>
      <p:sp>
        <p:nvSpPr>
          <p:cNvPr id="18" name="Shape 15"/>
          <p:cNvSpPr/>
          <p:nvPr/>
        </p:nvSpPr>
        <p:spPr>
          <a:xfrm>
            <a:off x="658368" y="3310128"/>
            <a:ext cx="5394960" cy="1298448"/>
          </a:xfrm>
          <a:prstGeom prst="roundRect">
            <a:avLst>
              <a:gd name="adj" fmla="val 5634"/>
            </a:avLst>
          </a:prstGeom>
          <a:solidFill>
            <a:srgbClr val="F0FAF5"/>
          </a:solidFill>
          <a:ln w="12700">
            <a:solidFill>
              <a:srgbClr val="E5A932"/>
            </a:solidFill>
            <a:prstDash val="solid"/>
          </a:ln>
          <a:effectLst>
            <a:outerShdw blurRad="12700" dist="50800" dir="2700000" algn="bl" rotWithShape="0">
              <a:srgbClr val="DDECF3">
                <a:alpha val="12000"/>
              </a:srgbClr>
            </a:outerShdw>
          </a:effectLst>
        </p:spPr>
        <p:txBody>
          <a:bodyPr/>
          <a:lstStyle/>
          <a:p>
            <a:endParaRPr lang="en-US"/>
          </a:p>
        </p:txBody>
      </p:sp>
      <p:sp>
        <p:nvSpPr>
          <p:cNvPr id="19" name="Shape 16"/>
          <p:cNvSpPr/>
          <p:nvPr/>
        </p:nvSpPr>
        <p:spPr>
          <a:xfrm>
            <a:off x="676656" y="3328416"/>
            <a:ext cx="73152" cy="1261872"/>
          </a:xfrm>
          <a:prstGeom prst="rect">
            <a:avLst/>
          </a:prstGeom>
          <a:solidFill>
            <a:srgbClr val="E5A932"/>
          </a:solidFill>
          <a:ln w="12700">
            <a:solidFill>
              <a:srgbClr val="E5A932"/>
            </a:solidFill>
            <a:prstDash val="solid"/>
          </a:ln>
        </p:spPr>
        <p:txBody>
          <a:bodyPr/>
          <a:lstStyle/>
          <a:p>
            <a:endParaRPr lang="en-US"/>
          </a:p>
        </p:txBody>
      </p:sp>
      <p:sp>
        <p:nvSpPr>
          <p:cNvPr id="20" name="Text 17"/>
          <p:cNvSpPr/>
          <p:nvPr/>
        </p:nvSpPr>
        <p:spPr>
          <a:xfrm>
            <a:off x="877824" y="3529584"/>
            <a:ext cx="5029200" cy="164592"/>
          </a:xfrm>
          <a:prstGeom prst="rect">
            <a:avLst/>
          </a:prstGeom>
          <a:noFill/>
          <a:ln/>
        </p:spPr>
        <p:txBody>
          <a:bodyPr wrap="square" lIns="0" tIns="0" rIns="0" bIns="0" rtlCol="0" anchor="ctr"/>
          <a:lstStyle/>
          <a:p>
            <a:pPr marL="0" indent="0">
              <a:buNone/>
            </a:pPr>
            <a:r>
              <a:rPr lang="en-US" sz="1460" b="1" dirty="0">
                <a:solidFill>
                  <a:srgbClr val="1C1414"/>
                </a:solidFill>
                <a:latin typeface="Aptos" pitchFamily="34" charset="0"/>
                <a:ea typeface="Aptos" pitchFamily="34" charset="-122"/>
                <a:cs typeface="Aptos" pitchFamily="34" charset="-120"/>
              </a:rPr>
              <a:t>Role-Based Access &amp; Usage Tracking</a:t>
            </a:r>
            <a:endParaRPr lang="en-US" sz="1460" dirty="0"/>
          </a:p>
        </p:txBody>
      </p:sp>
      <p:sp>
        <p:nvSpPr>
          <p:cNvPr id="21" name="Text 18"/>
          <p:cNvSpPr/>
          <p:nvPr/>
        </p:nvSpPr>
        <p:spPr>
          <a:xfrm>
            <a:off x="877824" y="3822192"/>
            <a:ext cx="4983480" cy="310896"/>
          </a:xfrm>
          <a:prstGeom prst="rect">
            <a:avLst/>
          </a:prstGeom>
          <a:noFill/>
          <a:ln/>
        </p:spPr>
        <p:txBody>
          <a:bodyPr wrap="square" lIns="0" tIns="0" rIns="0" bIns="0" rtlCol="0" anchor="ctr"/>
          <a:lstStyle/>
          <a:p>
            <a:pPr marL="0" indent="0">
              <a:buNone/>
            </a:pPr>
            <a:r>
              <a:rPr lang="en-US" sz="1100" dirty="0">
                <a:solidFill>
                  <a:srgbClr val="5F6A6A"/>
                </a:solidFill>
                <a:latin typeface="Aptos" pitchFamily="34" charset="0"/>
                <a:ea typeface="Aptos" pitchFamily="34" charset="-122"/>
                <a:cs typeface="Aptos" pitchFamily="34" charset="-120"/>
              </a:rPr>
              <a:t>Granular permissions, user attribution, and audit-ready history.</a:t>
            </a:r>
            <a:endParaRPr lang="en-US" sz="1100" dirty="0"/>
          </a:p>
        </p:txBody>
      </p:sp>
      <p:sp>
        <p:nvSpPr>
          <p:cNvPr id="22" name="Shape 19"/>
          <p:cNvSpPr/>
          <p:nvPr/>
        </p:nvSpPr>
        <p:spPr>
          <a:xfrm>
            <a:off x="6172200" y="3310128"/>
            <a:ext cx="5394960" cy="1298448"/>
          </a:xfrm>
          <a:prstGeom prst="roundRect">
            <a:avLst>
              <a:gd name="adj" fmla="val 5634"/>
            </a:avLst>
          </a:prstGeom>
          <a:solidFill>
            <a:srgbClr val="F0FAF5"/>
          </a:solidFill>
          <a:ln w="12700">
            <a:solidFill>
              <a:srgbClr val="38BDF8"/>
            </a:solidFill>
            <a:prstDash val="solid"/>
          </a:ln>
          <a:effectLst>
            <a:outerShdw blurRad="12700" dist="50800" dir="2700000" algn="bl" rotWithShape="0">
              <a:srgbClr val="DDECF3">
                <a:alpha val="12000"/>
              </a:srgbClr>
            </a:outerShdw>
          </a:effectLst>
        </p:spPr>
        <p:txBody>
          <a:bodyPr/>
          <a:lstStyle/>
          <a:p>
            <a:endParaRPr lang="en-US"/>
          </a:p>
        </p:txBody>
      </p:sp>
      <p:sp>
        <p:nvSpPr>
          <p:cNvPr id="23" name="Shape 20"/>
          <p:cNvSpPr/>
          <p:nvPr/>
        </p:nvSpPr>
        <p:spPr>
          <a:xfrm>
            <a:off x="6190488" y="3328416"/>
            <a:ext cx="73152" cy="1261872"/>
          </a:xfrm>
          <a:prstGeom prst="rect">
            <a:avLst/>
          </a:prstGeom>
          <a:solidFill>
            <a:srgbClr val="38BDF8"/>
          </a:solidFill>
          <a:ln w="12700">
            <a:solidFill>
              <a:srgbClr val="38BDF8"/>
            </a:solidFill>
            <a:prstDash val="solid"/>
          </a:ln>
        </p:spPr>
        <p:txBody>
          <a:bodyPr/>
          <a:lstStyle/>
          <a:p>
            <a:endParaRPr lang="en-US"/>
          </a:p>
        </p:txBody>
      </p:sp>
      <p:sp>
        <p:nvSpPr>
          <p:cNvPr id="24" name="Text 21"/>
          <p:cNvSpPr/>
          <p:nvPr/>
        </p:nvSpPr>
        <p:spPr>
          <a:xfrm>
            <a:off x="6391656" y="3529584"/>
            <a:ext cx="5029200" cy="164592"/>
          </a:xfrm>
          <a:prstGeom prst="rect">
            <a:avLst/>
          </a:prstGeom>
          <a:noFill/>
          <a:ln/>
        </p:spPr>
        <p:txBody>
          <a:bodyPr wrap="square" lIns="0" tIns="0" rIns="0" bIns="0" rtlCol="0" anchor="ctr"/>
          <a:lstStyle/>
          <a:p>
            <a:pPr marL="0" indent="0">
              <a:buNone/>
            </a:pPr>
            <a:r>
              <a:rPr lang="en-US" sz="1460" b="1" dirty="0">
                <a:solidFill>
                  <a:srgbClr val="1C1414"/>
                </a:solidFill>
                <a:latin typeface="Aptos" pitchFamily="34" charset="0"/>
                <a:ea typeface="Aptos" pitchFamily="34" charset="-122"/>
                <a:cs typeface="Aptos" pitchFamily="34" charset="-120"/>
              </a:rPr>
              <a:t>Tailored B2B SaaS Ecosystems</a:t>
            </a:r>
            <a:endParaRPr lang="en-US" sz="1460" dirty="0"/>
          </a:p>
        </p:txBody>
      </p:sp>
      <p:sp>
        <p:nvSpPr>
          <p:cNvPr id="25" name="Text 22"/>
          <p:cNvSpPr/>
          <p:nvPr/>
        </p:nvSpPr>
        <p:spPr>
          <a:xfrm>
            <a:off x="6391656" y="3822192"/>
            <a:ext cx="4983480" cy="310896"/>
          </a:xfrm>
          <a:prstGeom prst="rect">
            <a:avLst/>
          </a:prstGeom>
          <a:noFill/>
          <a:ln/>
        </p:spPr>
        <p:txBody>
          <a:bodyPr wrap="square" lIns="0" tIns="0" rIns="0" bIns="0" rtlCol="0" anchor="ctr"/>
          <a:lstStyle/>
          <a:p>
            <a:pPr marL="0" indent="0">
              <a:buNone/>
            </a:pPr>
            <a:r>
              <a:rPr lang="en-US" sz="1100" dirty="0">
                <a:solidFill>
                  <a:srgbClr val="5F6A6A"/>
                </a:solidFill>
                <a:latin typeface="Aptos" pitchFamily="34" charset="0"/>
                <a:ea typeface="Aptos" pitchFamily="34" charset="-122"/>
                <a:cs typeface="Aptos" pitchFamily="34" charset="-120"/>
              </a:rPr>
              <a:t>Vertical modules for finance, healthcare, enterprise teams, and NGOs.</a:t>
            </a:r>
            <a:endParaRPr lang="en-US" sz="1100" dirty="0"/>
          </a:p>
        </p:txBody>
      </p:sp>
      <p:sp>
        <p:nvSpPr>
          <p:cNvPr id="26" name="Shape 23"/>
          <p:cNvSpPr/>
          <p:nvPr/>
        </p:nvSpPr>
        <p:spPr>
          <a:xfrm>
            <a:off x="658368" y="5029200"/>
            <a:ext cx="10908792" cy="804672"/>
          </a:xfrm>
          <a:prstGeom prst="roundRect">
            <a:avLst>
              <a:gd name="adj" fmla="val 9091"/>
            </a:avLst>
          </a:prstGeom>
          <a:solidFill>
            <a:srgbClr val="102027"/>
          </a:solidFill>
          <a:ln w="12700">
            <a:solidFill>
              <a:srgbClr val="102027"/>
            </a:solidFill>
            <a:prstDash val="solid"/>
          </a:ln>
          <a:effectLst>
            <a:outerShdw blurRad="12700" dist="50800" dir="2700000" algn="bl" rotWithShape="0">
              <a:srgbClr val="DDECF3">
                <a:alpha val="12000"/>
              </a:srgbClr>
            </a:outerShdw>
          </a:effectLst>
        </p:spPr>
        <p:txBody>
          <a:bodyPr/>
          <a:lstStyle/>
          <a:p>
            <a:endParaRPr lang="en-US"/>
          </a:p>
        </p:txBody>
      </p:sp>
      <p:sp>
        <p:nvSpPr>
          <p:cNvPr id="27" name="Text 24"/>
          <p:cNvSpPr/>
          <p:nvPr/>
        </p:nvSpPr>
        <p:spPr>
          <a:xfrm>
            <a:off x="914400" y="5257800"/>
            <a:ext cx="2286000" cy="146304"/>
          </a:xfrm>
          <a:prstGeom prst="rect">
            <a:avLst/>
          </a:prstGeom>
          <a:noFill/>
          <a:ln/>
        </p:spPr>
        <p:txBody>
          <a:bodyPr wrap="square" lIns="0" tIns="0" rIns="0" bIns="0" rtlCol="0" anchor="ctr"/>
          <a:lstStyle/>
          <a:p>
            <a:pPr marL="0" indent="0">
              <a:buNone/>
            </a:pPr>
            <a:r>
              <a:rPr lang="en-US" sz="1040" b="1" dirty="0">
                <a:solidFill>
                  <a:srgbClr val="6EE7A0"/>
                </a:solidFill>
                <a:latin typeface="Aptos" pitchFamily="34" charset="0"/>
                <a:ea typeface="Aptos" pitchFamily="34" charset="-122"/>
                <a:cs typeface="Aptos" pitchFamily="34" charset="-120"/>
              </a:rPr>
              <a:t>Introducing our flagship product</a:t>
            </a:r>
            <a:endParaRPr lang="en-US" sz="1040" dirty="0"/>
          </a:p>
        </p:txBody>
      </p:sp>
      <p:pic>
        <p:nvPicPr>
          <p:cNvPr id="28" name="Image 1" descr="D:\ai-powered-techpigeon\src\assets\images\novussparks-logo-1200.png"/>
          <p:cNvPicPr>
            <a:picLocks noChangeAspect="1"/>
          </p:cNvPicPr>
          <p:nvPr/>
        </p:nvPicPr>
        <p:blipFill>
          <a:blip r:embed="rId3"/>
          <a:stretch>
            <a:fillRect/>
          </a:stretch>
        </p:blipFill>
        <p:spPr>
          <a:xfrm>
            <a:off x="4160520" y="5129784"/>
            <a:ext cx="2240280" cy="640080"/>
          </a:xfrm>
          <a:prstGeom prst="rect">
            <a:avLst/>
          </a:prstGeom>
        </p:spPr>
      </p:pic>
      <p:sp>
        <p:nvSpPr>
          <p:cNvPr id="29" name="Text 25"/>
          <p:cNvSpPr/>
          <p:nvPr/>
        </p:nvSpPr>
        <p:spPr>
          <a:xfrm>
            <a:off x="6812280" y="5303520"/>
            <a:ext cx="4114800" cy="182880"/>
          </a:xfrm>
          <a:prstGeom prst="rect">
            <a:avLst/>
          </a:prstGeom>
          <a:noFill/>
          <a:ln/>
        </p:spPr>
        <p:txBody>
          <a:bodyPr wrap="square" lIns="0" tIns="0" rIns="0" bIns="0" rtlCol="0" anchor="ctr"/>
          <a:lstStyle/>
          <a:p>
            <a:pPr marL="0" indent="0" algn="r">
              <a:buNone/>
            </a:pPr>
            <a:r>
              <a:rPr lang="en-US" sz="1080" dirty="0">
                <a:solidFill>
                  <a:srgbClr val="FFFFFF"/>
                </a:solidFill>
                <a:latin typeface="Aptos" pitchFamily="34" charset="0"/>
                <a:ea typeface="Aptos" pitchFamily="34" charset="-122"/>
                <a:cs typeface="Aptos" pitchFamily="34" charset="-120"/>
              </a:rPr>
              <a:t>The enterprise AI suite that turns high-compute validation into an auditable business workflow.</a:t>
            </a:r>
            <a:endParaRPr lang="en-US" sz="1080" dirty="0"/>
          </a:p>
        </p:txBody>
      </p:sp>
      <p:pic>
        <p:nvPicPr>
          <p:cNvPr id="30" name="Image 0">
            <a:extLst>
              <a:ext uri="{FF2B5EF4-FFF2-40B4-BE49-F238E27FC236}">
                <a16:creationId xmlns:a16="http://schemas.microsoft.com/office/drawing/2014/main" id="{016B7DF0-5ED6-20B7-5BBD-55037FAEF6EB}"/>
              </a:ext>
            </a:extLst>
          </p:cNvPr>
          <p:cNvPicPr>
            <a:picLocks noChangeAspect="1"/>
          </p:cNvPicPr>
          <p:nvPr/>
        </p:nvPicPr>
        <p:blipFill>
          <a:blip r:embed="rId4"/>
          <a:srcRect t="25581" b="23256"/>
          <a:stretch>
            <a:fillRect/>
          </a:stretch>
        </p:blipFill>
        <p:spPr>
          <a:xfrm>
            <a:off x="9998597" y="454556"/>
            <a:ext cx="1660003" cy="84930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38BDF8"/>
          </a:solidFill>
          <a:ln w="12700">
            <a:solidFill>
              <a:srgbClr val="38BDF8"/>
            </a:solidFill>
            <a:prstDash val="solid"/>
          </a:ln>
        </p:spPr>
        <p:txBody>
          <a:bodyPr/>
          <a:lstStyle/>
          <a:p>
            <a:endParaRPr lang="en-US"/>
          </a:p>
        </p:txBody>
      </p:sp>
      <p:sp>
        <p:nvSpPr>
          <p:cNvPr id="3" name="Shape 1"/>
          <p:cNvSpPr/>
          <p:nvPr/>
        </p:nvSpPr>
        <p:spPr>
          <a:xfrm>
            <a:off x="10012680" y="0"/>
            <a:ext cx="2179015" cy="128016"/>
          </a:xfrm>
          <a:prstGeom prst="rect">
            <a:avLst/>
          </a:prstGeom>
          <a:solidFill>
            <a:srgbClr val="E5A932"/>
          </a:solidFill>
          <a:ln w="12700">
            <a:solidFill>
              <a:srgbClr val="E5A932"/>
            </a:solidFill>
            <a:prstDash val="solid"/>
          </a:ln>
        </p:spPr>
        <p:txBody>
          <a:bodyPr/>
          <a:lstStyle/>
          <a:p>
            <a:endParaRPr lang="en-US"/>
          </a:p>
        </p:txBody>
      </p:sp>
      <p:sp>
        <p:nvSpPr>
          <p:cNvPr id="4" name="Text 2"/>
          <p:cNvSpPr/>
          <p:nvPr/>
        </p:nvSpPr>
        <p:spPr>
          <a:xfrm>
            <a:off x="438912" y="6437376"/>
            <a:ext cx="1645920" cy="146304"/>
          </a:xfrm>
          <a:prstGeom prst="rect">
            <a:avLst/>
          </a:prstGeom>
          <a:noFill/>
          <a:ln/>
        </p:spPr>
        <p:txBody>
          <a:bodyPr wrap="square" lIns="0" tIns="0" rIns="0" bIns="0" rtlCol="0" anchor="ctr"/>
          <a:lstStyle/>
          <a:p>
            <a:pPr marL="0" indent="0">
              <a:buNone/>
            </a:pPr>
            <a:r>
              <a:rPr lang="en-US" sz="880" b="1" dirty="0">
                <a:solidFill>
                  <a:srgbClr val="1C1414"/>
                </a:solidFill>
                <a:latin typeface="Aptos" pitchFamily="34" charset="0"/>
                <a:ea typeface="Aptos" pitchFamily="34" charset="-122"/>
                <a:cs typeface="Aptos" pitchFamily="34" charset="-120"/>
              </a:rPr>
              <a:t>Techpigeon</a:t>
            </a:r>
            <a:endParaRPr lang="en-US" sz="880" dirty="0"/>
          </a:p>
        </p:txBody>
      </p:sp>
      <p:sp>
        <p:nvSpPr>
          <p:cNvPr id="5" name="Text 3"/>
          <p:cNvSpPr/>
          <p:nvPr/>
        </p:nvSpPr>
        <p:spPr>
          <a:xfrm>
            <a:off x="1920240" y="6437376"/>
            <a:ext cx="1828800" cy="146304"/>
          </a:xfrm>
          <a:prstGeom prst="rect">
            <a:avLst/>
          </a:prstGeom>
          <a:noFill/>
          <a:ln/>
        </p:spPr>
        <p:txBody>
          <a:bodyPr wrap="square" lIns="0" tIns="0" rIns="0" bIns="0" rtlCol="0" anchor="ctr"/>
          <a:lstStyle/>
          <a:p>
            <a:pPr marL="0" indent="0">
              <a:buNone/>
            </a:pPr>
            <a:r>
              <a:rPr lang="en-US" sz="880" dirty="0">
                <a:solidFill>
                  <a:srgbClr val="5F6A6A"/>
                </a:solidFill>
                <a:latin typeface="Aptos" pitchFamily="34" charset="0"/>
                <a:ea typeface="Aptos" pitchFamily="34" charset="-122"/>
                <a:cs typeface="Aptos" pitchFamily="34" charset="-120"/>
              </a:rPr>
              <a:t>NovusSparks AI</a:t>
            </a:r>
            <a:endParaRPr lang="en-US" sz="880" dirty="0"/>
          </a:p>
        </p:txBody>
      </p:sp>
      <p:sp>
        <p:nvSpPr>
          <p:cNvPr id="6" name="Text 4"/>
          <p:cNvSpPr/>
          <p:nvPr/>
        </p:nvSpPr>
        <p:spPr>
          <a:xfrm>
            <a:off x="8732520" y="6437376"/>
            <a:ext cx="2926080" cy="146304"/>
          </a:xfrm>
          <a:prstGeom prst="rect">
            <a:avLst/>
          </a:prstGeom>
          <a:noFill/>
          <a:ln/>
        </p:spPr>
        <p:txBody>
          <a:bodyPr wrap="square" lIns="0" tIns="0" rIns="0" bIns="0" rtlCol="0" anchor="ctr"/>
          <a:lstStyle/>
          <a:p>
            <a:pPr marL="0" indent="0" algn="r">
              <a:buNone/>
            </a:pPr>
            <a:r>
              <a:rPr lang="en-US" sz="880" dirty="0">
                <a:solidFill>
                  <a:srgbClr val="5F6A6A"/>
                </a:solidFill>
                <a:latin typeface="Aptos" pitchFamily="34" charset="0"/>
                <a:ea typeface="Aptos" pitchFamily="34" charset="-122"/>
                <a:cs typeface="Aptos" pitchFamily="34" charset="-120"/>
              </a:rPr>
              <a:t>AWS Activate via Spendbase</a:t>
            </a:r>
            <a:endParaRPr lang="en-US" sz="880" dirty="0"/>
          </a:p>
        </p:txBody>
      </p:sp>
      <p:pic>
        <p:nvPicPr>
          <p:cNvPr id="7" name="Image 0" descr="D:\ai-powered-techpigeon\src\assets\images\novussparks-logo-1200.png"/>
          <p:cNvPicPr>
            <a:picLocks noChangeAspect="1"/>
          </p:cNvPicPr>
          <p:nvPr/>
        </p:nvPicPr>
        <p:blipFill>
          <a:blip r:embed="rId3"/>
          <a:stretch>
            <a:fillRect/>
          </a:stretch>
        </p:blipFill>
        <p:spPr>
          <a:xfrm>
            <a:off x="9189720" y="329184"/>
            <a:ext cx="2240280" cy="713232"/>
          </a:xfrm>
          <a:prstGeom prst="rect">
            <a:avLst/>
          </a:prstGeom>
        </p:spPr>
      </p:pic>
      <p:sp>
        <p:nvSpPr>
          <p:cNvPr id="8" name="Text 5"/>
          <p:cNvSpPr/>
          <p:nvPr/>
        </p:nvSpPr>
        <p:spPr>
          <a:xfrm>
            <a:off x="658368" y="640080"/>
            <a:ext cx="7772400" cy="603504"/>
          </a:xfrm>
          <a:prstGeom prst="rect">
            <a:avLst/>
          </a:prstGeom>
          <a:noFill/>
          <a:ln/>
        </p:spPr>
        <p:txBody>
          <a:bodyPr wrap="square" lIns="0" tIns="0" rIns="0" bIns="0" rtlCol="0" anchor="ctr"/>
          <a:lstStyle/>
          <a:p>
            <a:pPr marL="0" indent="0">
              <a:buNone/>
            </a:pPr>
            <a:r>
              <a:rPr lang="en-US" sz="2250" b="1" dirty="0">
                <a:solidFill>
                  <a:srgbClr val="1C1414"/>
                </a:solidFill>
                <a:latin typeface="Aptos Display" pitchFamily="34" charset="0"/>
                <a:ea typeface="Aptos Display" pitchFamily="34" charset="-122"/>
                <a:cs typeface="Aptos Display" pitchFamily="34" charset="-120"/>
              </a:rPr>
              <a:t>Benefit from hallucination-free AI with NovusSparks.</a:t>
            </a:r>
            <a:endParaRPr lang="en-US" sz="2250" dirty="0"/>
          </a:p>
        </p:txBody>
      </p:sp>
      <p:sp>
        <p:nvSpPr>
          <p:cNvPr id="9" name="Text 6"/>
          <p:cNvSpPr/>
          <p:nvPr/>
        </p:nvSpPr>
        <p:spPr>
          <a:xfrm>
            <a:off x="676656" y="1207008"/>
            <a:ext cx="8412480" cy="384048"/>
          </a:xfrm>
          <a:prstGeom prst="rect">
            <a:avLst/>
          </a:prstGeom>
          <a:noFill/>
          <a:ln/>
        </p:spPr>
        <p:txBody>
          <a:bodyPr wrap="square" lIns="0" tIns="0" rIns="0" bIns="0" rtlCol="0" anchor="ctr"/>
          <a:lstStyle/>
          <a:p>
            <a:pPr marL="0" indent="0">
              <a:buNone/>
            </a:pPr>
            <a:r>
              <a:rPr lang="en-US" sz="1150" dirty="0">
                <a:solidFill>
                  <a:srgbClr val="5F6A6A"/>
                </a:solidFill>
                <a:latin typeface="Aptos" pitchFamily="34" charset="0"/>
                <a:ea typeface="Aptos" pitchFamily="34" charset="-122"/>
                <a:cs typeface="Aptos" pitchFamily="34" charset="-120"/>
              </a:rPr>
              <a:t>An enterprise business intelligence suite combining strategy generation, integrity review, and AI-pattern detection in one governed workflow.</a:t>
            </a:r>
            <a:endParaRPr lang="en-US" sz="1150" dirty="0"/>
          </a:p>
        </p:txBody>
      </p:sp>
      <p:sp>
        <p:nvSpPr>
          <p:cNvPr id="10" name="Shape 7"/>
          <p:cNvSpPr/>
          <p:nvPr/>
        </p:nvSpPr>
        <p:spPr>
          <a:xfrm>
            <a:off x="658368" y="1664208"/>
            <a:ext cx="2788920" cy="3840480"/>
          </a:xfrm>
          <a:prstGeom prst="roundRect">
            <a:avLst>
              <a:gd name="adj" fmla="val 2623"/>
            </a:avLst>
          </a:prstGeom>
          <a:solidFill>
            <a:srgbClr val="F0FAF5"/>
          </a:solidFill>
          <a:ln w="12700">
            <a:solidFill>
              <a:srgbClr val="38BDF8"/>
            </a:solidFill>
            <a:prstDash val="solid"/>
          </a:ln>
          <a:effectLst>
            <a:outerShdw blurRad="12700" dist="50800" dir="2700000" algn="bl" rotWithShape="0">
              <a:srgbClr val="DDECF3">
                <a:alpha val="12000"/>
              </a:srgbClr>
            </a:outerShdw>
          </a:effectLst>
        </p:spPr>
        <p:txBody>
          <a:bodyPr/>
          <a:lstStyle/>
          <a:p>
            <a:endParaRPr lang="en-US"/>
          </a:p>
        </p:txBody>
      </p:sp>
      <p:sp>
        <p:nvSpPr>
          <p:cNvPr id="11" name="Shape 8"/>
          <p:cNvSpPr/>
          <p:nvPr/>
        </p:nvSpPr>
        <p:spPr>
          <a:xfrm>
            <a:off x="676656" y="1682496"/>
            <a:ext cx="2752344" cy="54864"/>
          </a:xfrm>
          <a:prstGeom prst="rect">
            <a:avLst/>
          </a:prstGeom>
          <a:solidFill>
            <a:srgbClr val="38BDF8"/>
          </a:solidFill>
          <a:ln w="12700">
            <a:solidFill>
              <a:srgbClr val="38BDF8"/>
            </a:solidFill>
            <a:prstDash val="solid"/>
          </a:ln>
        </p:spPr>
        <p:txBody>
          <a:bodyPr/>
          <a:lstStyle/>
          <a:p>
            <a:endParaRPr lang="en-US"/>
          </a:p>
        </p:txBody>
      </p:sp>
      <p:sp>
        <p:nvSpPr>
          <p:cNvPr id="12" name="Shape 9"/>
          <p:cNvSpPr/>
          <p:nvPr/>
        </p:nvSpPr>
        <p:spPr>
          <a:xfrm>
            <a:off x="3621024" y="1664208"/>
            <a:ext cx="2788920" cy="3840480"/>
          </a:xfrm>
          <a:prstGeom prst="roundRect">
            <a:avLst>
              <a:gd name="adj" fmla="val 2623"/>
            </a:avLst>
          </a:prstGeom>
          <a:solidFill>
            <a:srgbClr val="F0FAF5"/>
          </a:solidFill>
          <a:ln w="12700">
            <a:solidFill>
              <a:srgbClr val="6EE7A0"/>
            </a:solidFill>
            <a:prstDash val="solid"/>
          </a:ln>
          <a:effectLst>
            <a:outerShdw blurRad="12700" dist="50800" dir="2700000" algn="bl" rotWithShape="0">
              <a:srgbClr val="DDECF3">
                <a:alpha val="12000"/>
              </a:srgbClr>
            </a:outerShdw>
          </a:effectLst>
        </p:spPr>
        <p:txBody>
          <a:bodyPr/>
          <a:lstStyle/>
          <a:p>
            <a:endParaRPr lang="en-US"/>
          </a:p>
        </p:txBody>
      </p:sp>
      <p:sp>
        <p:nvSpPr>
          <p:cNvPr id="13" name="Shape 10"/>
          <p:cNvSpPr/>
          <p:nvPr/>
        </p:nvSpPr>
        <p:spPr>
          <a:xfrm>
            <a:off x="3639312" y="1682496"/>
            <a:ext cx="2752344" cy="54864"/>
          </a:xfrm>
          <a:prstGeom prst="rect">
            <a:avLst/>
          </a:prstGeom>
          <a:solidFill>
            <a:srgbClr val="6EE7A0"/>
          </a:solidFill>
          <a:ln w="12700">
            <a:solidFill>
              <a:srgbClr val="6EE7A0"/>
            </a:solidFill>
            <a:prstDash val="solid"/>
          </a:ln>
        </p:spPr>
        <p:txBody>
          <a:bodyPr/>
          <a:lstStyle/>
          <a:p>
            <a:endParaRPr lang="en-US"/>
          </a:p>
        </p:txBody>
      </p:sp>
      <p:sp>
        <p:nvSpPr>
          <p:cNvPr id="14" name="Shape 11"/>
          <p:cNvSpPr/>
          <p:nvPr/>
        </p:nvSpPr>
        <p:spPr>
          <a:xfrm>
            <a:off x="6583680" y="1664208"/>
            <a:ext cx="2788920" cy="3840480"/>
          </a:xfrm>
          <a:prstGeom prst="roundRect">
            <a:avLst>
              <a:gd name="adj" fmla="val 2623"/>
            </a:avLst>
          </a:prstGeom>
          <a:solidFill>
            <a:srgbClr val="F0FAF5"/>
          </a:solidFill>
          <a:ln w="12700">
            <a:solidFill>
              <a:srgbClr val="E5A932"/>
            </a:solidFill>
            <a:prstDash val="solid"/>
          </a:ln>
          <a:effectLst>
            <a:outerShdw blurRad="12700" dist="50800" dir="2700000" algn="bl" rotWithShape="0">
              <a:srgbClr val="DDECF3">
                <a:alpha val="12000"/>
              </a:srgbClr>
            </a:outerShdw>
          </a:effectLst>
        </p:spPr>
        <p:txBody>
          <a:bodyPr/>
          <a:lstStyle/>
          <a:p>
            <a:endParaRPr lang="en-US"/>
          </a:p>
        </p:txBody>
      </p:sp>
      <p:sp>
        <p:nvSpPr>
          <p:cNvPr id="15" name="Shape 12"/>
          <p:cNvSpPr/>
          <p:nvPr/>
        </p:nvSpPr>
        <p:spPr>
          <a:xfrm>
            <a:off x="6601968" y="1682496"/>
            <a:ext cx="2752344" cy="54864"/>
          </a:xfrm>
          <a:prstGeom prst="rect">
            <a:avLst/>
          </a:prstGeom>
          <a:solidFill>
            <a:srgbClr val="E5A932"/>
          </a:solidFill>
          <a:ln w="12700">
            <a:solidFill>
              <a:srgbClr val="E5A932"/>
            </a:solidFill>
            <a:prstDash val="solid"/>
          </a:ln>
        </p:spPr>
        <p:txBody>
          <a:bodyPr/>
          <a:lstStyle/>
          <a:p>
            <a:endParaRPr lang="en-US"/>
          </a:p>
        </p:txBody>
      </p:sp>
      <p:sp>
        <p:nvSpPr>
          <p:cNvPr id="16" name="Shape 13"/>
          <p:cNvSpPr/>
          <p:nvPr/>
        </p:nvSpPr>
        <p:spPr>
          <a:xfrm>
            <a:off x="9546336" y="1664208"/>
            <a:ext cx="2011680" cy="3840480"/>
          </a:xfrm>
          <a:prstGeom prst="roundRect">
            <a:avLst>
              <a:gd name="adj" fmla="val 3636"/>
            </a:avLst>
          </a:prstGeom>
          <a:solidFill>
            <a:srgbClr val="F0FAF5"/>
          </a:solidFill>
          <a:ln w="12700">
            <a:solidFill>
              <a:srgbClr val="38BDF8"/>
            </a:solidFill>
            <a:prstDash val="solid"/>
          </a:ln>
          <a:effectLst>
            <a:outerShdw blurRad="12700" dist="50800" dir="2700000" algn="bl" rotWithShape="0">
              <a:srgbClr val="DDECF3">
                <a:alpha val="12000"/>
              </a:srgbClr>
            </a:outerShdw>
          </a:effectLst>
        </p:spPr>
        <p:txBody>
          <a:bodyPr/>
          <a:lstStyle/>
          <a:p>
            <a:endParaRPr lang="en-US"/>
          </a:p>
        </p:txBody>
      </p:sp>
      <p:sp>
        <p:nvSpPr>
          <p:cNvPr id="17" name="Shape 14"/>
          <p:cNvSpPr/>
          <p:nvPr/>
        </p:nvSpPr>
        <p:spPr>
          <a:xfrm>
            <a:off x="9564624" y="1682496"/>
            <a:ext cx="1975104" cy="54864"/>
          </a:xfrm>
          <a:prstGeom prst="rect">
            <a:avLst/>
          </a:prstGeom>
          <a:solidFill>
            <a:srgbClr val="38BDF8"/>
          </a:solidFill>
          <a:ln w="12700">
            <a:solidFill>
              <a:srgbClr val="38BDF8"/>
            </a:solidFill>
            <a:prstDash val="solid"/>
          </a:ln>
        </p:spPr>
        <p:txBody>
          <a:bodyPr/>
          <a:lstStyle/>
          <a:p>
            <a:endParaRPr lang="en-US"/>
          </a:p>
        </p:txBody>
      </p:sp>
      <p:sp>
        <p:nvSpPr>
          <p:cNvPr id="18" name="Shape 15"/>
          <p:cNvSpPr/>
          <p:nvPr/>
        </p:nvSpPr>
        <p:spPr>
          <a:xfrm>
            <a:off x="877824" y="1874520"/>
            <a:ext cx="502920" cy="502920"/>
          </a:xfrm>
          <a:prstGeom prst="ellipse">
            <a:avLst/>
          </a:prstGeom>
          <a:solidFill>
            <a:srgbClr val="38BDF8"/>
          </a:solidFill>
          <a:ln w="12700">
            <a:solidFill>
              <a:srgbClr val="38BDF8"/>
            </a:solidFill>
            <a:prstDash val="solid"/>
          </a:ln>
        </p:spPr>
        <p:txBody>
          <a:bodyPr/>
          <a:lstStyle/>
          <a:p>
            <a:endParaRPr lang="en-US"/>
          </a:p>
        </p:txBody>
      </p:sp>
      <p:sp>
        <p:nvSpPr>
          <p:cNvPr id="19" name="Text 16"/>
          <p:cNvSpPr/>
          <p:nvPr/>
        </p:nvSpPr>
        <p:spPr>
          <a:xfrm>
            <a:off x="877824" y="1993392"/>
            <a:ext cx="502920" cy="182880"/>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S</a:t>
            </a:r>
            <a:endParaRPr lang="en-US" sz="1800" dirty="0"/>
          </a:p>
        </p:txBody>
      </p:sp>
      <p:sp>
        <p:nvSpPr>
          <p:cNvPr id="20" name="Text 17"/>
          <p:cNvSpPr/>
          <p:nvPr/>
        </p:nvSpPr>
        <p:spPr>
          <a:xfrm>
            <a:off x="877824" y="2651760"/>
            <a:ext cx="2240280" cy="365760"/>
          </a:xfrm>
          <a:prstGeom prst="rect">
            <a:avLst/>
          </a:prstGeom>
          <a:noFill/>
          <a:ln/>
        </p:spPr>
        <p:txBody>
          <a:bodyPr wrap="square" lIns="0" tIns="0" rIns="0" bIns="0" rtlCol="0" anchor="ctr">
            <a:normAutofit/>
          </a:bodyPr>
          <a:lstStyle/>
          <a:p>
            <a:pPr marL="0" indent="0">
              <a:buNone/>
            </a:pPr>
            <a:r>
              <a:rPr lang="en-US" sz="1460" b="1" dirty="0">
                <a:solidFill>
                  <a:srgbClr val="1C1414"/>
                </a:solidFill>
                <a:latin typeface="Aptos" pitchFamily="34" charset="0"/>
                <a:ea typeface="Aptos" pitchFamily="34" charset="-122"/>
                <a:cs typeface="Aptos" pitchFamily="34" charset="-120"/>
              </a:rPr>
              <a:t>Strategy Engine</a:t>
            </a:r>
            <a:endParaRPr lang="en-US" sz="1460" dirty="0"/>
          </a:p>
        </p:txBody>
      </p:sp>
      <p:sp>
        <p:nvSpPr>
          <p:cNvPr id="21" name="Text 18"/>
          <p:cNvSpPr/>
          <p:nvPr/>
        </p:nvSpPr>
        <p:spPr>
          <a:xfrm>
            <a:off x="877824" y="3154680"/>
            <a:ext cx="2240280" cy="822960"/>
          </a:xfrm>
          <a:prstGeom prst="rect">
            <a:avLst/>
          </a:prstGeom>
          <a:noFill/>
          <a:ln/>
        </p:spPr>
        <p:txBody>
          <a:bodyPr wrap="square" lIns="0" tIns="0" rIns="0" bIns="0" rtlCol="0" anchor="ctr">
            <a:normAutofit/>
          </a:bodyPr>
          <a:lstStyle/>
          <a:p>
            <a:pPr marL="0" indent="0">
              <a:buNone/>
            </a:pPr>
            <a:r>
              <a:rPr lang="en-US" sz="1080" dirty="0">
                <a:solidFill>
                  <a:srgbClr val="5F6A6A"/>
                </a:solidFill>
                <a:latin typeface="Aptos" pitchFamily="34" charset="0"/>
                <a:ea typeface="Aptos" pitchFamily="34" charset="-122"/>
                <a:cs typeface="Aptos" pitchFamily="34" charset="-120"/>
              </a:rPr>
              <a:t>Generates actionable strategies from natural language and documents.</a:t>
            </a:r>
            <a:endParaRPr lang="en-US" sz="1080" dirty="0"/>
          </a:p>
        </p:txBody>
      </p:sp>
      <p:sp>
        <p:nvSpPr>
          <p:cNvPr id="22" name="Text 19"/>
          <p:cNvSpPr/>
          <p:nvPr/>
        </p:nvSpPr>
        <p:spPr>
          <a:xfrm>
            <a:off x="877824" y="4892040"/>
            <a:ext cx="2240280" cy="146304"/>
          </a:xfrm>
          <a:prstGeom prst="rect">
            <a:avLst/>
          </a:prstGeom>
          <a:noFill/>
          <a:ln/>
        </p:spPr>
        <p:txBody>
          <a:bodyPr wrap="square" lIns="0" tIns="0" rIns="0" bIns="0" rtlCol="0" anchor="ctr"/>
          <a:lstStyle/>
          <a:p>
            <a:pPr marL="0" indent="0">
              <a:buNone/>
            </a:pPr>
            <a:r>
              <a:rPr lang="en-US" sz="980" b="1" dirty="0">
                <a:solidFill>
                  <a:srgbClr val="38BDF8"/>
                </a:solidFill>
                <a:latin typeface="Aptos" pitchFamily="34" charset="0"/>
                <a:ea typeface="Aptos" pitchFamily="34" charset="-122"/>
                <a:cs typeface="Aptos" pitchFamily="34" charset="-120"/>
              </a:rPr>
              <a:t>Governed output</a:t>
            </a:r>
            <a:endParaRPr lang="en-US" sz="980" dirty="0"/>
          </a:p>
        </p:txBody>
      </p:sp>
      <p:sp>
        <p:nvSpPr>
          <p:cNvPr id="23" name="Shape 20"/>
          <p:cNvSpPr/>
          <p:nvPr/>
        </p:nvSpPr>
        <p:spPr>
          <a:xfrm>
            <a:off x="3840480" y="1849607"/>
            <a:ext cx="502920" cy="502920"/>
          </a:xfrm>
          <a:prstGeom prst="ellipse">
            <a:avLst/>
          </a:prstGeom>
          <a:solidFill>
            <a:srgbClr val="6EE7A0"/>
          </a:solidFill>
          <a:ln w="12700">
            <a:solidFill>
              <a:srgbClr val="6EE7A0"/>
            </a:solidFill>
            <a:prstDash val="solid"/>
          </a:ln>
        </p:spPr>
        <p:txBody>
          <a:bodyPr/>
          <a:lstStyle/>
          <a:p>
            <a:endParaRPr lang="en-US"/>
          </a:p>
        </p:txBody>
      </p:sp>
      <p:sp>
        <p:nvSpPr>
          <p:cNvPr id="24" name="Text 21"/>
          <p:cNvSpPr/>
          <p:nvPr/>
        </p:nvSpPr>
        <p:spPr>
          <a:xfrm>
            <a:off x="3840480" y="1993392"/>
            <a:ext cx="502920" cy="182880"/>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R</a:t>
            </a:r>
            <a:endParaRPr lang="en-US" sz="1800" dirty="0"/>
          </a:p>
        </p:txBody>
      </p:sp>
      <p:sp>
        <p:nvSpPr>
          <p:cNvPr id="25" name="Text 22"/>
          <p:cNvSpPr/>
          <p:nvPr/>
        </p:nvSpPr>
        <p:spPr>
          <a:xfrm>
            <a:off x="3840480" y="2651760"/>
            <a:ext cx="2240280" cy="365760"/>
          </a:xfrm>
          <a:prstGeom prst="rect">
            <a:avLst/>
          </a:prstGeom>
          <a:noFill/>
          <a:ln/>
        </p:spPr>
        <p:txBody>
          <a:bodyPr wrap="square" lIns="0" tIns="0" rIns="0" bIns="0" rtlCol="0" anchor="ctr">
            <a:normAutofit/>
          </a:bodyPr>
          <a:lstStyle/>
          <a:p>
            <a:pPr marL="0" indent="0">
              <a:buNone/>
            </a:pPr>
            <a:r>
              <a:rPr lang="en-US" sz="1460" b="1" dirty="0">
                <a:solidFill>
                  <a:srgbClr val="1C1414"/>
                </a:solidFill>
                <a:latin typeface="Aptos" pitchFamily="34" charset="0"/>
                <a:ea typeface="Aptos" pitchFamily="34" charset="-122"/>
                <a:cs typeface="Aptos" pitchFamily="34" charset="-120"/>
              </a:rPr>
              <a:t>Semantic RAG (Cortex)</a:t>
            </a:r>
            <a:endParaRPr lang="en-US" sz="1460" dirty="0"/>
          </a:p>
        </p:txBody>
      </p:sp>
      <p:sp>
        <p:nvSpPr>
          <p:cNvPr id="26" name="Text 23"/>
          <p:cNvSpPr/>
          <p:nvPr/>
        </p:nvSpPr>
        <p:spPr>
          <a:xfrm>
            <a:off x="3840480" y="3154680"/>
            <a:ext cx="2240280" cy="822960"/>
          </a:xfrm>
          <a:prstGeom prst="rect">
            <a:avLst/>
          </a:prstGeom>
          <a:noFill/>
          <a:ln/>
        </p:spPr>
        <p:txBody>
          <a:bodyPr wrap="square" lIns="0" tIns="0" rIns="0" bIns="0" rtlCol="0" anchor="ctr">
            <a:normAutofit/>
          </a:bodyPr>
          <a:lstStyle/>
          <a:p>
            <a:pPr marL="0" indent="0">
              <a:buNone/>
            </a:pPr>
            <a:r>
              <a:rPr lang="en-US" sz="1080" dirty="0">
                <a:solidFill>
                  <a:srgbClr val="5F6A6A"/>
                </a:solidFill>
                <a:latin typeface="Aptos" pitchFamily="34" charset="0"/>
                <a:ea typeface="Aptos" pitchFamily="34" charset="-122"/>
                <a:cs typeface="Aptos" pitchFamily="34" charset="-120"/>
              </a:rPr>
              <a:t>Anchors outputs to secure knowledge bases and verified enterprise context.</a:t>
            </a:r>
            <a:endParaRPr lang="en-US" sz="1080" dirty="0"/>
          </a:p>
        </p:txBody>
      </p:sp>
      <p:sp>
        <p:nvSpPr>
          <p:cNvPr id="27" name="Text 24"/>
          <p:cNvSpPr/>
          <p:nvPr/>
        </p:nvSpPr>
        <p:spPr>
          <a:xfrm>
            <a:off x="3840480" y="4892040"/>
            <a:ext cx="2240280" cy="146304"/>
          </a:xfrm>
          <a:prstGeom prst="rect">
            <a:avLst/>
          </a:prstGeom>
          <a:noFill/>
          <a:ln/>
        </p:spPr>
        <p:txBody>
          <a:bodyPr wrap="square" lIns="0" tIns="0" rIns="0" bIns="0" rtlCol="0" anchor="ctr"/>
          <a:lstStyle/>
          <a:p>
            <a:pPr marL="0" indent="0">
              <a:buNone/>
            </a:pPr>
            <a:r>
              <a:rPr lang="en-US" sz="980" b="1" dirty="0">
                <a:solidFill>
                  <a:srgbClr val="6EE7A0"/>
                </a:solidFill>
                <a:latin typeface="Aptos" pitchFamily="34" charset="0"/>
                <a:ea typeface="Aptos" pitchFamily="34" charset="-122"/>
                <a:cs typeface="Aptos" pitchFamily="34" charset="-120"/>
              </a:rPr>
              <a:t>Governed output</a:t>
            </a:r>
            <a:endParaRPr lang="en-US" sz="980" dirty="0"/>
          </a:p>
        </p:txBody>
      </p:sp>
      <p:sp>
        <p:nvSpPr>
          <p:cNvPr id="28" name="Shape 25"/>
          <p:cNvSpPr/>
          <p:nvPr/>
        </p:nvSpPr>
        <p:spPr>
          <a:xfrm>
            <a:off x="6803136" y="1865376"/>
            <a:ext cx="502920" cy="502920"/>
          </a:xfrm>
          <a:prstGeom prst="ellipse">
            <a:avLst/>
          </a:prstGeom>
          <a:solidFill>
            <a:srgbClr val="E5A932"/>
          </a:solidFill>
          <a:ln w="12700">
            <a:solidFill>
              <a:srgbClr val="E5A932"/>
            </a:solidFill>
            <a:prstDash val="solid"/>
          </a:ln>
        </p:spPr>
        <p:txBody>
          <a:bodyPr/>
          <a:lstStyle/>
          <a:p>
            <a:endParaRPr lang="en-US"/>
          </a:p>
        </p:txBody>
      </p:sp>
      <p:sp>
        <p:nvSpPr>
          <p:cNvPr id="29" name="Text 26"/>
          <p:cNvSpPr/>
          <p:nvPr/>
        </p:nvSpPr>
        <p:spPr>
          <a:xfrm>
            <a:off x="6803136" y="1993392"/>
            <a:ext cx="502920" cy="182880"/>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C</a:t>
            </a:r>
            <a:endParaRPr lang="en-US" sz="1800" dirty="0"/>
          </a:p>
        </p:txBody>
      </p:sp>
      <p:sp>
        <p:nvSpPr>
          <p:cNvPr id="30" name="Text 27"/>
          <p:cNvSpPr/>
          <p:nvPr/>
        </p:nvSpPr>
        <p:spPr>
          <a:xfrm>
            <a:off x="6803136" y="2651760"/>
            <a:ext cx="2240280" cy="365760"/>
          </a:xfrm>
          <a:prstGeom prst="rect">
            <a:avLst/>
          </a:prstGeom>
          <a:noFill/>
          <a:ln/>
        </p:spPr>
        <p:txBody>
          <a:bodyPr wrap="square" lIns="0" tIns="0" rIns="0" bIns="0" rtlCol="0" anchor="ctr">
            <a:normAutofit/>
          </a:bodyPr>
          <a:lstStyle/>
          <a:p>
            <a:pPr marL="0" indent="0">
              <a:buNone/>
            </a:pPr>
            <a:r>
              <a:rPr lang="en-US" sz="1460" b="1" dirty="0">
                <a:solidFill>
                  <a:srgbClr val="1C1414"/>
                </a:solidFill>
                <a:latin typeface="Aptos" pitchFamily="34" charset="0"/>
                <a:ea typeface="Aptos" pitchFamily="34" charset="-122"/>
                <a:cs typeface="Aptos" pitchFamily="34" charset="-120"/>
              </a:rPr>
              <a:t>Consensus Protocol</a:t>
            </a:r>
            <a:endParaRPr lang="en-US" sz="1460" dirty="0"/>
          </a:p>
        </p:txBody>
      </p:sp>
      <p:sp>
        <p:nvSpPr>
          <p:cNvPr id="31" name="Text 28"/>
          <p:cNvSpPr/>
          <p:nvPr/>
        </p:nvSpPr>
        <p:spPr>
          <a:xfrm>
            <a:off x="6803136" y="3154680"/>
            <a:ext cx="2240280" cy="822960"/>
          </a:xfrm>
          <a:prstGeom prst="rect">
            <a:avLst/>
          </a:prstGeom>
          <a:noFill/>
          <a:ln/>
        </p:spPr>
        <p:txBody>
          <a:bodyPr wrap="square" lIns="0" tIns="0" rIns="0" bIns="0" rtlCol="0" anchor="ctr">
            <a:normAutofit/>
          </a:bodyPr>
          <a:lstStyle/>
          <a:p>
            <a:pPr marL="0" indent="0">
              <a:buNone/>
            </a:pPr>
            <a:r>
              <a:rPr lang="en-US" sz="1080" dirty="0">
                <a:solidFill>
                  <a:srgbClr val="5F6A6A"/>
                </a:solidFill>
                <a:latin typeface="Aptos" pitchFamily="34" charset="0"/>
                <a:ea typeface="Aptos" pitchFamily="34" charset="-122"/>
                <a:cs typeface="Aptos" pitchFamily="34" charset="-120"/>
              </a:rPr>
              <a:t>Queries multiple models and cross-checks reasoning before release.</a:t>
            </a:r>
            <a:endParaRPr lang="en-US" sz="1080" dirty="0"/>
          </a:p>
        </p:txBody>
      </p:sp>
      <p:sp>
        <p:nvSpPr>
          <p:cNvPr id="32" name="Text 29"/>
          <p:cNvSpPr/>
          <p:nvPr/>
        </p:nvSpPr>
        <p:spPr>
          <a:xfrm>
            <a:off x="6803136" y="4892040"/>
            <a:ext cx="2240280" cy="146304"/>
          </a:xfrm>
          <a:prstGeom prst="rect">
            <a:avLst/>
          </a:prstGeom>
          <a:noFill/>
          <a:ln/>
        </p:spPr>
        <p:txBody>
          <a:bodyPr wrap="square" lIns="0" tIns="0" rIns="0" bIns="0" rtlCol="0" anchor="ctr"/>
          <a:lstStyle/>
          <a:p>
            <a:pPr marL="0" indent="0">
              <a:buNone/>
            </a:pPr>
            <a:r>
              <a:rPr lang="en-US" sz="980" b="1" dirty="0">
                <a:solidFill>
                  <a:srgbClr val="E5A932"/>
                </a:solidFill>
                <a:latin typeface="Aptos" pitchFamily="34" charset="0"/>
                <a:ea typeface="Aptos" pitchFamily="34" charset="-122"/>
                <a:cs typeface="Aptos" pitchFamily="34" charset="-120"/>
              </a:rPr>
              <a:t>Governed output</a:t>
            </a:r>
            <a:endParaRPr lang="en-US" sz="980" dirty="0"/>
          </a:p>
        </p:txBody>
      </p:sp>
      <p:sp>
        <p:nvSpPr>
          <p:cNvPr id="33" name="Shape 30"/>
          <p:cNvSpPr/>
          <p:nvPr/>
        </p:nvSpPr>
        <p:spPr>
          <a:xfrm>
            <a:off x="9765792" y="1865376"/>
            <a:ext cx="502920" cy="502920"/>
          </a:xfrm>
          <a:prstGeom prst="ellipse">
            <a:avLst/>
          </a:prstGeom>
          <a:solidFill>
            <a:srgbClr val="38BDF8"/>
          </a:solidFill>
          <a:ln w="12700">
            <a:solidFill>
              <a:srgbClr val="38BDF8"/>
            </a:solidFill>
            <a:prstDash val="solid"/>
          </a:ln>
        </p:spPr>
        <p:txBody>
          <a:bodyPr/>
          <a:lstStyle/>
          <a:p>
            <a:endParaRPr lang="en-US"/>
          </a:p>
        </p:txBody>
      </p:sp>
      <p:sp>
        <p:nvSpPr>
          <p:cNvPr id="34" name="Text 31"/>
          <p:cNvSpPr/>
          <p:nvPr/>
        </p:nvSpPr>
        <p:spPr>
          <a:xfrm>
            <a:off x="9765792" y="1993392"/>
            <a:ext cx="502920" cy="182880"/>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E</a:t>
            </a:r>
            <a:endParaRPr lang="en-US" sz="1800" dirty="0"/>
          </a:p>
        </p:txBody>
      </p:sp>
      <p:sp>
        <p:nvSpPr>
          <p:cNvPr id="35" name="Text 32"/>
          <p:cNvSpPr/>
          <p:nvPr/>
        </p:nvSpPr>
        <p:spPr>
          <a:xfrm>
            <a:off x="9765792" y="2651760"/>
            <a:ext cx="1554480" cy="365760"/>
          </a:xfrm>
          <a:prstGeom prst="rect">
            <a:avLst/>
          </a:prstGeom>
          <a:noFill/>
          <a:ln/>
        </p:spPr>
        <p:txBody>
          <a:bodyPr wrap="square" lIns="0" tIns="0" rIns="0" bIns="0" rtlCol="0" anchor="ctr">
            <a:normAutofit/>
          </a:bodyPr>
          <a:lstStyle/>
          <a:p>
            <a:pPr marL="0" indent="0">
              <a:buNone/>
            </a:pPr>
            <a:r>
              <a:rPr lang="en-US" sz="1460" b="1" dirty="0">
                <a:solidFill>
                  <a:srgbClr val="1C1414"/>
                </a:solidFill>
                <a:latin typeface="Aptos" pitchFamily="34" charset="0"/>
                <a:ea typeface="Aptos" pitchFamily="34" charset="-122"/>
                <a:cs typeface="Aptos" pitchFamily="34" charset="-120"/>
              </a:rPr>
              <a:t>Evidence Ledger</a:t>
            </a:r>
            <a:endParaRPr lang="en-US" sz="1460" dirty="0"/>
          </a:p>
        </p:txBody>
      </p:sp>
      <p:sp>
        <p:nvSpPr>
          <p:cNvPr id="36" name="Text 33"/>
          <p:cNvSpPr/>
          <p:nvPr/>
        </p:nvSpPr>
        <p:spPr>
          <a:xfrm>
            <a:off x="9765792" y="3154680"/>
            <a:ext cx="1554480" cy="822960"/>
          </a:xfrm>
          <a:prstGeom prst="rect">
            <a:avLst/>
          </a:prstGeom>
          <a:noFill/>
          <a:ln/>
        </p:spPr>
        <p:txBody>
          <a:bodyPr wrap="square" lIns="0" tIns="0" rIns="0" bIns="0" rtlCol="0" anchor="ctr">
            <a:normAutofit/>
          </a:bodyPr>
          <a:lstStyle/>
          <a:p>
            <a:pPr marL="0" indent="0">
              <a:buNone/>
            </a:pPr>
            <a:r>
              <a:rPr lang="en-US" sz="1080" dirty="0">
                <a:solidFill>
                  <a:srgbClr val="5F6A6A"/>
                </a:solidFill>
                <a:latin typeface="Aptos" pitchFamily="34" charset="0"/>
                <a:ea typeface="Aptos" pitchFamily="34" charset="-122"/>
                <a:cs typeface="Aptos" pitchFamily="34" charset="-120"/>
              </a:rPr>
              <a:t>Captures traceable evidence for conclusions, scores, and exports.</a:t>
            </a:r>
            <a:endParaRPr lang="en-US" sz="1080" dirty="0"/>
          </a:p>
        </p:txBody>
      </p:sp>
      <p:sp>
        <p:nvSpPr>
          <p:cNvPr id="37" name="Text 34"/>
          <p:cNvSpPr/>
          <p:nvPr/>
        </p:nvSpPr>
        <p:spPr>
          <a:xfrm>
            <a:off x="9765792" y="4892040"/>
            <a:ext cx="1554480" cy="146304"/>
          </a:xfrm>
          <a:prstGeom prst="rect">
            <a:avLst/>
          </a:prstGeom>
          <a:noFill/>
          <a:ln/>
        </p:spPr>
        <p:txBody>
          <a:bodyPr wrap="square" lIns="0" tIns="0" rIns="0" bIns="0" rtlCol="0" anchor="ctr"/>
          <a:lstStyle/>
          <a:p>
            <a:pPr marL="0" indent="0">
              <a:buNone/>
            </a:pPr>
            <a:r>
              <a:rPr lang="en-US" sz="980" b="1" dirty="0">
                <a:solidFill>
                  <a:srgbClr val="38BDF8"/>
                </a:solidFill>
                <a:latin typeface="Aptos" pitchFamily="34" charset="0"/>
                <a:ea typeface="Aptos" pitchFamily="34" charset="-122"/>
                <a:cs typeface="Aptos" pitchFamily="34" charset="-120"/>
              </a:rPr>
              <a:t>Governed output</a:t>
            </a:r>
            <a:endParaRPr lang="en-US" sz="9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38BDF8"/>
          </a:solidFill>
          <a:ln w="12700">
            <a:solidFill>
              <a:srgbClr val="38BDF8"/>
            </a:solidFill>
            <a:prstDash val="solid"/>
          </a:ln>
        </p:spPr>
        <p:txBody>
          <a:bodyPr/>
          <a:lstStyle/>
          <a:p>
            <a:endParaRPr lang="en-US"/>
          </a:p>
        </p:txBody>
      </p:sp>
      <p:sp>
        <p:nvSpPr>
          <p:cNvPr id="3" name="Shape 1"/>
          <p:cNvSpPr/>
          <p:nvPr/>
        </p:nvSpPr>
        <p:spPr>
          <a:xfrm>
            <a:off x="10012680" y="0"/>
            <a:ext cx="2179015" cy="128016"/>
          </a:xfrm>
          <a:prstGeom prst="rect">
            <a:avLst/>
          </a:prstGeom>
          <a:solidFill>
            <a:srgbClr val="E5A932"/>
          </a:solidFill>
          <a:ln w="12700">
            <a:solidFill>
              <a:srgbClr val="E5A932"/>
            </a:solidFill>
            <a:prstDash val="solid"/>
          </a:ln>
        </p:spPr>
        <p:txBody>
          <a:bodyPr/>
          <a:lstStyle/>
          <a:p>
            <a:endParaRPr lang="en-US"/>
          </a:p>
        </p:txBody>
      </p:sp>
      <p:sp>
        <p:nvSpPr>
          <p:cNvPr id="4" name="Text 2"/>
          <p:cNvSpPr/>
          <p:nvPr/>
        </p:nvSpPr>
        <p:spPr>
          <a:xfrm>
            <a:off x="438912" y="6437376"/>
            <a:ext cx="1645920" cy="146304"/>
          </a:xfrm>
          <a:prstGeom prst="rect">
            <a:avLst/>
          </a:prstGeom>
          <a:noFill/>
          <a:ln/>
        </p:spPr>
        <p:txBody>
          <a:bodyPr wrap="square" lIns="0" tIns="0" rIns="0" bIns="0" rtlCol="0" anchor="ctr"/>
          <a:lstStyle/>
          <a:p>
            <a:pPr marL="0" indent="0">
              <a:buNone/>
            </a:pPr>
            <a:r>
              <a:rPr lang="en-US" sz="880" b="1" dirty="0">
                <a:solidFill>
                  <a:srgbClr val="1C1414"/>
                </a:solidFill>
                <a:latin typeface="Aptos" pitchFamily="34" charset="0"/>
                <a:ea typeface="Aptos" pitchFamily="34" charset="-122"/>
                <a:cs typeface="Aptos" pitchFamily="34" charset="-120"/>
              </a:rPr>
              <a:t>Techpigeon</a:t>
            </a:r>
            <a:endParaRPr lang="en-US" sz="880" dirty="0"/>
          </a:p>
        </p:txBody>
      </p:sp>
      <p:sp>
        <p:nvSpPr>
          <p:cNvPr id="5" name="Text 3"/>
          <p:cNvSpPr/>
          <p:nvPr/>
        </p:nvSpPr>
        <p:spPr>
          <a:xfrm>
            <a:off x="1920240" y="6437376"/>
            <a:ext cx="1828800" cy="146304"/>
          </a:xfrm>
          <a:prstGeom prst="rect">
            <a:avLst/>
          </a:prstGeom>
          <a:noFill/>
          <a:ln/>
        </p:spPr>
        <p:txBody>
          <a:bodyPr wrap="square" lIns="0" tIns="0" rIns="0" bIns="0" rtlCol="0" anchor="ctr"/>
          <a:lstStyle/>
          <a:p>
            <a:pPr marL="0" indent="0">
              <a:buNone/>
            </a:pPr>
            <a:r>
              <a:rPr lang="en-US" sz="880" dirty="0">
                <a:solidFill>
                  <a:srgbClr val="5F6A6A"/>
                </a:solidFill>
                <a:latin typeface="Aptos" pitchFamily="34" charset="0"/>
                <a:ea typeface="Aptos" pitchFamily="34" charset="-122"/>
                <a:cs typeface="Aptos" pitchFamily="34" charset="-120"/>
              </a:rPr>
              <a:t>NovusSparks AI</a:t>
            </a:r>
            <a:endParaRPr lang="en-US" sz="880" dirty="0"/>
          </a:p>
        </p:txBody>
      </p:sp>
      <p:sp>
        <p:nvSpPr>
          <p:cNvPr id="6" name="Text 4"/>
          <p:cNvSpPr/>
          <p:nvPr/>
        </p:nvSpPr>
        <p:spPr>
          <a:xfrm>
            <a:off x="8732520" y="6437376"/>
            <a:ext cx="2926080" cy="146304"/>
          </a:xfrm>
          <a:prstGeom prst="rect">
            <a:avLst/>
          </a:prstGeom>
          <a:noFill/>
          <a:ln/>
        </p:spPr>
        <p:txBody>
          <a:bodyPr wrap="square" lIns="0" tIns="0" rIns="0" bIns="0" rtlCol="0" anchor="ctr"/>
          <a:lstStyle/>
          <a:p>
            <a:pPr marL="0" indent="0" algn="r">
              <a:buNone/>
            </a:pPr>
            <a:r>
              <a:rPr lang="en-US" sz="880" dirty="0">
                <a:solidFill>
                  <a:srgbClr val="5F6A6A"/>
                </a:solidFill>
                <a:latin typeface="Aptos" pitchFamily="34" charset="0"/>
                <a:ea typeface="Aptos" pitchFamily="34" charset="-122"/>
                <a:cs typeface="Aptos" pitchFamily="34" charset="-120"/>
              </a:rPr>
              <a:t>AWS Activate via Spendbase</a:t>
            </a:r>
            <a:endParaRPr lang="en-US" sz="880" dirty="0"/>
          </a:p>
        </p:txBody>
      </p:sp>
      <p:pic>
        <p:nvPicPr>
          <p:cNvPr id="7" name="Image 0" descr="D:\ai-powered-techpigeon\src\assets\images\novussparks-logo-1200.png"/>
          <p:cNvPicPr>
            <a:picLocks noChangeAspect="1"/>
          </p:cNvPicPr>
          <p:nvPr/>
        </p:nvPicPr>
        <p:blipFill>
          <a:blip r:embed="rId3"/>
          <a:stretch>
            <a:fillRect/>
          </a:stretch>
        </p:blipFill>
        <p:spPr>
          <a:xfrm>
            <a:off x="9189720" y="329184"/>
            <a:ext cx="2240280" cy="713232"/>
          </a:xfrm>
          <a:prstGeom prst="rect">
            <a:avLst/>
          </a:prstGeom>
        </p:spPr>
      </p:pic>
      <p:sp>
        <p:nvSpPr>
          <p:cNvPr id="8" name="Text 5"/>
          <p:cNvSpPr/>
          <p:nvPr/>
        </p:nvSpPr>
        <p:spPr>
          <a:xfrm>
            <a:off x="658368" y="640080"/>
            <a:ext cx="7772400" cy="603504"/>
          </a:xfrm>
          <a:prstGeom prst="rect">
            <a:avLst/>
          </a:prstGeom>
          <a:noFill/>
          <a:ln/>
        </p:spPr>
        <p:txBody>
          <a:bodyPr wrap="square" lIns="0" tIns="0" rIns="0" bIns="0" rtlCol="0" anchor="ctr"/>
          <a:lstStyle/>
          <a:p>
            <a:pPr marL="0" indent="0">
              <a:buNone/>
            </a:pPr>
            <a:r>
              <a:rPr lang="en-US" sz="2400" b="1" dirty="0">
                <a:solidFill>
                  <a:srgbClr val="1C1414"/>
                </a:solidFill>
                <a:latin typeface="Aptos Display" pitchFamily="34" charset="0"/>
                <a:ea typeface="Aptos Display" pitchFamily="34" charset="-122"/>
                <a:cs typeface="Aptos Display" pitchFamily="34" charset="-120"/>
              </a:rPr>
              <a:t>Trust your AI. Verify every step.</a:t>
            </a:r>
            <a:endParaRPr lang="en-US" sz="2400" dirty="0"/>
          </a:p>
        </p:txBody>
      </p:sp>
      <p:sp>
        <p:nvSpPr>
          <p:cNvPr id="9" name="Text 6"/>
          <p:cNvSpPr/>
          <p:nvPr/>
        </p:nvSpPr>
        <p:spPr>
          <a:xfrm>
            <a:off x="676656" y="1207008"/>
            <a:ext cx="8229600" cy="384048"/>
          </a:xfrm>
          <a:prstGeom prst="rect">
            <a:avLst/>
          </a:prstGeom>
          <a:noFill/>
          <a:ln/>
        </p:spPr>
        <p:txBody>
          <a:bodyPr wrap="square" lIns="0" tIns="0" rIns="0" bIns="0" rtlCol="0" anchor="ctr"/>
          <a:lstStyle/>
          <a:p>
            <a:pPr marL="0" indent="0">
              <a:buNone/>
            </a:pPr>
            <a:r>
              <a:rPr lang="en-US" sz="1150" dirty="0">
                <a:solidFill>
                  <a:srgbClr val="5F6A6A"/>
                </a:solidFill>
                <a:latin typeface="Aptos" pitchFamily="34" charset="0"/>
                <a:ea typeface="Aptos" pitchFamily="34" charset="-122"/>
                <a:cs typeface="Aptos" pitchFamily="34" charset="-120"/>
              </a:rPr>
              <a:t>We cross-validate outputs across the best AI engines available.</a:t>
            </a:r>
            <a:endParaRPr lang="en-US" sz="1150" dirty="0"/>
          </a:p>
        </p:txBody>
      </p:sp>
      <p:sp>
        <p:nvSpPr>
          <p:cNvPr id="10" name="Shape 7"/>
          <p:cNvSpPr/>
          <p:nvPr/>
        </p:nvSpPr>
        <p:spPr>
          <a:xfrm>
            <a:off x="676656" y="1965960"/>
            <a:ext cx="1965960" cy="2240280"/>
          </a:xfrm>
          <a:prstGeom prst="roundRect">
            <a:avLst>
              <a:gd name="adj" fmla="val 3721"/>
            </a:avLst>
          </a:prstGeom>
          <a:solidFill>
            <a:srgbClr val="F0FAF5"/>
          </a:solidFill>
          <a:ln w="12700">
            <a:solidFill>
              <a:srgbClr val="38BDF8"/>
            </a:solidFill>
            <a:prstDash val="solid"/>
          </a:ln>
          <a:effectLst>
            <a:outerShdw blurRad="12700" dist="50800" dir="2700000" algn="bl" rotWithShape="0">
              <a:srgbClr val="DDECF3">
                <a:alpha val="12000"/>
              </a:srgbClr>
            </a:outerShdw>
          </a:effectLst>
        </p:spPr>
        <p:txBody>
          <a:bodyPr/>
          <a:lstStyle/>
          <a:p>
            <a:endParaRPr lang="en-US"/>
          </a:p>
        </p:txBody>
      </p:sp>
      <p:sp>
        <p:nvSpPr>
          <p:cNvPr id="11" name="Shape 8"/>
          <p:cNvSpPr/>
          <p:nvPr/>
        </p:nvSpPr>
        <p:spPr>
          <a:xfrm>
            <a:off x="694944" y="1984248"/>
            <a:ext cx="1929384" cy="54864"/>
          </a:xfrm>
          <a:prstGeom prst="rect">
            <a:avLst/>
          </a:prstGeom>
          <a:solidFill>
            <a:srgbClr val="38BDF8"/>
          </a:solidFill>
          <a:ln w="12700">
            <a:solidFill>
              <a:srgbClr val="38BDF8"/>
            </a:solidFill>
            <a:prstDash val="solid"/>
          </a:ln>
        </p:spPr>
        <p:txBody>
          <a:bodyPr/>
          <a:lstStyle/>
          <a:p>
            <a:endParaRPr lang="en-US"/>
          </a:p>
        </p:txBody>
      </p:sp>
      <p:sp>
        <p:nvSpPr>
          <p:cNvPr id="12" name="Shape 9"/>
          <p:cNvSpPr/>
          <p:nvPr/>
        </p:nvSpPr>
        <p:spPr>
          <a:xfrm>
            <a:off x="1380744" y="2176272"/>
            <a:ext cx="548640" cy="548640"/>
          </a:xfrm>
          <a:prstGeom prst="ellipse">
            <a:avLst/>
          </a:prstGeom>
          <a:solidFill>
            <a:srgbClr val="E5A932"/>
          </a:solidFill>
          <a:ln w="12700">
            <a:solidFill>
              <a:srgbClr val="E5A932"/>
            </a:solidFill>
            <a:prstDash val="solid"/>
          </a:ln>
        </p:spPr>
        <p:txBody>
          <a:bodyPr/>
          <a:lstStyle/>
          <a:p>
            <a:endParaRPr lang="en-US"/>
          </a:p>
        </p:txBody>
      </p:sp>
      <p:sp>
        <p:nvSpPr>
          <p:cNvPr id="13" name="Text 10"/>
          <p:cNvSpPr/>
          <p:nvPr/>
        </p:nvSpPr>
        <p:spPr>
          <a:xfrm>
            <a:off x="1389888" y="2323509"/>
            <a:ext cx="548640" cy="201168"/>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1</a:t>
            </a:r>
            <a:endParaRPr lang="en-US" sz="1800" dirty="0"/>
          </a:p>
        </p:txBody>
      </p:sp>
      <p:sp>
        <p:nvSpPr>
          <p:cNvPr id="14" name="Text 11"/>
          <p:cNvSpPr/>
          <p:nvPr/>
        </p:nvSpPr>
        <p:spPr>
          <a:xfrm>
            <a:off x="822960" y="2907792"/>
            <a:ext cx="1691640" cy="164592"/>
          </a:xfrm>
          <a:prstGeom prst="rect">
            <a:avLst/>
          </a:prstGeom>
          <a:noFill/>
          <a:ln/>
        </p:spPr>
        <p:txBody>
          <a:bodyPr wrap="square" lIns="0" tIns="0" rIns="0" bIns="0" rtlCol="0" anchor="ctr"/>
          <a:lstStyle/>
          <a:p>
            <a:pPr marL="0" indent="0" algn="ctr">
              <a:buNone/>
            </a:pPr>
            <a:r>
              <a:rPr lang="en-US" sz="1420" b="1" dirty="0">
                <a:solidFill>
                  <a:srgbClr val="1C1414"/>
                </a:solidFill>
                <a:latin typeface="Aptos" pitchFamily="34" charset="0"/>
                <a:ea typeface="Aptos" pitchFamily="34" charset="-122"/>
                <a:cs typeface="Aptos" pitchFamily="34" charset="-120"/>
              </a:rPr>
              <a:t>Prompt</a:t>
            </a:r>
            <a:endParaRPr lang="en-US" sz="1420" dirty="0"/>
          </a:p>
        </p:txBody>
      </p:sp>
      <p:sp>
        <p:nvSpPr>
          <p:cNvPr id="15" name="Text 12"/>
          <p:cNvSpPr/>
          <p:nvPr/>
        </p:nvSpPr>
        <p:spPr>
          <a:xfrm>
            <a:off x="822960" y="3236976"/>
            <a:ext cx="1691640" cy="512064"/>
          </a:xfrm>
          <a:prstGeom prst="rect">
            <a:avLst/>
          </a:prstGeom>
          <a:noFill/>
          <a:ln/>
        </p:spPr>
        <p:txBody>
          <a:bodyPr wrap="square" lIns="0" tIns="0" rIns="0" bIns="0" rtlCol="0" anchor="ctr">
            <a:normAutofit/>
          </a:bodyPr>
          <a:lstStyle/>
          <a:p>
            <a:pPr marL="0" indent="0" algn="ctr">
              <a:buNone/>
            </a:pPr>
            <a:r>
              <a:rPr lang="en-US" sz="1040" dirty="0">
                <a:solidFill>
                  <a:srgbClr val="5F6A6A"/>
                </a:solidFill>
                <a:latin typeface="Aptos" pitchFamily="34" charset="0"/>
                <a:ea typeface="Aptos" pitchFamily="34" charset="-122"/>
                <a:cs typeface="Aptos" pitchFamily="34" charset="-120"/>
              </a:rPr>
              <a:t>Natural language or documents</a:t>
            </a:r>
            <a:endParaRPr lang="en-US" sz="1040" dirty="0"/>
          </a:p>
        </p:txBody>
      </p:sp>
      <p:sp>
        <p:nvSpPr>
          <p:cNvPr id="16" name="Shape 13"/>
          <p:cNvSpPr/>
          <p:nvPr/>
        </p:nvSpPr>
        <p:spPr>
          <a:xfrm>
            <a:off x="3090672" y="1965960"/>
            <a:ext cx="1965960" cy="2240280"/>
          </a:xfrm>
          <a:prstGeom prst="roundRect">
            <a:avLst>
              <a:gd name="adj" fmla="val 3721"/>
            </a:avLst>
          </a:prstGeom>
          <a:solidFill>
            <a:srgbClr val="F0FAF5"/>
          </a:solidFill>
          <a:ln w="12700">
            <a:solidFill>
              <a:srgbClr val="38BDF8"/>
            </a:solidFill>
            <a:prstDash val="solid"/>
          </a:ln>
          <a:effectLst>
            <a:outerShdw blurRad="12700" dist="50800" dir="2700000" algn="bl" rotWithShape="0">
              <a:srgbClr val="DDECF3">
                <a:alpha val="12000"/>
              </a:srgbClr>
            </a:outerShdw>
          </a:effectLst>
        </p:spPr>
        <p:txBody>
          <a:bodyPr/>
          <a:lstStyle/>
          <a:p>
            <a:endParaRPr lang="en-US"/>
          </a:p>
        </p:txBody>
      </p:sp>
      <p:sp>
        <p:nvSpPr>
          <p:cNvPr id="17" name="Shape 14"/>
          <p:cNvSpPr/>
          <p:nvPr/>
        </p:nvSpPr>
        <p:spPr>
          <a:xfrm>
            <a:off x="3108960" y="1984248"/>
            <a:ext cx="1929384" cy="54864"/>
          </a:xfrm>
          <a:prstGeom prst="rect">
            <a:avLst/>
          </a:prstGeom>
          <a:solidFill>
            <a:srgbClr val="38BDF8"/>
          </a:solidFill>
          <a:ln w="12700">
            <a:solidFill>
              <a:srgbClr val="38BDF8"/>
            </a:solidFill>
            <a:prstDash val="solid"/>
          </a:ln>
        </p:spPr>
        <p:txBody>
          <a:bodyPr/>
          <a:lstStyle/>
          <a:p>
            <a:endParaRPr lang="en-US"/>
          </a:p>
        </p:txBody>
      </p:sp>
      <p:sp>
        <p:nvSpPr>
          <p:cNvPr id="18" name="Shape 15"/>
          <p:cNvSpPr/>
          <p:nvPr/>
        </p:nvSpPr>
        <p:spPr>
          <a:xfrm>
            <a:off x="3794760" y="2176272"/>
            <a:ext cx="548640" cy="548640"/>
          </a:xfrm>
          <a:prstGeom prst="ellipse">
            <a:avLst/>
          </a:prstGeom>
          <a:solidFill>
            <a:srgbClr val="E5A932"/>
          </a:solidFill>
          <a:ln w="12700">
            <a:solidFill>
              <a:srgbClr val="E5A932"/>
            </a:solidFill>
            <a:prstDash val="solid"/>
          </a:ln>
        </p:spPr>
        <p:txBody>
          <a:bodyPr/>
          <a:lstStyle/>
          <a:p>
            <a:endParaRPr lang="en-US"/>
          </a:p>
        </p:txBody>
      </p:sp>
      <p:sp>
        <p:nvSpPr>
          <p:cNvPr id="19" name="Text 16"/>
          <p:cNvSpPr/>
          <p:nvPr/>
        </p:nvSpPr>
        <p:spPr>
          <a:xfrm>
            <a:off x="3808476" y="2340864"/>
            <a:ext cx="548640" cy="201168"/>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2</a:t>
            </a:r>
            <a:endParaRPr lang="en-US" sz="1800" dirty="0"/>
          </a:p>
        </p:txBody>
      </p:sp>
      <p:sp>
        <p:nvSpPr>
          <p:cNvPr id="20" name="Text 17"/>
          <p:cNvSpPr/>
          <p:nvPr/>
        </p:nvSpPr>
        <p:spPr>
          <a:xfrm>
            <a:off x="3236976" y="2907792"/>
            <a:ext cx="1691640" cy="164592"/>
          </a:xfrm>
          <a:prstGeom prst="rect">
            <a:avLst/>
          </a:prstGeom>
          <a:noFill/>
          <a:ln/>
        </p:spPr>
        <p:txBody>
          <a:bodyPr wrap="square" lIns="0" tIns="0" rIns="0" bIns="0" rtlCol="0" anchor="ctr"/>
          <a:lstStyle/>
          <a:p>
            <a:pPr marL="0" indent="0" algn="ctr">
              <a:buNone/>
            </a:pPr>
            <a:r>
              <a:rPr lang="en-US" sz="1420" b="1" dirty="0">
                <a:solidFill>
                  <a:srgbClr val="1C1414"/>
                </a:solidFill>
                <a:latin typeface="Aptos" pitchFamily="34" charset="0"/>
                <a:ea typeface="Aptos" pitchFamily="34" charset="-122"/>
                <a:cs typeface="Aptos" pitchFamily="34" charset="-120"/>
              </a:rPr>
              <a:t>Orchestrate</a:t>
            </a:r>
            <a:endParaRPr lang="en-US" sz="1420" dirty="0"/>
          </a:p>
        </p:txBody>
      </p:sp>
      <p:sp>
        <p:nvSpPr>
          <p:cNvPr id="21" name="Text 18"/>
          <p:cNvSpPr/>
          <p:nvPr/>
        </p:nvSpPr>
        <p:spPr>
          <a:xfrm>
            <a:off x="3236976" y="3236976"/>
            <a:ext cx="1691640" cy="512064"/>
          </a:xfrm>
          <a:prstGeom prst="rect">
            <a:avLst/>
          </a:prstGeom>
          <a:noFill/>
          <a:ln/>
        </p:spPr>
        <p:txBody>
          <a:bodyPr wrap="square" lIns="0" tIns="0" rIns="0" bIns="0" rtlCol="0" anchor="ctr">
            <a:normAutofit/>
          </a:bodyPr>
          <a:lstStyle/>
          <a:p>
            <a:pPr marL="0" indent="0" algn="ctr">
              <a:buNone/>
            </a:pPr>
            <a:r>
              <a:rPr lang="en-US" sz="1040" dirty="0">
                <a:solidFill>
                  <a:srgbClr val="5F6A6A"/>
                </a:solidFill>
                <a:latin typeface="Aptos" pitchFamily="34" charset="0"/>
                <a:ea typeface="Aptos" pitchFamily="34" charset="-122"/>
                <a:cs typeface="Aptos" pitchFamily="34" charset="-120"/>
              </a:rPr>
              <a:t>Consensus Engine queries multiple models</a:t>
            </a:r>
            <a:endParaRPr lang="en-US" sz="1040" dirty="0"/>
          </a:p>
        </p:txBody>
      </p:sp>
      <p:sp>
        <p:nvSpPr>
          <p:cNvPr id="22" name="Shape 19"/>
          <p:cNvSpPr/>
          <p:nvPr/>
        </p:nvSpPr>
        <p:spPr>
          <a:xfrm>
            <a:off x="5504688" y="1965960"/>
            <a:ext cx="1965960" cy="2240280"/>
          </a:xfrm>
          <a:prstGeom prst="roundRect">
            <a:avLst>
              <a:gd name="adj" fmla="val 3721"/>
            </a:avLst>
          </a:prstGeom>
          <a:solidFill>
            <a:srgbClr val="F0FAF5"/>
          </a:solidFill>
          <a:ln w="12700">
            <a:solidFill>
              <a:srgbClr val="38BDF8"/>
            </a:solidFill>
            <a:prstDash val="solid"/>
          </a:ln>
          <a:effectLst>
            <a:outerShdw blurRad="12700" dist="50800" dir="2700000" algn="bl" rotWithShape="0">
              <a:srgbClr val="DDECF3">
                <a:alpha val="12000"/>
              </a:srgbClr>
            </a:outerShdw>
          </a:effectLst>
        </p:spPr>
        <p:txBody>
          <a:bodyPr/>
          <a:lstStyle/>
          <a:p>
            <a:endParaRPr lang="en-US"/>
          </a:p>
        </p:txBody>
      </p:sp>
      <p:sp>
        <p:nvSpPr>
          <p:cNvPr id="23" name="Shape 20"/>
          <p:cNvSpPr/>
          <p:nvPr/>
        </p:nvSpPr>
        <p:spPr>
          <a:xfrm>
            <a:off x="5522976" y="1984248"/>
            <a:ext cx="1929384" cy="54864"/>
          </a:xfrm>
          <a:prstGeom prst="rect">
            <a:avLst/>
          </a:prstGeom>
          <a:solidFill>
            <a:srgbClr val="38BDF8"/>
          </a:solidFill>
          <a:ln w="12700">
            <a:solidFill>
              <a:srgbClr val="38BDF8"/>
            </a:solidFill>
            <a:prstDash val="solid"/>
          </a:ln>
        </p:spPr>
        <p:txBody>
          <a:bodyPr/>
          <a:lstStyle/>
          <a:p>
            <a:endParaRPr lang="en-US"/>
          </a:p>
        </p:txBody>
      </p:sp>
      <p:sp>
        <p:nvSpPr>
          <p:cNvPr id="24" name="Shape 21"/>
          <p:cNvSpPr/>
          <p:nvPr/>
        </p:nvSpPr>
        <p:spPr>
          <a:xfrm>
            <a:off x="6208776" y="2176272"/>
            <a:ext cx="548640" cy="548640"/>
          </a:xfrm>
          <a:prstGeom prst="ellipse">
            <a:avLst/>
          </a:prstGeom>
          <a:solidFill>
            <a:srgbClr val="E5A932"/>
          </a:solidFill>
          <a:ln w="12700">
            <a:solidFill>
              <a:srgbClr val="E5A932"/>
            </a:solidFill>
            <a:prstDash val="solid"/>
          </a:ln>
        </p:spPr>
        <p:txBody>
          <a:bodyPr/>
          <a:lstStyle/>
          <a:p>
            <a:endParaRPr lang="en-US"/>
          </a:p>
        </p:txBody>
      </p:sp>
      <p:sp>
        <p:nvSpPr>
          <p:cNvPr id="25" name="Text 22"/>
          <p:cNvSpPr/>
          <p:nvPr/>
        </p:nvSpPr>
        <p:spPr>
          <a:xfrm>
            <a:off x="6208776" y="2350008"/>
            <a:ext cx="548640" cy="201168"/>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3</a:t>
            </a:r>
            <a:endParaRPr lang="en-US" sz="1800" dirty="0"/>
          </a:p>
        </p:txBody>
      </p:sp>
      <p:sp>
        <p:nvSpPr>
          <p:cNvPr id="26" name="Text 23"/>
          <p:cNvSpPr/>
          <p:nvPr/>
        </p:nvSpPr>
        <p:spPr>
          <a:xfrm>
            <a:off x="5650992" y="2907792"/>
            <a:ext cx="1691640" cy="164592"/>
          </a:xfrm>
          <a:prstGeom prst="rect">
            <a:avLst/>
          </a:prstGeom>
          <a:noFill/>
          <a:ln/>
        </p:spPr>
        <p:txBody>
          <a:bodyPr wrap="square" lIns="0" tIns="0" rIns="0" bIns="0" rtlCol="0" anchor="ctr"/>
          <a:lstStyle/>
          <a:p>
            <a:pPr marL="0" indent="0" algn="ctr">
              <a:buNone/>
            </a:pPr>
            <a:r>
              <a:rPr lang="en-US" sz="1420" b="1" dirty="0">
                <a:solidFill>
                  <a:srgbClr val="1C1414"/>
                </a:solidFill>
                <a:latin typeface="Aptos" pitchFamily="34" charset="0"/>
                <a:ea typeface="Aptos" pitchFamily="34" charset="-122"/>
                <a:cs typeface="Aptos" pitchFamily="34" charset="-120"/>
              </a:rPr>
              <a:t>Validate</a:t>
            </a:r>
            <a:endParaRPr lang="en-US" sz="1420" dirty="0"/>
          </a:p>
        </p:txBody>
      </p:sp>
      <p:sp>
        <p:nvSpPr>
          <p:cNvPr id="27" name="Text 24"/>
          <p:cNvSpPr/>
          <p:nvPr/>
        </p:nvSpPr>
        <p:spPr>
          <a:xfrm>
            <a:off x="5650992" y="3236976"/>
            <a:ext cx="1691640" cy="512064"/>
          </a:xfrm>
          <a:prstGeom prst="rect">
            <a:avLst/>
          </a:prstGeom>
          <a:noFill/>
          <a:ln/>
        </p:spPr>
        <p:txBody>
          <a:bodyPr wrap="square" lIns="0" tIns="0" rIns="0" bIns="0" rtlCol="0" anchor="ctr">
            <a:normAutofit/>
          </a:bodyPr>
          <a:lstStyle/>
          <a:p>
            <a:pPr marL="0" indent="0" algn="ctr">
              <a:buNone/>
            </a:pPr>
            <a:r>
              <a:rPr lang="en-US" sz="1040" dirty="0">
                <a:solidFill>
                  <a:srgbClr val="5F6A6A"/>
                </a:solidFill>
                <a:latin typeface="Aptos" pitchFamily="34" charset="0"/>
                <a:ea typeface="Aptos" pitchFamily="34" charset="-122"/>
                <a:cs typeface="Aptos" pitchFamily="34" charset="-120"/>
              </a:rPr>
              <a:t>RGS layer checks facts against secure data</a:t>
            </a:r>
            <a:endParaRPr lang="en-US" sz="1040" dirty="0"/>
          </a:p>
        </p:txBody>
      </p:sp>
      <p:sp>
        <p:nvSpPr>
          <p:cNvPr id="28" name="Shape 25"/>
          <p:cNvSpPr/>
          <p:nvPr/>
        </p:nvSpPr>
        <p:spPr>
          <a:xfrm>
            <a:off x="7918704" y="1965960"/>
            <a:ext cx="1965960" cy="2240280"/>
          </a:xfrm>
          <a:prstGeom prst="roundRect">
            <a:avLst>
              <a:gd name="adj" fmla="val 3721"/>
            </a:avLst>
          </a:prstGeom>
          <a:solidFill>
            <a:srgbClr val="F0FAF5"/>
          </a:solidFill>
          <a:ln w="12700">
            <a:solidFill>
              <a:srgbClr val="38BDF8"/>
            </a:solidFill>
            <a:prstDash val="solid"/>
          </a:ln>
          <a:effectLst>
            <a:outerShdw blurRad="12700" dist="50800" dir="2700000" algn="bl" rotWithShape="0">
              <a:srgbClr val="DDECF3">
                <a:alpha val="12000"/>
              </a:srgbClr>
            </a:outerShdw>
          </a:effectLst>
        </p:spPr>
        <p:txBody>
          <a:bodyPr/>
          <a:lstStyle/>
          <a:p>
            <a:endParaRPr lang="en-US"/>
          </a:p>
        </p:txBody>
      </p:sp>
      <p:sp>
        <p:nvSpPr>
          <p:cNvPr id="29" name="Shape 26"/>
          <p:cNvSpPr/>
          <p:nvPr/>
        </p:nvSpPr>
        <p:spPr>
          <a:xfrm>
            <a:off x="7936992" y="1984248"/>
            <a:ext cx="1929384" cy="54864"/>
          </a:xfrm>
          <a:prstGeom prst="rect">
            <a:avLst/>
          </a:prstGeom>
          <a:solidFill>
            <a:srgbClr val="38BDF8"/>
          </a:solidFill>
          <a:ln w="12700">
            <a:solidFill>
              <a:srgbClr val="38BDF8"/>
            </a:solidFill>
            <a:prstDash val="solid"/>
          </a:ln>
        </p:spPr>
        <p:txBody>
          <a:bodyPr/>
          <a:lstStyle/>
          <a:p>
            <a:endParaRPr lang="en-US"/>
          </a:p>
        </p:txBody>
      </p:sp>
      <p:sp>
        <p:nvSpPr>
          <p:cNvPr id="30" name="Shape 27"/>
          <p:cNvSpPr/>
          <p:nvPr/>
        </p:nvSpPr>
        <p:spPr>
          <a:xfrm>
            <a:off x="8622792" y="2176272"/>
            <a:ext cx="548640" cy="548640"/>
          </a:xfrm>
          <a:prstGeom prst="ellipse">
            <a:avLst/>
          </a:prstGeom>
          <a:solidFill>
            <a:srgbClr val="E5A932"/>
          </a:solidFill>
          <a:ln w="12700">
            <a:solidFill>
              <a:srgbClr val="E5A932"/>
            </a:solidFill>
            <a:prstDash val="solid"/>
          </a:ln>
        </p:spPr>
        <p:txBody>
          <a:bodyPr/>
          <a:lstStyle/>
          <a:p>
            <a:endParaRPr lang="en-US"/>
          </a:p>
        </p:txBody>
      </p:sp>
      <p:sp>
        <p:nvSpPr>
          <p:cNvPr id="31" name="Text 28"/>
          <p:cNvSpPr/>
          <p:nvPr/>
        </p:nvSpPr>
        <p:spPr>
          <a:xfrm>
            <a:off x="8622792" y="2360458"/>
            <a:ext cx="548640" cy="201168"/>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4</a:t>
            </a:r>
            <a:endParaRPr lang="en-US" sz="1800" dirty="0"/>
          </a:p>
        </p:txBody>
      </p:sp>
      <p:sp>
        <p:nvSpPr>
          <p:cNvPr id="32" name="Text 29"/>
          <p:cNvSpPr/>
          <p:nvPr/>
        </p:nvSpPr>
        <p:spPr>
          <a:xfrm>
            <a:off x="8065008" y="2907792"/>
            <a:ext cx="1691640" cy="164592"/>
          </a:xfrm>
          <a:prstGeom prst="rect">
            <a:avLst/>
          </a:prstGeom>
          <a:noFill/>
          <a:ln/>
        </p:spPr>
        <p:txBody>
          <a:bodyPr wrap="square" lIns="0" tIns="0" rIns="0" bIns="0" rtlCol="0" anchor="ctr"/>
          <a:lstStyle/>
          <a:p>
            <a:pPr marL="0" indent="0" algn="ctr">
              <a:buNone/>
            </a:pPr>
            <a:r>
              <a:rPr lang="en-US" sz="1420" b="1" dirty="0">
                <a:solidFill>
                  <a:srgbClr val="1C1414"/>
                </a:solidFill>
                <a:latin typeface="Aptos" pitchFamily="34" charset="0"/>
                <a:ea typeface="Aptos" pitchFamily="34" charset="-122"/>
                <a:cs typeface="Aptos" pitchFamily="34" charset="-120"/>
              </a:rPr>
              <a:t>Deploy</a:t>
            </a:r>
            <a:endParaRPr lang="en-US" sz="1420" dirty="0"/>
          </a:p>
        </p:txBody>
      </p:sp>
      <p:sp>
        <p:nvSpPr>
          <p:cNvPr id="33" name="Text 30"/>
          <p:cNvSpPr/>
          <p:nvPr/>
        </p:nvSpPr>
        <p:spPr>
          <a:xfrm>
            <a:off x="8065008" y="3236976"/>
            <a:ext cx="1691640" cy="512064"/>
          </a:xfrm>
          <a:prstGeom prst="rect">
            <a:avLst/>
          </a:prstGeom>
          <a:noFill/>
          <a:ln/>
        </p:spPr>
        <p:txBody>
          <a:bodyPr wrap="square" lIns="0" tIns="0" rIns="0" bIns="0" rtlCol="0" anchor="ctr">
            <a:normAutofit/>
          </a:bodyPr>
          <a:lstStyle/>
          <a:p>
            <a:pPr marL="0" indent="0" algn="ctr">
              <a:buNone/>
            </a:pPr>
            <a:r>
              <a:rPr lang="en-US" sz="1040" dirty="0">
                <a:solidFill>
                  <a:srgbClr val="5F6A6A"/>
                </a:solidFill>
                <a:latin typeface="Aptos" pitchFamily="34" charset="0"/>
                <a:ea typeface="Aptos" pitchFamily="34" charset="-122"/>
                <a:cs typeface="Aptos" pitchFamily="34" charset="-120"/>
              </a:rPr>
              <a:t>Receive accurate, scored strategies</a:t>
            </a:r>
            <a:endParaRPr lang="en-US" sz="1040" dirty="0"/>
          </a:p>
        </p:txBody>
      </p:sp>
      <p:sp>
        <p:nvSpPr>
          <p:cNvPr id="34" name="Shape 31"/>
          <p:cNvSpPr/>
          <p:nvPr/>
        </p:nvSpPr>
        <p:spPr>
          <a:xfrm>
            <a:off x="2724912" y="2834640"/>
            <a:ext cx="201168" cy="256032"/>
          </a:xfrm>
          <a:prstGeom prst="chevron">
            <a:avLst/>
          </a:prstGeom>
          <a:solidFill>
            <a:srgbClr val="38BDF8">
              <a:alpha val="90000"/>
            </a:srgbClr>
          </a:solidFill>
          <a:ln w="12700">
            <a:solidFill>
              <a:srgbClr val="38BDF8"/>
            </a:solidFill>
            <a:prstDash val="solid"/>
          </a:ln>
        </p:spPr>
        <p:txBody>
          <a:bodyPr/>
          <a:lstStyle/>
          <a:p>
            <a:endParaRPr lang="en-US"/>
          </a:p>
        </p:txBody>
      </p:sp>
      <p:sp>
        <p:nvSpPr>
          <p:cNvPr id="35" name="Shape 32"/>
          <p:cNvSpPr/>
          <p:nvPr/>
        </p:nvSpPr>
        <p:spPr>
          <a:xfrm>
            <a:off x="5138928" y="2834640"/>
            <a:ext cx="201168" cy="256032"/>
          </a:xfrm>
          <a:prstGeom prst="chevron">
            <a:avLst/>
          </a:prstGeom>
          <a:solidFill>
            <a:srgbClr val="38BDF8">
              <a:alpha val="90000"/>
            </a:srgbClr>
          </a:solidFill>
          <a:ln w="12700">
            <a:solidFill>
              <a:srgbClr val="38BDF8"/>
            </a:solidFill>
            <a:prstDash val="solid"/>
          </a:ln>
        </p:spPr>
        <p:txBody>
          <a:bodyPr/>
          <a:lstStyle/>
          <a:p>
            <a:endParaRPr lang="en-US"/>
          </a:p>
        </p:txBody>
      </p:sp>
      <p:sp>
        <p:nvSpPr>
          <p:cNvPr id="36" name="Shape 33"/>
          <p:cNvSpPr/>
          <p:nvPr/>
        </p:nvSpPr>
        <p:spPr>
          <a:xfrm>
            <a:off x="7552944" y="2834640"/>
            <a:ext cx="201168" cy="256032"/>
          </a:xfrm>
          <a:prstGeom prst="chevron">
            <a:avLst/>
          </a:prstGeom>
          <a:solidFill>
            <a:srgbClr val="38BDF8">
              <a:alpha val="90000"/>
            </a:srgbClr>
          </a:solidFill>
          <a:ln w="12700">
            <a:solidFill>
              <a:srgbClr val="38BDF8"/>
            </a:solidFill>
            <a:prstDash val="solid"/>
          </a:ln>
        </p:spPr>
        <p:txBody>
          <a:bodyPr/>
          <a:lstStyle/>
          <a:p>
            <a:endParaRPr lang="en-US"/>
          </a:p>
        </p:txBody>
      </p:sp>
      <p:sp>
        <p:nvSpPr>
          <p:cNvPr id="37" name="Shape 34"/>
          <p:cNvSpPr/>
          <p:nvPr/>
        </p:nvSpPr>
        <p:spPr>
          <a:xfrm>
            <a:off x="676656" y="4800600"/>
            <a:ext cx="10881360" cy="896112"/>
          </a:xfrm>
          <a:prstGeom prst="roundRect">
            <a:avLst>
              <a:gd name="adj" fmla="val 8163"/>
            </a:avLst>
          </a:prstGeom>
          <a:solidFill>
            <a:srgbClr val="F8FDFA"/>
          </a:solidFill>
          <a:ln w="12700">
            <a:solidFill>
              <a:srgbClr val="6EE7A0"/>
            </a:solidFill>
            <a:prstDash val="solid"/>
          </a:ln>
          <a:effectLst>
            <a:outerShdw blurRad="12700" dist="50800" dir="2700000" algn="bl" rotWithShape="0">
              <a:srgbClr val="DDECF3">
                <a:alpha val="12000"/>
              </a:srgbClr>
            </a:outerShdw>
          </a:effectLst>
        </p:spPr>
        <p:txBody>
          <a:bodyPr/>
          <a:lstStyle/>
          <a:p>
            <a:endParaRPr lang="en-US"/>
          </a:p>
        </p:txBody>
      </p:sp>
      <p:sp>
        <p:nvSpPr>
          <p:cNvPr id="38" name="Shape 35"/>
          <p:cNvSpPr/>
          <p:nvPr/>
        </p:nvSpPr>
        <p:spPr>
          <a:xfrm>
            <a:off x="694944" y="4818888"/>
            <a:ext cx="73152" cy="859536"/>
          </a:xfrm>
          <a:prstGeom prst="rect">
            <a:avLst/>
          </a:prstGeom>
          <a:solidFill>
            <a:srgbClr val="6EE7A0"/>
          </a:solidFill>
          <a:ln w="12700">
            <a:solidFill>
              <a:srgbClr val="6EE7A0"/>
            </a:solidFill>
            <a:prstDash val="solid"/>
          </a:ln>
        </p:spPr>
        <p:txBody>
          <a:bodyPr/>
          <a:lstStyle/>
          <a:p>
            <a:endParaRPr lang="en-US"/>
          </a:p>
        </p:txBody>
      </p:sp>
      <p:sp>
        <p:nvSpPr>
          <p:cNvPr id="39" name="Text 36"/>
          <p:cNvSpPr/>
          <p:nvPr/>
        </p:nvSpPr>
        <p:spPr>
          <a:xfrm>
            <a:off x="932688" y="5074920"/>
            <a:ext cx="731520" cy="146304"/>
          </a:xfrm>
          <a:prstGeom prst="rect">
            <a:avLst/>
          </a:prstGeom>
          <a:noFill/>
          <a:ln/>
        </p:spPr>
        <p:txBody>
          <a:bodyPr wrap="square" lIns="0" tIns="0" rIns="0" bIns="0" rtlCol="0" anchor="ctr"/>
          <a:lstStyle/>
          <a:p>
            <a:pPr marL="0" indent="0">
              <a:buNone/>
            </a:pPr>
            <a:r>
              <a:rPr lang="en-US" sz="1050" b="1" dirty="0">
                <a:solidFill>
                  <a:srgbClr val="6EE7A0"/>
                </a:solidFill>
                <a:latin typeface="Aptos" pitchFamily="34" charset="0"/>
                <a:ea typeface="Aptos" pitchFamily="34" charset="-122"/>
                <a:cs typeface="Aptos" pitchFamily="34" charset="-120"/>
              </a:rPr>
              <a:t>Outcome</a:t>
            </a:r>
            <a:endParaRPr lang="en-US" sz="1050" dirty="0"/>
          </a:p>
        </p:txBody>
      </p:sp>
      <p:sp>
        <p:nvSpPr>
          <p:cNvPr id="40" name="Text 37"/>
          <p:cNvSpPr/>
          <p:nvPr/>
        </p:nvSpPr>
        <p:spPr>
          <a:xfrm>
            <a:off x="1828800" y="5056632"/>
            <a:ext cx="8961120" cy="164592"/>
          </a:xfrm>
          <a:prstGeom prst="rect">
            <a:avLst/>
          </a:prstGeom>
          <a:noFill/>
          <a:ln/>
        </p:spPr>
        <p:txBody>
          <a:bodyPr wrap="square" lIns="0" tIns="0" rIns="0" bIns="0" rtlCol="0" anchor="ctr"/>
          <a:lstStyle/>
          <a:p>
            <a:pPr marL="0" indent="0">
              <a:buNone/>
            </a:pPr>
            <a:r>
              <a:rPr lang="en-US" sz="1200" dirty="0">
                <a:solidFill>
                  <a:srgbClr val="1C1414"/>
                </a:solidFill>
                <a:latin typeface="Aptos" pitchFamily="34" charset="0"/>
                <a:ea typeface="Aptos" pitchFamily="34" charset="-122"/>
                <a:cs typeface="Aptos" pitchFamily="34" charset="-120"/>
              </a:rPr>
              <a:t>Every output can be traced to its prompt, supporting evidence, consensus path, and final confidence score.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38BDF8"/>
          </a:solidFill>
          <a:ln w="12700">
            <a:solidFill>
              <a:srgbClr val="38BDF8"/>
            </a:solidFill>
            <a:prstDash val="solid"/>
          </a:ln>
        </p:spPr>
        <p:txBody>
          <a:bodyPr/>
          <a:lstStyle/>
          <a:p>
            <a:endParaRPr lang="en-US"/>
          </a:p>
        </p:txBody>
      </p:sp>
      <p:sp>
        <p:nvSpPr>
          <p:cNvPr id="3" name="Shape 1"/>
          <p:cNvSpPr/>
          <p:nvPr/>
        </p:nvSpPr>
        <p:spPr>
          <a:xfrm>
            <a:off x="10012680" y="0"/>
            <a:ext cx="2179015" cy="128016"/>
          </a:xfrm>
          <a:prstGeom prst="rect">
            <a:avLst/>
          </a:prstGeom>
          <a:solidFill>
            <a:srgbClr val="E5A932"/>
          </a:solidFill>
          <a:ln w="12700">
            <a:solidFill>
              <a:srgbClr val="E5A932"/>
            </a:solidFill>
            <a:prstDash val="solid"/>
          </a:ln>
        </p:spPr>
        <p:txBody>
          <a:bodyPr/>
          <a:lstStyle/>
          <a:p>
            <a:endParaRPr lang="en-US"/>
          </a:p>
        </p:txBody>
      </p:sp>
      <p:sp>
        <p:nvSpPr>
          <p:cNvPr id="4" name="Text 2"/>
          <p:cNvSpPr/>
          <p:nvPr/>
        </p:nvSpPr>
        <p:spPr>
          <a:xfrm>
            <a:off x="438912" y="6437376"/>
            <a:ext cx="1645920" cy="146304"/>
          </a:xfrm>
          <a:prstGeom prst="rect">
            <a:avLst/>
          </a:prstGeom>
          <a:noFill/>
          <a:ln/>
        </p:spPr>
        <p:txBody>
          <a:bodyPr wrap="square" lIns="0" tIns="0" rIns="0" bIns="0" rtlCol="0" anchor="ctr"/>
          <a:lstStyle/>
          <a:p>
            <a:pPr marL="0" indent="0">
              <a:buNone/>
            </a:pPr>
            <a:r>
              <a:rPr lang="en-US" sz="880" b="1" dirty="0">
                <a:solidFill>
                  <a:srgbClr val="1C1414"/>
                </a:solidFill>
                <a:latin typeface="Aptos" pitchFamily="34" charset="0"/>
                <a:ea typeface="Aptos" pitchFamily="34" charset="-122"/>
                <a:cs typeface="Aptos" pitchFamily="34" charset="-120"/>
              </a:rPr>
              <a:t>Techpigeon</a:t>
            </a:r>
            <a:endParaRPr lang="en-US" sz="880" dirty="0"/>
          </a:p>
        </p:txBody>
      </p:sp>
      <p:sp>
        <p:nvSpPr>
          <p:cNvPr id="5" name="Text 3"/>
          <p:cNvSpPr/>
          <p:nvPr/>
        </p:nvSpPr>
        <p:spPr>
          <a:xfrm>
            <a:off x="1920240" y="6437376"/>
            <a:ext cx="1828800" cy="146304"/>
          </a:xfrm>
          <a:prstGeom prst="rect">
            <a:avLst/>
          </a:prstGeom>
          <a:noFill/>
          <a:ln/>
        </p:spPr>
        <p:txBody>
          <a:bodyPr wrap="square" lIns="0" tIns="0" rIns="0" bIns="0" rtlCol="0" anchor="ctr"/>
          <a:lstStyle/>
          <a:p>
            <a:pPr marL="0" indent="0">
              <a:buNone/>
            </a:pPr>
            <a:r>
              <a:rPr lang="en-US" sz="880" dirty="0">
                <a:solidFill>
                  <a:srgbClr val="5F6A6A"/>
                </a:solidFill>
                <a:latin typeface="Aptos" pitchFamily="34" charset="0"/>
                <a:ea typeface="Aptos" pitchFamily="34" charset="-122"/>
                <a:cs typeface="Aptos" pitchFamily="34" charset="-120"/>
              </a:rPr>
              <a:t>NovusSparks AI</a:t>
            </a:r>
            <a:endParaRPr lang="en-US" sz="880" dirty="0"/>
          </a:p>
        </p:txBody>
      </p:sp>
      <p:sp>
        <p:nvSpPr>
          <p:cNvPr id="6" name="Text 4"/>
          <p:cNvSpPr/>
          <p:nvPr/>
        </p:nvSpPr>
        <p:spPr>
          <a:xfrm>
            <a:off x="8732520" y="6437376"/>
            <a:ext cx="2926080" cy="146304"/>
          </a:xfrm>
          <a:prstGeom prst="rect">
            <a:avLst/>
          </a:prstGeom>
          <a:noFill/>
          <a:ln/>
        </p:spPr>
        <p:txBody>
          <a:bodyPr wrap="square" lIns="0" tIns="0" rIns="0" bIns="0" rtlCol="0" anchor="ctr"/>
          <a:lstStyle/>
          <a:p>
            <a:pPr marL="0" indent="0" algn="r">
              <a:buNone/>
            </a:pPr>
            <a:r>
              <a:rPr lang="en-US" sz="880" dirty="0">
                <a:solidFill>
                  <a:srgbClr val="5F6A6A"/>
                </a:solidFill>
                <a:latin typeface="Aptos" pitchFamily="34" charset="0"/>
                <a:ea typeface="Aptos" pitchFamily="34" charset="-122"/>
                <a:cs typeface="Aptos" pitchFamily="34" charset="-120"/>
              </a:rPr>
              <a:t>AWS Activate via Spendbase</a:t>
            </a:r>
            <a:endParaRPr lang="en-US" sz="880" dirty="0"/>
          </a:p>
        </p:txBody>
      </p:sp>
      <p:pic>
        <p:nvPicPr>
          <p:cNvPr id="7" name="Image 0" descr="D:\ai-powered-techpigeon\src\assets\images\novussparks-logo-1200.png"/>
          <p:cNvPicPr>
            <a:picLocks noChangeAspect="1"/>
          </p:cNvPicPr>
          <p:nvPr/>
        </p:nvPicPr>
        <p:blipFill>
          <a:blip r:embed="rId3"/>
          <a:stretch>
            <a:fillRect/>
          </a:stretch>
        </p:blipFill>
        <p:spPr>
          <a:xfrm>
            <a:off x="9189720" y="329184"/>
            <a:ext cx="2240280" cy="713232"/>
          </a:xfrm>
          <a:prstGeom prst="rect">
            <a:avLst/>
          </a:prstGeom>
        </p:spPr>
      </p:pic>
      <p:sp>
        <p:nvSpPr>
          <p:cNvPr id="8" name="Text 5"/>
          <p:cNvSpPr/>
          <p:nvPr/>
        </p:nvSpPr>
        <p:spPr>
          <a:xfrm>
            <a:off x="658368" y="640080"/>
            <a:ext cx="7772400" cy="603504"/>
          </a:xfrm>
          <a:prstGeom prst="rect">
            <a:avLst/>
          </a:prstGeom>
          <a:noFill/>
          <a:ln/>
        </p:spPr>
        <p:txBody>
          <a:bodyPr wrap="square" lIns="0" tIns="0" rIns="0" bIns="0" rtlCol="0" anchor="ctr"/>
          <a:lstStyle/>
          <a:p>
            <a:pPr marL="0" indent="0">
              <a:buNone/>
            </a:pPr>
            <a:r>
              <a:rPr lang="en-US" sz="2250" b="1" dirty="0">
                <a:solidFill>
                  <a:srgbClr val="1C1414"/>
                </a:solidFill>
                <a:latin typeface="Aptos Display" pitchFamily="34" charset="0"/>
                <a:ea typeface="Aptos Display" pitchFamily="34" charset="-122"/>
                <a:cs typeface="Aptos Display" pitchFamily="34" charset="-120"/>
              </a:rPr>
              <a:t>Engineered for the strictest compliance standards.</a:t>
            </a:r>
            <a:endParaRPr lang="en-US" sz="2250" dirty="0"/>
          </a:p>
        </p:txBody>
      </p:sp>
      <p:sp>
        <p:nvSpPr>
          <p:cNvPr id="9" name="Text 6"/>
          <p:cNvSpPr/>
          <p:nvPr/>
        </p:nvSpPr>
        <p:spPr>
          <a:xfrm>
            <a:off x="676656" y="1207008"/>
            <a:ext cx="8229600" cy="384048"/>
          </a:xfrm>
          <a:prstGeom prst="rect">
            <a:avLst/>
          </a:prstGeom>
          <a:noFill/>
          <a:ln/>
        </p:spPr>
        <p:txBody>
          <a:bodyPr wrap="square" lIns="0" tIns="0" rIns="0" bIns="0" rtlCol="0" anchor="ctr"/>
          <a:lstStyle/>
          <a:p>
            <a:pPr marL="0" indent="0">
              <a:buNone/>
            </a:pPr>
            <a:r>
              <a:rPr lang="en-US" sz="1150" dirty="0">
                <a:solidFill>
                  <a:srgbClr val="5F6A6A"/>
                </a:solidFill>
                <a:latin typeface="Aptos" pitchFamily="34" charset="0"/>
                <a:ea typeface="Aptos" pitchFamily="34" charset="-122"/>
                <a:cs typeface="Aptos" pitchFamily="34" charset="-120"/>
              </a:rPr>
              <a:t>Ensure your entire AI workflow stays governed from prompt to PDF.</a:t>
            </a:r>
            <a:endParaRPr lang="en-US" sz="1150" dirty="0"/>
          </a:p>
        </p:txBody>
      </p:sp>
      <p:sp>
        <p:nvSpPr>
          <p:cNvPr id="10" name="Shape 7"/>
          <p:cNvSpPr/>
          <p:nvPr/>
        </p:nvSpPr>
        <p:spPr>
          <a:xfrm>
            <a:off x="676656" y="1737360"/>
            <a:ext cx="4892040" cy="4526280"/>
          </a:xfrm>
          <a:prstGeom prst="roundRect">
            <a:avLst>
              <a:gd name="adj" fmla="val 1616"/>
            </a:avLst>
          </a:prstGeom>
          <a:solidFill>
            <a:srgbClr val="F0FAF5"/>
          </a:solidFill>
          <a:ln w="12700">
            <a:solidFill>
              <a:srgbClr val="38BDF8"/>
            </a:solidFill>
            <a:prstDash val="solid"/>
          </a:ln>
          <a:effectLst>
            <a:outerShdw blurRad="12700" dist="50800" dir="2700000" algn="bl" rotWithShape="0">
              <a:srgbClr val="DDECF3">
                <a:alpha val="12000"/>
              </a:srgbClr>
            </a:outerShdw>
          </a:effectLst>
        </p:spPr>
        <p:txBody>
          <a:bodyPr/>
          <a:lstStyle/>
          <a:p>
            <a:endParaRPr lang="en-US"/>
          </a:p>
        </p:txBody>
      </p:sp>
      <p:sp>
        <p:nvSpPr>
          <p:cNvPr id="11" name="Shape 8"/>
          <p:cNvSpPr/>
          <p:nvPr/>
        </p:nvSpPr>
        <p:spPr>
          <a:xfrm>
            <a:off x="694944" y="1755648"/>
            <a:ext cx="4855464" cy="54864"/>
          </a:xfrm>
          <a:prstGeom prst="rect">
            <a:avLst/>
          </a:prstGeom>
          <a:solidFill>
            <a:srgbClr val="38BDF8"/>
          </a:solidFill>
          <a:ln w="12700">
            <a:solidFill>
              <a:srgbClr val="38BDF8"/>
            </a:solidFill>
            <a:prstDash val="solid"/>
          </a:ln>
        </p:spPr>
        <p:txBody>
          <a:bodyPr/>
          <a:lstStyle/>
          <a:p>
            <a:endParaRPr lang="en-US"/>
          </a:p>
        </p:txBody>
      </p:sp>
      <p:sp>
        <p:nvSpPr>
          <p:cNvPr id="12" name="Text 9"/>
          <p:cNvSpPr/>
          <p:nvPr/>
        </p:nvSpPr>
        <p:spPr>
          <a:xfrm>
            <a:off x="914400" y="2057400"/>
            <a:ext cx="4297680" cy="2377440"/>
          </a:xfrm>
          <a:prstGeom prst="rect">
            <a:avLst/>
          </a:prstGeom>
          <a:noFill/>
          <a:ln/>
        </p:spPr>
        <p:txBody>
          <a:bodyPr wrap="square" lIns="762" tIns="762" rIns="762" bIns="762" rtlCol="0" anchor="ctr"/>
          <a:lstStyle/>
          <a:p>
            <a:pPr marL="152400" indent="-152400">
              <a:buSzPct val="100000"/>
              <a:buChar char="•"/>
            </a:pPr>
            <a:r>
              <a:rPr lang="en-US" sz="1260" dirty="0">
                <a:solidFill>
                  <a:srgbClr val="1C1414"/>
                </a:solidFill>
                <a:latin typeface="Aptos" pitchFamily="34" charset="0"/>
                <a:ea typeface="Aptos" pitchFamily="34" charset="-122"/>
                <a:cs typeface="Aptos" pitchFamily="34" charset="-120"/>
              </a:rPr>
              <a:t>Exportable PDF and PPTX audit summaries for enterprise review.
</a:t>
            </a:r>
            <a:endParaRPr lang="en-US" sz="1260" dirty="0"/>
          </a:p>
          <a:p>
            <a:pPr marL="152400" indent="-152400">
              <a:buSzPct val="100000"/>
              <a:buChar char="•"/>
            </a:pPr>
            <a:r>
              <a:rPr lang="en-US" sz="1260" dirty="0">
                <a:solidFill>
                  <a:srgbClr val="1C1414"/>
                </a:solidFill>
                <a:latin typeface="Aptos" pitchFamily="34" charset="0"/>
                <a:ea typeface="Aptos" pitchFamily="34" charset="-122"/>
                <a:cs typeface="Aptos" pitchFamily="34" charset="-120"/>
              </a:rPr>
              <a:t>Source-verification visibility so teams can inspect every evidence path.
</a:t>
            </a:r>
            <a:endParaRPr lang="en-US" sz="1260" dirty="0"/>
          </a:p>
          <a:p>
            <a:pPr marL="152400" indent="-152400">
              <a:buSzPct val="100000"/>
              <a:buChar char="•"/>
            </a:pPr>
            <a:r>
              <a:rPr lang="en-US" sz="1260" dirty="0">
                <a:solidFill>
                  <a:srgbClr val="1C1414"/>
                </a:solidFill>
                <a:latin typeface="Aptos" pitchFamily="34" charset="0"/>
                <a:ea typeface="Aptos" pitchFamily="34" charset="-122"/>
                <a:cs typeface="Aptos" pitchFamily="34" charset="-120"/>
              </a:rPr>
              <a:t>Profile-versioned review scoring across teams, iterations, and workspaces.</a:t>
            </a:r>
            <a:endParaRPr lang="en-US" sz="1260" dirty="0"/>
          </a:p>
        </p:txBody>
      </p:sp>
      <p:sp>
        <p:nvSpPr>
          <p:cNvPr id="13" name="Text 10"/>
          <p:cNvSpPr/>
          <p:nvPr/>
        </p:nvSpPr>
        <p:spPr>
          <a:xfrm>
            <a:off x="932688" y="5074920"/>
            <a:ext cx="4206240" cy="164592"/>
          </a:xfrm>
          <a:prstGeom prst="rect">
            <a:avLst/>
          </a:prstGeom>
          <a:noFill/>
          <a:ln/>
        </p:spPr>
        <p:txBody>
          <a:bodyPr wrap="square" lIns="0" tIns="0" rIns="0" bIns="0" rtlCol="0" anchor="ctr"/>
          <a:lstStyle/>
          <a:p>
            <a:pPr marL="0" indent="0">
              <a:buNone/>
            </a:pPr>
            <a:r>
              <a:rPr lang="en-US" sz="1080" b="1" dirty="0">
                <a:solidFill>
                  <a:srgbClr val="E5A932"/>
                </a:solidFill>
                <a:latin typeface="Aptos" pitchFamily="34" charset="0"/>
                <a:ea typeface="Aptos" pitchFamily="34" charset="-122"/>
                <a:cs typeface="Aptos" pitchFamily="34" charset="-120"/>
              </a:rPr>
              <a:t>Designed to clear procurement, governance, and security objections faster.</a:t>
            </a:r>
            <a:endParaRPr lang="en-US" sz="1080" dirty="0"/>
          </a:p>
        </p:txBody>
      </p:sp>
      <p:sp>
        <p:nvSpPr>
          <p:cNvPr id="14" name="Shape 11"/>
          <p:cNvSpPr/>
          <p:nvPr/>
        </p:nvSpPr>
        <p:spPr>
          <a:xfrm>
            <a:off x="5879592" y="1737360"/>
            <a:ext cx="5650992" cy="4526280"/>
          </a:xfrm>
          <a:prstGeom prst="roundRect">
            <a:avLst>
              <a:gd name="adj" fmla="val 1616"/>
            </a:avLst>
          </a:prstGeom>
          <a:solidFill>
            <a:srgbClr val="FFFFFF"/>
          </a:solidFill>
          <a:ln w="12700">
            <a:solidFill>
              <a:srgbClr val="DDD6D2"/>
            </a:solidFill>
            <a:prstDash val="solid"/>
          </a:ln>
          <a:effectLst>
            <a:outerShdw blurRad="12700" dist="50800" dir="2700000" algn="bl" rotWithShape="0">
              <a:srgbClr val="DDECF3">
                <a:alpha val="12000"/>
              </a:srgbClr>
            </a:outerShdw>
          </a:effectLst>
        </p:spPr>
        <p:txBody>
          <a:bodyPr/>
          <a:lstStyle/>
          <a:p>
            <a:endParaRPr lang="en-US"/>
          </a:p>
        </p:txBody>
      </p:sp>
      <p:sp>
        <p:nvSpPr>
          <p:cNvPr id="15" name="Shape 12"/>
          <p:cNvSpPr/>
          <p:nvPr/>
        </p:nvSpPr>
        <p:spPr>
          <a:xfrm>
            <a:off x="5897880" y="1755648"/>
            <a:ext cx="5614416" cy="54864"/>
          </a:xfrm>
          <a:prstGeom prst="rect">
            <a:avLst/>
          </a:prstGeom>
          <a:solidFill>
            <a:srgbClr val="E5A932"/>
          </a:solidFill>
          <a:ln w="12700">
            <a:solidFill>
              <a:srgbClr val="E5A932"/>
            </a:solidFill>
            <a:prstDash val="solid"/>
          </a:ln>
        </p:spPr>
        <p:txBody>
          <a:bodyPr/>
          <a:lstStyle/>
          <a:p>
            <a:endParaRPr lang="en-US"/>
          </a:p>
        </p:txBody>
      </p:sp>
      <p:sp>
        <p:nvSpPr>
          <p:cNvPr id="16" name="Text 13"/>
          <p:cNvSpPr/>
          <p:nvPr/>
        </p:nvSpPr>
        <p:spPr>
          <a:xfrm>
            <a:off x="6144768" y="1956816"/>
            <a:ext cx="1645920" cy="164592"/>
          </a:xfrm>
          <a:prstGeom prst="rect">
            <a:avLst/>
          </a:prstGeom>
          <a:noFill/>
          <a:ln/>
        </p:spPr>
        <p:txBody>
          <a:bodyPr wrap="square" lIns="0" tIns="0" rIns="0" bIns="0" rtlCol="0" anchor="ctr"/>
          <a:lstStyle/>
          <a:p>
            <a:pPr marL="0" indent="0">
              <a:buNone/>
            </a:pPr>
            <a:r>
              <a:rPr lang="en-US" sz="1600" b="1" dirty="0">
                <a:solidFill>
                  <a:srgbClr val="1C1414"/>
                </a:solidFill>
                <a:latin typeface="Aptos Display" pitchFamily="34" charset="0"/>
                <a:ea typeface="Aptos Display" pitchFamily="34" charset="-122"/>
                <a:cs typeface="Aptos Display" pitchFamily="34" charset="-120"/>
              </a:rPr>
              <a:t>Trust Center</a:t>
            </a:r>
            <a:endParaRPr lang="en-US" sz="1600" dirty="0"/>
          </a:p>
        </p:txBody>
      </p:sp>
      <p:sp>
        <p:nvSpPr>
          <p:cNvPr id="17" name="Text 14"/>
          <p:cNvSpPr/>
          <p:nvPr/>
        </p:nvSpPr>
        <p:spPr>
          <a:xfrm>
            <a:off x="6144768" y="2176272"/>
            <a:ext cx="2011680" cy="146304"/>
          </a:xfrm>
          <a:prstGeom prst="rect">
            <a:avLst/>
          </a:prstGeom>
          <a:noFill/>
          <a:ln/>
        </p:spPr>
        <p:txBody>
          <a:bodyPr wrap="square" lIns="0" tIns="0" rIns="0" bIns="0" rtlCol="0" anchor="ctr"/>
          <a:lstStyle/>
          <a:p>
            <a:pPr marL="0" indent="0">
              <a:buNone/>
            </a:pPr>
            <a:r>
              <a:rPr lang="en-US" sz="1020" dirty="0">
                <a:solidFill>
                  <a:srgbClr val="5F6A6A"/>
                </a:solidFill>
                <a:latin typeface="Aptos" pitchFamily="34" charset="0"/>
                <a:ea typeface="Aptos" pitchFamily="34" charset="-122"/>
                <a:cs typeface="Aptos" pitchFamily="34" charset="-120"/>
              </a:rPr>
              <a:t>Generated report preview</a:t>
            </a:r>
            <a:endParaRPr lang="en-US" sz="1020" dirty="0"/>
          </a:p>
        </p:txBody>
      </p:sp>
      <p:sp>
        <p:nvSpPr>
          <p:cNvPr id="18" name="Shape 15"/>
          <p:cNvSpPr/>
          <p:nvPr/>
        </p:nvSpPr>
        <p:spPr>
          <a:xfrm>
            <a:off x="6291072" y="2560320"/>
            <a:ext cx="2286000" cy="2743200"/>
          </a:xfrm>
          <a:prstGeom prst="roundRect">
            <a:avLst>
              <a:gd name="adj" fmla="val 3200"/>
            </a:avLst>
          </a:prstGeom>
          <a:solidFill>
            <a:srgbClr val="EAF8FE"/>
          </a:solidFill>
          <a:ln w="12700">
            <a:solidFill>
              <a:srgbClr val="38BDF8"/>
            </a:solidFill>
            <a:prstDash val="solid"/>
          </a:ln>
          <a:effectLst>
            <a:outerShdw blurRad="12700" dist="50800" dir="2700000" algn="bl" rotWithShape="0">
              <a:srgbClr val="DDECF3">
                <a:alpha val="12000"/>
              </a:srgbClr>
            </a:outerShdw>
          </a:effectLst>
        </p:spPr>
        <p:txBody>
          <a:bodyPr/>
          <a:lstStyle/>
          <a:p>
            <a:endParaRPr lang="en-US"/>
          </a:p>
        </p:txBody>
      </p:sp>
      <p:sp>
        <p:nvSpPr>
          <p:cNvPr id="19" name="Text 16"/>
          <p:cNvSpPr/>
          <p:nvPr/>
        </p:nvSpPr>
        <p:spPr>
          <a:xfrm>
            <a:off x="7168896" y="2816352"/>
            <a:ext cx="530352" cy="164592"/>
          </a:xfrm>
          <a:prstGeom prst="rect">
            <a:avLst/>
          </a:prstGeom>
          <a:noFill/>
          <a:ln/>
        </p:spPr>
        <p:txBody>
          <a:bodyPr wrap="square" lIns="0" tIns="0" rIns="0" bIns="0" rtlCol="0" anchor="ctr"/>
          <a:lstStyle/>
          <a:p>
            <a:pPr marL="0" indent="0" algn="ctr">
              <a:buNone/>
            </a:pPr>
            <a:r>
              <a:rPr lang="en-US" sz="1600" b="1" dirty="0">
                <a:solidFill>
                  <a:srgbClr val="38BDF8"/>
                </a:solidFill>
                <a:latin typeface="Aptos Display" pitchFamily="34" charset="0"/>
                <a:ea typeface="Aptos Display" pitchFamily="34" charset="-122"/>
                <a:cs typeface="Aptos Display" pitchFamily="34" charset="-120"/>
              </a:rPr>
              <a:t>PDF</a:t>
            </a:r>
            <a:endParaRPr lang="en-US" sz="1600" dirty="0"/>
          </a:p>
        </p:txBody>
      </p:sp>
      <p:sp>
        <p:nvSpPr>
          <p:cNvPr id="20" name="Text 17"/>
          <p:cNvSpPr/>
          <p:nvPr/>
        </p:nvSpPr>
        <p:spPr>
          <a:xfrm>
            <a:off x="6601968" y="4709160"/>
            <a:ext cx="1691640" cy="146304"/>
          </a:xfrm>
          <a:prstGeom prst="rect">
            <a:avLst/>
          </a:prstGeom>
          <a:noFill/>
          <a:ln/>
        </p:spPr>
        <p:txBody>
          <a:bodyPr wrap="square" lIns="0" tIns="0" rIns="0" bIns="0" rtlCol="0" anchor="ctr"/>
          <a:lstStyle/>
          <a:p>
            <a:pPr marL="0" indent="0" algn="ctr">
              <a:buNone/>
            </a:pPr>
            <a:r>
              <a:rPr lang="en-US" sz="1020" b="1" dirty="0">
                <a:solidFill>
                  <a:srgbClr val="1C1414"/>
                </a:solidFill>
                <a:latin typeface="Aptos" pitchFamily="34" charset="0"/>
                <a:ea typeface="Aptos" pitchFamily="34" charset="-122"/>
                <a:cs typeface="Aptos" pitchFamily="34" charset="-120"/>
              </a:rPr>
              <a:t>Evidence Ledger</a:t>
            </a:r>
            <a:endParaRPr lang="en-US" sz="1020" dirty="0"/>
          </a:p>
        </p:txBody>
      </p:sp>
      <p:sp>
        <p:nvSpPr>
          <p:cNvPr id="21" name="Shape 18"/>
          <p:cNvSpPr/>
          <p:nvPr/>
        </p:nvSpPr>
        <p:spPr>
          <a:xfrm>
            <a:off x="8924544" y="2578608"/>
            <a:ext cx="2139696" cy="768096"/>
          </a:xfrm>
          <a:prstGeom prst="roundRect">
            <a:avLst>
              <a:gd name="adj" fmla="val 9524"/>
            </a:avLst>
          </a:prstGeom>
          <a:solidFill>
            <a:srgbClr val="F0FAF5"/>
          </a:solidFill>
          <a:ln w="12700">
            <a:solidFill>
              <a:srgbClr val="6EE7A0"/>
            </a:solidFill>
            <a:prstDash val="solid"/>
          </a:ln>
          <a:effectLst>
            <a:outerShdw blurRad="12700" dist="50800" dir="2700000" algn="bl" rotWithShape="0">
              <a:srgbClr val="DDECF3">
                <a:alpha val="12000"/>
              </a:srgbClr>
            </a:outerShdw>
          </a:effectLst>
        </p:spPr>
        <p:txBody>
          <a:bodyPr/>
          <a:lstStyle/>
          <a:p>
            <a:endParaRPr lang="en-US"/>
          </a:p>
        </p:txBody>
      </p:sp>
      <p:sp>
        <p:nvSpPr>
          <p:cNvPr id="22" name="Shape 19"/>
          <p:cNvSpPr/>
          <p:nvPr/>
        </p:nvSpPr>
        <p:spPr>
          <a:xfrm>
            <a:off x="8942832" y="2596896"/>
            <a:ext cx="73152" cy="731520"/>
          </a:xfrm>
          <a:prstGeom prst="rect">
            <a:avLst/>
          </a:prstGeom>
          <a:solidFill>
            <a:srgbClr val="6EE7A0"/>
          </a:solidFill>
          <a:ln w="12700">
            <a:solidFill>
              <a:srgbClr val="6EE7A0"/>
            </a:solidFill>
            <a:prstDash val="solid"/>
          </a:ln>
        </p:spPr>
        <p:txBody>
          <a:bodyPr/>
          <a:lstStyle/>
          <a:p>
            <a:endParaRPr lang="en-US"/>
          </a:p>
        </p:txBody>
      </p:sp>
      <p:sp>
        <p:nvSpPr>
          <p:cNvPr id="23" name="Text 20"/>
          <p:cNvSpPr/>
          <p:nvPr/>
        </p:nvSpPr>
        <p:spPr>
          <a:xfrm>
            <a:off x="9162288" y="2779776"/>
            <a:ext cx="1097280" cy="128016"/>
          </a:xfrm>
          <a:prstGeom prst="rect">
            <a:avLst/>
          </a:prstGeom>
          <a:noFill/>
          <a:ln/>
        </p:spPr>
        <p:txBody>
          <a:bodyPr wrap="square" lIns="0" tIns="0" rIns="0" bIns="0" rtlCol="0" anchor="ctr"/>
          <a:lstStyle/>
          <a:p>
            <a:pPr marL="0" indent="0">
              <a:buNone/>
            </a:pPr>
            <a:r>
              <a:rPr lang="en-US" sz="940" dirty="0">
                <a:solidFill>
                  <a:srgbClr val="5F6A6A"/>
                </a:solidFill>
                <a:latin typeface="Aptos" pitchFamily="34" charset="0"/>
                <a:ea typeface="Aptos" pitchFamily="34" charset="-122"/>
                <a:cs typeface="Aptos" pitchFamily="34" charset="-120"/>
              </a:rPr>
              <a:t>Confidence Score</a:t>
            </a:r>
            <a:endParaRPr lang="en-US" sz="940" dirty="0"/>
          </a:p>
        </p:txBody>
      </p:sp>
      <p:sp>
        <p:nvSpPr>
          <p:cNvPr id="24" name="Text 21"/>
          <p:cNvSpPr/>
          <p:nvPr/>
        </p:nvSpPr>
        <p:spPr>
          <a:xfrm>
            <a:off x="10012680" y="2743200"/>
            <a:ext cx="731520" cy="164592"/>
          </a:xfrm>
          <a:prstGeom prst="rect">
            <a:avLst/>
          </a:prstGeom>
          <a:noFill/>
          <a:ln/>
        </p:spPr>
        <p:txBody>
          <a:bodyPr wrap="square" lIns="0" tIns="0" rIns="0" bIns="0" rtlCol="0" anchor="ctr"/>
          <a:lstStyle/>
          <a:p>
            <a:pPr marL="0" indent="0">
              <a:buNone/>
            </a:pPr>
            <a:r>
              <a:rPr lang="en-US" sz="1550" b="1" dirty="0">
                <a:solidFill>
                  <a:srgbClr val="1C1414"/>
                </a:solidFill>
                <a:latin typeface="Aptos Display" pitchFamily="34" charset="0"/>
                <a:ea typeface="Aptos Display" pitchFamily="34" charset="-122"/>
                <a:cs typeface="Aptos Display" pitchFamily="34" charset="-120"/>
              </a:rPr>
              <a:t>94%</a:t>
            </a:r>
            <a:endParaRPr lang="en-US" sz="1550" dirty="0"/>
          </a:p>
        </p:txBody>
      </p:sp>
      <p:sp>
        <p:nvSpPr>
          <p:cNvPr id="25" name="Shape 22"/>
          <p:cNvSpPr/>
          <p:nvPr/>
        </p:nvSpPr>
        <p:spPr>
          <a:xfrm>
            <a:off x="8924544" y="3657600"/>
            <a:ext cx="2139696" cy="768096"/>
          </a:xfrm>
          <a:prstGeom prst="roundRect">
            <a:avLst>
              <a:gd name="adj" fmla="val 9524"/>
            </a:avLst>
          </a:prstGeom>
          <a:solidFill>
            <a:srgbClr val="F0FAF5"/>
          </a:solidFill>
          <a:ln w="12700">
            <a:solidFill>
              <a:srgbClr val="38BDF8"/>
            </a:solidFill>
            <a:prstDash val="solid"/>
          </a:ln>
          <a:effectLst>
            <a:outerShdw blurRad="12700" dist="50800" dir="2700000" algn="bl" rotWithShape="0">
              <a:srgbClr val="DDECF3">
                <a:alpha val="12000"/>
              </a:srgbClr>
            </a:outerShdw>
          </a:effectLst>
        </p:spPr>
        <p:txBody>
          <a:bodyPr/>
          <a:lstStyle/>
          <a:p>
            <a:endParaRPr lang="en-US"/>
          </a:p>
        </p:txBody>
      </p:sp>
      <p:sp>
        <p:nvSpPr>
          <p:cNvPr id="26" name="Shape 23"/>
          <p:cNvSpPr/>
          <p:nvPr/>
        </p:nvSpPr>
        <p:spPr>
          <a:xfrm>
            <a:off x="8942832" y="3675888"/>
            <a:ext cx="73152" cy="731520"/>
          </a:xfrm>
          <a:prstGeom prst="rect">
            <a:avLst/>
          </a:prstGeom>
          <a:solidFill>
            <a:srgbClr val="38BDF8"/>
          </a:solidFill>
          <a:ln w="12700">
            <a:solidFill>
              <a:srgbClr val="38BDF8"/>
            </a:solidFill>
            <a:prstDash val="solid"/>
          </a:ln>
        </p:spPr>
        <p:txBody>
          <a:bodyPr/>
          <a:lstStyle/>
          <a:p>
            <a:endParaRPr lang="en-US"/>
          </a:p>
        </p:txBody>
      </p:sp>
      <p:sp>
        <p:nvSpPr>
          <p:cNvPr id="27" name="Text 24"/>
          <p:cNvSpPr/>
          <p:nvPr/>
        </p:nvSpPr>
        <p:spPr>
          <a:xfrm>
            <a:off x="9162288" y="3858768"/>
            <a:ext cx="1097280" cy="128016"/>
          </a:xfrm>
          <a:prstGeom prst="rect">
            <a:avLst/>
          </a:prstGeom>
          <a:noFill/>
          <a:ln/>
        </p:spPr>
        <p:txBody>
          <a:bodyPr wrap="square" lIns="0" tIns="0" rIns="0" bIns="0" rtlCol="0" anchor="ctr"/>
          <a:lstStyle/>
          <a:p>
            <a:pPr marL="0" indent="0">
              <a:buNone/>
            </a:pPr>
            <a:r>
              <a:rPr lang="en-US" sz="940" dirty="0">
                <a:solidFill>
                  <a:srgbClr val="5F6A6A"/>
                </a:solidFill>
                <a:latin typeface="Aptos" pitchFamily="34" charset="0"/>
                <a:ea typeface="Aptos" pitchFamily="34" charset="-122"/>
                <a:cs typeface="Aptos" pitchFamily="34" charset="-120"/>
              </a:rPr>
              <a:t>Sources Verified</a:t>
            </a:r>
            <a:endParaRPr lang="en-US" sz="940" dirty="0"/>
          </a:p>
        </p:txBody>
      </p:sp>
      <p:sp>
        <p:nvSpPr>
          <p:cNvPr id="28" name="Text 25"/>
          <p:cNvSpPr/>
          <p:nvPr/>
        </p:nvSpPr>
        <p:spPr>
          <a:xfrm>
            <a:off x="10012680" y="3822192"/>
            <a:ext cx="731520" cy="164592"/>
          </a:xfrm>
          <a:prstGeom prst="rect">
            <a:avLst/>
          </a:prstGeom>
          <a:noFill/>
          <a:ln/>
        </p:spPr>
        <p:txBody>
          <a:bodyPr wrap="square" lIns="0" tIns="0" rIns="0" bIns="0" rtlCol="0" anchor="ctr"/>
          <a:lstStyle/>
          <a:p>
            <a:pPr marL="0" indent="0">
              <a:buNone/>
            </a:pPr>
            <a:r>
              <a:rPr lang="en-US" sz="1550" b="1" dirty="0">
                <a:solidFill>
                  <a:srgbClr val="1C1414"/>
                </a:solidFill>
                <a:latin typeface="Aptos Display" pitchFamily="34" charset="0"/>
                <a:ea typeface="Aptos Display" pitchFamily="34" charset="-122"/>
                <a:cs typeface="Aptos Display" pitchFamily="34" charset="-120"/>
              </a:rPr>
              <a:t>12/12</a:t>
            </a:r>
            <a:endParaRPr lang="en-US" sz="1550" dirty="0"/>
          </a:p>
        </p:txBody>
      </p:sp>
      <p:sp>
        <p:nvSpPr>
          <p:cNvPr id="29" name="Shape 26"/>
          <p:cNvSpPr/>
          <p:nvPr/>
        </p:nvSpPr>
        <p:spPr>
          <a:xfrm>
            <a:off x="8924544" y="4736592"/>
            <a:ext cx="2139696" cy="768096"/>
          </a:xfrm>
          <a:prstGeom prst="roundRect">
            <a:avLst>
              <a:gd name="adj" fmla="val 9524"/>
            </a:avLst>
          </a:prstGeom>
          <a:solidFill>
            <a:srgbClr val="F0FAF5"/>
          </a:solidFill>
          <a:ln w="12700">
            <a:solidFill>
              <a:srgbClr val="E5A932"/>
            </a:solidFill>
            <a:prstDash val="solid"/>
          </a:ln>
          <a:effectLst>
            <a:outerShdw blurRad="12700" dist="50800" dir="2700000" algn="bl" rotWithShape="0">
              <a:srgbClr val="DDECF3">
                <a:alpha val="12000"/>
              </a:srgbClr>
            </a:outerShdw>
          </a:effectLst>
        </p:spPr>
        <p:txBody>
          <a:bodyPr/>
          <a:lstStyle/>
          <a:p>
            <a:endParaRPr lang="en-US"/>
          </a:p>
        </p:txBody>
      </p:sp>
      <p:sp>
        <p:nvSpPr>
          <p:cNvPr id="30" name="Shape 27"/>
          <p:cNvSpPr/>
          <p:nvPr/>
        </p:nvSpPr>
        <p:spPr>
          <a:xfrm>
            <a:off x="8942832" y="4754880"/>
            <a:ext cx="73152" cy="731520"/>
          </a:xfrm>
          <a:prstGeom prst="rect">
            <a:avLst/>
          </a:prstGeom>
          <a:solidFill>
            <a:srgbClr val="E5A932"/>
          </a:solidFill>
          <a:ln w="12700">
            <a:solidFill>
              <a:srgbClr val="E5A932"/>
            </a:solidFill>
            <a:prstDash val="solid"/>
          </a:ln>
        </p:spPr>
        <p:txBody>
          <a:bodyPr/>
          <a:lstStyle/>
          <a:p>
            <a:endParaRPr lang="en-US"/>
          </a:p>
        </p:txBody>
      </p:sp>
      <p:sp>
        <p:nvSpPr>
          <p:cNvPr id="31" name="Text 28"/>
          <p:cNvSpPr/>
          <p:nvPr/>
        </p:nvSpPr>
        <p:spPr>
          <a:xfrm>
            <a:off x="9162288" y="4937760"/>
            <a:ext cx="914400" cy="128016"/>
          </a:xfrm>
          <a:prstGeom prst="rect">
            <a:avLst/>
          </a:prstGeom>
          <a:noFill/>
          <a:ln/>
        </p:spPr>
        <p:txBody>
          <a:bodyPr wrap="square" lIns="0" tIns="0" rIns="0" bIns="0" rtlCol="0" anchor="ctr"/>
          <a:lstStyle/>
          <a:p>
            <a:pPr marL="0" indent="0">
              <a:buNone/>
            </a:pPr>
            <a:r>
              <a:rPr lang="en-US" sz="940" dirty="0">
                <a:solidFill>
                  <a:srgbClr val="5F6A6A"/>
                </a:solidFill>
                <a:latin typeface="Aptos" pitchFamily="34" charset="0"/>
                <a:ea typeface="Aptos" pitchFamily="34" charset="-122"/>
                <a:cs typeface="Aptos" pitchFamily="34" charset="-120"/>
              </a:rPr>
              <a:t>Compliance</a:t>
            </a:r>
            <a:endParaRPr lang="en-US" sz="940" dirty="0"/>
          </a:p>
        </p:txBody>
      </p:sp>
      <p:sp>
        <p:nvSpPr>
          <p:cNvPr id="32" name="Text 29"/>
          <p:cNvSpPr/>
          <p:nvPr/>
        </p:nvSpPr>
        <p:spPr>
          <a:xfrm>
            <a:off x="10012680" y="4901184"/>
            <a:ext cx="731520" cy="164592"/>
          </a:xfrm>
          <a:prstGeom prst="rect">
            <a:avLst/>
          </a:prstGeom>
          <a:noFill/>
          <a:ln/>
        </p:spPr>
        <p:txBody>
          <a:bodyPr wrap="square" lIns="0" tIns="0" rIns="0" bIns="0" rtlCol="0" anchor="ctr"/>
          <a:lstStyle/>
          <a:p>
            <a:pPr marL="0" indent="0">
              <a:buNone/>
            </a:pPr>
            <a:r>
              <a:rPr lang="en-US" sz="1550" b="1" dirty="0">
                <a:solidFill>
                  <a:srgbClr val="22C55E"/>
                </a:solidFill>
                <a:latin typeface="Aptos Display" pitchFamily="34" charset="0"/>
                <a:ea typeface="Aptos Display" pitchFamily="34" charset="-122"/>
                <a:cs typeface="Aptos Display" pitchFamily="34" charset="-120"/>
              </a:rPr>
              <a:t>PASS</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38BDF8"/>
          </a:solidFill>
          <a:ln w="12700">
            <a:solidFill>
              <a:srgbClr val="38BDF8"/>
            </a:solidFill>
            <a:prstDash val="solid"/>
          </a:ln>
        </p:spPr>
        <p:txBody>
          <a:bodyPr/>
          <a:lstStyle/>
          <a:p>
            <a:endParaRPr lang="en-US"/>
          </a:p>
        </p:txBody>
      </p:sp>
      <p:sp>
        <p:nvSpPr>
          <p:cNvPr id="3" name="Shape 1"/>
          <p:cNvSpPr/>
          <p:nvPr/>
        </p:nvSpPr>
        <p:spPr>
          <a:xfrm>
            <a:off x="10012680" y="0"/>
            <a:ext cx="2179015" cy="128016"/>
          </a:xfrm>
          <a:prstGeom prst="rect">
            <a:avLst/>
          </a:prstGeom>
          <a:solidFill>
            <a:srgbClr val="E5A932"/>
          </a:solidFill>
          <a:ln w="12700">
            <a:solidFill>
              <a:srgbClr val="E5A932"/>
            </a:solidFill>
            <a:prstDash val="solid"/>
          </a:ln>
        </p:spPr>
        <p:txBody>
          <a:bodyPr/>
          <a:lstStyle/>
          <a:p>
            <a:endParaRPr lang="en-US"/>
          </a:p>
        </p:txBody>
      </p:sp>
      <p:sp>
        <p:nvSpPr>
          <p:cNvPr id="4" name="Text 2"/>
          <p:cNvSpPr/>
          <p:nvPr/>
        </p:nvSpPr>
        <p:spPr>
          <a:xfrm>
            <a:off x="438912" y="6437376"/>
            <a:ext cx="1645920" cy="146304"/>
          </a:xfrm>
          <a:prstGeom prst="rect">
            <a:avLst/>
          </a:prstGeom>
          <a:noFill/>
          <a:ln/>
        </p:spPr>
        <p:txBody>
          <a:bodyPr wrap="square" lIns="0" tIns="0" rIns="0" bIns="0" rtlCol="0" anchor="ctr"/>
          <a:lstStyle/>
          <a:p>
            <a:pPr marL="0" indent="0">
              <a:buNone/>
            </a:pPr>
            <a:r>
              <a:rPr lang="en-US" sz="880" b="1" dirty="0">
                <a:solidFill>
                  <a:srgbClr val="1C1414"/>
                </a:solidFill>
                <a:latin typeface="Aptos" pitchFamily="34" charset="0"/>
                <a:ea typeface="Aptos" pitchFamily="34" charset="-122"/>
                <a:cs typeface="Aptos" pitchFamily="34" charset="-120"/>
              </a:rPr>
              <a:t>Techpigeon</a:t>
            </a:r>
            <a:endParaRPr lang="en-US" sz="880" dirty="0"/>
          </a:p>
        </p:txBody>
      </p:sp>
      <p:sp>
        <p:nvSpPr>
          <p:cNvPr id="5" name="Text 3"/>
          <p:cNvSpPr/>
          <p:nvPr/>
        </p:nvSpPr>
        <p:spPr>
          <a:xfrm>
            <a:off x="1920240" y="6437376"/>
            <a:ext cx="1828800" cy="146304"/>
          </a:xfrm>
          <a:prstGeom prst="rect">
            <a:avLst/>
          </a:prstGeom>
          <a:noFill/>
          <a:ln/>
        </p:spPr>
        <p:txBody>
          <a:bodyPr wrap="square" lIns="0" tIns="0" rIns="0" bIns="0" rtlCol="0" anchor="ctr"/>
          <a:lstStyle/>
          <a:p>
            <a:pPr marL="0" indent="0">
              <a:buNone/>
            </a:pPr>
            <a:r>
              <a:rPr lang="en-US" sz="880" dirty="0">
                <a:solidFill>
                  <a:srgbClr val="5F6A6A"/>
                </a:solidFill>
                <a:latin typeface="Aptos" pitchFamily="34" charset="0"/>
                <a:ea typeface="Aptos" pitchFamily="34" charset="-122"/>
                <a:cs typeface="Aptos" pitchFamily="34" charset="-120"/>
              </a:rPr>
              <a:t>NovusSparks AI</a:t>
            </a:r>
            <a:endParaRPr lang="en-US" sz="880" dirty="0"/>
          </a:p>
        </p:txBody>
      </p:sp>
      <p:sp>
        <p:nvSpPr>
          <p:cNvPr id="6" name="Text 4"/>
          <p:cNvSpPr/>
          <p:nvPr/>
        </p:nvSpPr>
        <p:spPr>
          <a:xfrm>
            <a:off x="8732520" y="6437376"/>
            <a:ext cx="2926080" cy="146304"/>
          </a:xfrm>
          <a:prstGeom prst="rect">
            <a:avLst/>
          </a:prstGeom>
          <a:noFill/>
          <a:ln/>
        </p:spPr>
        <p:txBody>
          <a:bodyPr wrap="square" lIns="0" tIns="0" rIns="0" bIns="0" rtlCol="0" anchor="ctr"/>
          <a:lstStyle/>
          <a:p>
            <a:pPr marL="0" indent="0" algn="r">
              <a:buNone/>
            </a:pPr>
            <a:r>
              <a:rPr lang="en-US" sz="880" dirty="0">
                <a:solidFill>
                  <a:srgbClr val="5F6A6A"/>
                </a:solidFill>
                <a:latin typeface="Aptos" pitchFamily="34" charset="0"/>
                <a:ea typeface="Aptos" pitchFamily="34" charset="-122"/>
                <a:cs typeface="Aptos" pitchFamily="34" charset="-120"/>
              </a:rPr>
              <a:t>AWS Activate via Spendbase</a:t>
            </a:r>
            <a:endParaRPr lang="en-US" sz="880" dirty="0"/>
          </a:p>
        </p:txBody>
      </p:sp>
      <p:pic>
        <p:nvPicPr>
          <p:cNvPr id="7" name="Image 0" descr="D:\ai-powered-techpigeon\src\assets\images\novussparks-logo-1200.png"/>
          <p:cNvPicPr>
            <a:picLocks noChangeAspect="1"/>
          </p:cNvPicPr>
          <p:nvPr/>
        </p:nvPicPr>
        <p:blipFill>
          <a:blip r:embed="rId3"/>
          <a:stretch>
            <a:fillRect/>
          </a:stretch>
        </p:blipFill>
        <p:spPr>
          <a:xfrm>
            <a:off x="9189720" y="329184"/>
            <a:ext cx="2240280" cy="713232"/>
          </a:xfrm>
          <a:prstGeom prst="rect">
            <a:avLst/>
          </a:prstGeom>
        </p:spPr>
      </p:pic>
      <p:sp>
        <p:nvSpPr>
          <p:cNvPr id="8" name="Text 5"/>
          <p:cNvSpPr/>
          <p:nvPr/>
        </p:nvSpPr>
        <p:spPr>
          <a:xfrm>
            <a:off x="658368" y="640080"/>
            <a:ext cx="7772400" cy="603504"/>
          </a:xfrm>
          <a:prstGeom prst="rect">
            <a:avLst/>
          </a:prstGeom>
          <a:noFill/>
          <a:ln/>
        </p:spPr>
        <p:txBody>
          <a:bodyPr wrap="square" lIns="0" tIns="0" rIns="0" bIns="0" rtlCol="0" anchor="ctr"/>
          <a:lstStyle/>
          <a:p>
            <a:pPr marL="0" indent="0">
              <a:buNone/>
            </a:pPr>
            <a:r>
              <a:rPr lang="en-US" sz="2200" b="1" dirty="0">
                <a:solidFill>
                  <a:srgbClr val="1C1414"/>
                </a:solidFill>
                <a:latin typeface="Aptos Display" pitchFamily="34" charset="0"/>
                <a:ea typeface="Aptos Display" pitchFamily="34" charset="-122"/>
                <a:cs typeface="Aptos Display" pitchFamily="34" charset="-120"/>
              </a:rPr>
              <a:t>Tailored AI capabilities to accelerate your sector's hardest challenges.</a:t>
            </a:r>
            <a:endParaRPr lang="en-US" sz="2200" dirty="0"/>
          </a:p>
        </p:txBody>
      </p:sp>
      <p:sp>
        <p:nvSpPr>
          <p:cNvPr id="9" name="Text 6"/>
          <p:cNvSpPr/>
          <p:nvPr/>
        </p:nvSpPr>
        <p:spPr>
          <a:xfrm>
            <a:off x="676656" y="1207008"/>
            <a:ext cx="8229600" cy="384048"/>
          </a:xfrm>
          <a:prstGeom prst="rect">
            <a:avLst/>
          </a:prstGeom>
          <a:noFill/>
          <a:ln/>
        </p:spPr>
        <p:txBody>
          <a:bodyPr wrap="square" lIns="0" tIns="0" rIns="0" bIns="0" rtlCol="0" anchor="ctr"/>
          <a:lstStyle/>
          <a:p>
            <a:pPr marL="0" indent="0">
              <a:buNone/>
            </a:pPr>
            <a:r>
              <a:rPr lang="en-US" sz="1150" dirty="0">
                <a:solidFill>
                  <a:srgbClr val="5F6A6A"/>
                </a:solidFill>
                <a:latin typeface="Aptos" pitchFamily="34" charset="0"/>
                <a:ea typeface="Aptos" pitchFamily="34" charset="-122"/>
                <a:cs typeface="Aptos" pitchFamily="34" charset="-120"/>
              </a:rPr>
              <a:t>A shared governed core with vertical workflows for high-value use cases.</a:t>
            </a:r>
            <a:endParaRPr lang="en-US" sz="1150" dirty="0"/>
          </a:p>
        </p:txBody>
      </p:sp>
      <p:sp>
        <p:nvSpPr>
          <p:cNvPr id="10" name="Shape 7"/>
          <p:cNvSpPr/>
          <p:nvPr/>
        </p:nvSpPr>
        <p:spPr>
          <a:xfrm>
            <a:off x="676656" y="1783080"/>
            <a:ext cx="5376672" cy="1572768"/>
          </a:xfrm>
          <a:prstGeom prst="roundRect">
            <a:avLst>
              <a:gd name="adj" fmla="val 4651"/>
            </a:avLst>
          </a:prstGeom>
          <a:solidFill>
            <a:srgbClr val="F0FAF5"/>
          </a:solidFill>
          <a:ln w="12700">
            <a:solidFill>
              <a:srgbClr val="38BDF8"/>
            </a:solidFill>
            <a:prstDash val="solid"/>
          </a:ln>
          <a:effectLst>
            <a:outerShdw blurRad="12700" dist="50800" dir="2700000" algn="bl" rotWithShape="0">
              <a:srgbClr val="DDECF3">
                <a:alpha val="12000"/>
              </a:srgbClr>
            </a:outerShdw>
          </a:effectLst>
        </p:spPr>
        <p:txBody>
          <a:bodyPr/>
          <a:lstStyle/>
          <a:p>
            <a:endParaRPr lang="en-US"/>
          </a:p>
        </p:txBody>
      </p:sp>
      <p:sp>
        <p:nvSpPr>
          <p:cNvPr id="11" name="Shape 8"/>
          <p:cNvSpPr/>
          <p:nvPr/>
        </p:nvSpPr>
        <p:spPr>
          <a:xfrm>
            <a:off x="694944" y="1801368"/>
            <a:ext cx="73152" cy="1536192"/>
          </a:xfrm>
          <a:prstGeom prst="rect">
            <a:avLst/>
          </a:prstGeom>
          <a:solidFill>
            <a:srgbClr val="38BDF8"/>
          </a:solidFill>
          <a:ln w="12700">
            <a:solidFill>
              <a:srgbClr val="38BDF8"/>
            </a:solidFill>
            <a:prstDash val="solid"/>
          </a:ln>
        </p:spPr>
        <p:txBody>
          <a:bodyPr/>
          <a:lstStyle/>
          <a:p>
            <a:endParaRPr lang="en-US"/>
          </a:p>
        </p:txBody>
      </p:sp>
      <p:sp>
        <p:nvSpPr>
          <p:cNvPr id="12" name="Text 9"/>
          <p:cNvSpPr/>
          <p:nvPr/>
        </p:nvSpPr>
        <p:spPr>
          <a:xfrm>
            <a:off x="896112" y="2039112"/>
            <a:ext cx="2834640" cy="164592"/>
          </a:xfrm>
          <a:prstGeom prst="rect">
            <a:avLst/>
          </a:prstGeom>
          <a:noFill/>
          <a:ln/>
        </p:spPr>
        <p:txBody>
          <a:bodyPr wrap="square" lIns="0" tIns="0" rIns="0" bIns="0" rtlCol="0" anchor="ctr"/>
          <a:lstStyle/>
          <a:p>
            <a:pPr marL="0" indent="0">
              <a:buNone/>
            </a:pPr>
            <a:r>
              <a:rPr lang="en-US" sz="1500" b="1" dirty="0">
                <a:solidFill>
                  <a:srgbClr val="1C1414"/>
                </a:solidFill>
                <a:latin typeface="Aptos" pitchFamily="34" charset="0"/>
                <a:ea typeface="Aptos" pitchFamily="34" charset="-122"/>
                <a:cs typeface="Aptos" pitchFamily="34" charset="-120"/>
              </a:rPr>
              <a:t>Financial Services</a:t>
            </a:r>
            <a:endParaRPr lang="en-US" sz="1500" dirty="0"/>
          </a:p>
        </p:txBody>
      </p:sp>
      <p:sp>
        <p:nvSpPr>
          <p:cNvPr id="13" name="Text 10"/>
          <p:cNvSpPr/>
          <p:nvPr/>
        </p:nvSpPr>
        <p:spPr>
          <a:xfrm>
            <a:off x="896112" y="2350008"/>
            <a:ext cx="4663440" cy="457200"/>
          </a:xfrm>
          <a:prstGeom prst="rect">
            <a:avLst/>
          </a:prstGeom>
          <a:noFill/>
          <a:ln/>
        </p:spPr>
        <p:txBody>
          <a:bodyPr wrap="square" lIns="0" tIns="0" rIns="0" bIns="0" rtlCol="0" anchor="ctr">
            <a:normAutofit/>
          </a:bodyPr>
          <a:lstStyle/>
          <a:p>
            <a:pPr marL="0" indent="0">
              <a:buNone/>
            </a:pPr>
            <a:r>
              <a:rPr lang="en-US" sz="1100" dirty="0">
                <a:solidFill>
                  <a:srgbClr val="5F6A6A"/>
                </a:solidFill>
                <a:latin typeface="Aptos" pitchFamily="34" charset="0"/>
                <a:ea typeface="Aptos" pitchFamily="34" charset="-122"/>
                <a:cs typeface="Aptos" pitchFamily="34" charset="-120"/>
              </a:rPr>
              <a:t>Automate risk and compliance workflows with evidence-backed outputs.</a:t>
            </a:r>
            <a:endParaRPr lang="en-US" sz="1100" dirty="0"/>
          </a:p>
        </p:txBody>
      </p:sp>
      <p:sp>
        <p:nvSpPr>
          <p:cNvPr id="14" name="Text 11"/>
          <p:cNvSpPr/>
          <p:nvPr/>
        </p:nvSpPr>
        <p:spPr>
          <a:xfrm>
            <a:off x="4471416" y="2953512"/>
            <a:ext cx="1234440" cy="128016"/>
          </a:xfrm>
          <a:prstGeom prst="rect">
            <a:avLst/>
          </a:prstGeom>
          <a:noFill/>
          <a:ln/>
        </p:spPr>
        <p:txBody>
          <a:bodyPr wrap="square" lIns="0" tIns="0" rIns="0" bIns="0" rtlCol="0" anchor="ctr"/>
          <a:lstStyle/>
          <a:p>
            <a:pPr marL="0" indent="0" algn="r">
              <a:buNone/>
            </a:pPr>
            <a:r>
              <a:rPr lang="en-US" sz="980" b="1" dirty="0">
                <a:solidFill>
                  <a:srgbClr val="38BDF8"/>
                </a:solidFill>
                <a:latin typeface="Aptos" pitchFamily="34" charset="0"/>
                <a:ea typeface="Aptos" pitchFamily="34" charset="-122"/>
                <a:cs typeface="Aptos" pitchFamily="34" charset="-120"/>
              </a:rPr>
              <a:t>Enterprise-ready</a:t>
            </a:r>
            <a:endParaRPr lang="en-US" sz="980" dirty="0"/>
          </a:p>
        </p:txBody>
      </p:sp>
      <p:sp>
        <p:nvSpPr>
          <p:cNvPr id="15" name="Shape 12"/>
          <p:cNvSpPr/>
          <p:nvPr/>
        </p:nvSpPr>
        <p:spPr>
          <a:xfrm>
            <a:off x="6163056" y="1783080"/>
            <a:ext cx="5376672" cy="1572768"/>
          </a:xfrm>
          <a:prstGeom prst="roundRect">
            <a:avLst>
              <a:gd name="adj" fmla="val 4651"/>
            </a:avLst>
          </a:prstGeom>
          <a:solidFill>
            <a:srgbClr val="F0FAF5"/>
          </a:solidFill>
          <a:ln w="12700">
            <a:solidFill>
              <a:srgbClr val="6EE7A0"/>
            </a:solidFill>
            <a:prstDash val="solid"/>
          </a:ln>
          <a:effectLst>
            <a:outerShdw blurRad="12700" dist="50800" dir="2700000" algn="bl" rotWithShape="0">
              <a:srgbClr val="DDECF3">
                <a:alpha val="12000"/>
              </a:srgbClr>
            </a:outerShdw>
          </a:effectLst>
        </p:spPr>
        <p:txBody>
          <a:bodyPr/>
          <a:lstStyle/>
          <a:p>
            <a:endParaRPr lang="en-US"/>
          </a:p>
        </p:txBody>
      </p:sp>
      <p:sp>
        <p:nvSpPr>
          <p:cNvPr id="16" name="Shape 13"/>
          <p:cNvSpPr/>
          <p:nvPr/>
        </p:nvSpPr>
        <p:spPr>
          <a:xfrm>
            <a:off x="6181344" y="1801368"/>
            <a:ext cx="73152" cy="1536192"/>
          </a:xfrm>
          <a:prstGeom prst="rect">
            <a:avLst/>
          </a:prstGeom>
          <a:solidFill>
            <a:srgbClr val="6EE7A0"/>
          </a:solidFill>
          <a:ln w="12700">
            <a:solidFill>
              <a:srgbClr val="6EE7A0"/>
            </a:solidFill>
            <a:prstDash val="solid"/>
          </a:ln>
        </p:spPr>
        <p:txBody>
          <a:bodyPr/>
          <a:lstStyle/>
          <a:p>
            <a:endParaRPr lang="en-US"/>
          </a:p>
        </p:txBody>
      </p:sp>
      <p:sp>
        <p:nvSpPr>
          <p:cNvPr id="17" name="Text 14"/>
          <p:cNvSpPr/>
          <p:nvPr/>
        </p:nvSpPr>
        <p:spPr>
          <a:xfrm>
            <a:off x="6382512" y="2039112"/>
            <a:ext cx="2834640" cy="164592"/>
          </a:xfrm>
          <a:prstGeom prst="rect">
            <a:avLst/>
          </a:prstGeom>
          <a:noFill/>
          <a:ln/>
        </p:spPr>
        <p:txBody>
          <a:bodyPr wrap="square" lIns="0" tIns="0" rIns="0" bIns="0" rtlCol="0" anchor="ctr"/>
          <a:lstStyle/>
          <a:p>
            <a:pPr marL="0" indent="0">
              <a:buNone/>
            </a:pPr>
            <a:r>
              <a:rPr lang="en-US" sz="1500" b="1" dirty="0">
                <a:solidFill>
                  <a:srgbClr val="1C1414"/>
                </a:solidFill>
                <a:latin typeface="Aptos" pitchFamily="34" charset="0"/>
                <a:ea typeface="Aptos" pitchFamily="34" charset="-122"/>
                <a:cs typeface="Aptos" pitchFamily="34" charset="-120"/>
              </a:rPr>
              <a:t>Healthcare</a:t>
            </a:r>
            <a:endParaRPr lang="en-US" sz="1500" dirty="0"/>
          </a:p>
        </p:txBody>
      </p:sp>
      <p:sp>
        <p:nvSpPr>
          <p:cNvPr id="18" name="Text 15"/>
          <p:cNvSpPr/>
          <p:nvPr/>
        </p:nvSpPr>
        <p:spPr>
          <a:xfrm>
            <a:off x="6382512" y="2350008"/>
            <a:ext cx="4663440" cy="457200"/>
          </a:xfrm>
          <a:prstGeom prst="rect">
            <a:avLst/>
          </a:prstGeom>
          <a:noFill/>
          <a:ln/>
        </p:spPr>
        <p:txBody>
          <a:bodyPr wrap="square" lIns="0" tIns="0" rIns="0" bIns="0" rtlCol="0" anchor="ctr">
            <a:normAutofit/>
          </a:bodyPr>
          <a:lstStyle/>
          <a:p>
            <a:pPr marL="0" indent="0">
              <a:buNone/>
            </a:pPr>
            <a:r>
              <a:rPr lang="en-US" sz="1100" dirty="0">
                <a:solidFill>
                  <a:srgbClr val="5F6A6A"/>
                </a:solidFill>
                <a:latin typeface="Aptos" pitchFamily="34" charset="0"/>
                <a:ea typeface="Aptos" pitchFamily="34" charset="-122"/>
                <a:cs typeface="Aptos" pitchFamily="34" charset="-120"/>
              </a:rPr>
              <a:t>Synthesize medical literature and internal guidance into reviewable recommendations.</a:t>
            </a:r>
            <a:endParaRPr lang="en-US" sz="1100" dirty="0"/>
          </a:p>
        </p:txBody>
      </p:sp>
      <p:sp>
        <p:nvSpPr>
          <p:cNvPr id="19" name="Text 16"/>
          <p:cNvSpPr/>
          <p:nvPr/>
        </p:nvSpPr>
        <p:spPr>
          <a:xfrm>
            <a:off x="9957816" y="2953512"/>
            <a:ext cx="1234440" cy="128016"/>
          </a:xfrm>
          <a:prstGeom prst="rect">
            <a:avLst/>
          </a:prstGeom>
          <a:noFill/>
          <a:ln/>
        </p:spPr>
        <p:txBody>
          <a:bodyPr wrap="square" lIns="0" tIns="0" rIns="0" bIns="0" rtlCol="0" anchor="ctr"/>
          <a:lstStyle/>
          <a:p>
            <a:pPr marL="0" indent="0" algn="r">
              <a:buNone/>
            </a:pPr>
            <a:r>
              <a:rPr lang="en-US" sz="980" b="1" dirty="0">
                <a:solidFill>
                  <a:srgbClr val="6EE7A0"/>
                </a:solidFill>
                <a:latin typeface="Aptos" pitchFamily="34" charset="0"/>
                <a:ea typeface="Aptos" pitchFamily="34" charset="-122"/>
                <a:cs typeface="Aptos" pitchFamily="34" charset="-120"/>
              </a:rPr>
              <a:t>Enterprise-ready</a:t>
            </a:r>
            <a:endParaRPr lang="en-US" sz="980" dirty="0"/>
          </a:p>
        </p:txBody>
      </p:sp>
      <p:sp>
        <p:nvSpPr>
          <p:cNvPr id="20" name="Shape 17"/>
          <p:cNvSpPr/>
          <p:nvPr/>
        </p:nvSpPr>
        <p:spPr>
          <a:xfrm>
            <a:off x="676656" y="3803904"/>
            <a:ext cx="5376672" cy="1572768"/>
          </a:xfrm>
          <a:prstGeom prst="roundRect">
            <a:avLst>
              <a:gd name="adj" fmla="val 4651"/>
            </a:avLst>
          </a:prstGeom>
          <a:solidFill>
            <a:srgbClr val="F0FAF5"/>
          </a:solidFill>
          <a:ln w="12700">
            <a:solidFill>
              <a:srgbClr val="E5A932"/>
            </a:solidFill>
            <a:prstDash val="solid"/>
          </a:ln>
          <a:effectLst>
            <a:outerShdw blurRad="12700" dist="50800" dir="2700000" algn="bl" rotWithShape="0">
              <a:srgbClr val="DDECF3">
                <a:alpha val="12000"/>
              </a:srgbClr>
            </a:outerShdw>
          </a:effectLst>
        </p:spPr>
        <p:txBody>
          <a:bodyPr/>
          <a:lstStyle/>
          <a:p>
            <a:endParaRPr lang="en-US"/>
          </a:p>
        </p:txBody>
      </p:sp>
      <p:sp>
        <p:nvSpPr>
          <p:cNvPr id="21" name="Shape 18"/>
          <p:cNvSpPr/>
          <p:nvPr/>
        </p:nvSpPr>
        <p:spPr>
          <a:xfrm>
            <a:off x="694944" y="3822192"/>
            <a:ext cx="73152" cy="1536192"/>
          </a:xfrm>
          <a:prstGeom prst="rect">
            <a:avLst/>
          </a:prstGeom>
          <a:solidFill>
            <a:srgbClr val="E5A932"/>
          </a:solidFill>
          <a:ln w="12700">
            <a:solidFill>
              <a:srgbClr val="E5A932"/>
            </a:solidFill>
            <a:prstDash val="solid"/>
          </a:ln>
        </p:spPr>
        <p:txBody>
          <a:bodyPr/>
          <a:lstStyle/>
          <a:p>
            <a:endParaRPr lang="en-US"/>
          </a:p>
        </p:txBody>
      </p:sp>
      <p:sp>
        <p:nvSpPr>
          <p:cNvPr id="22" name="Text 19"/>
          <p:cNvSpPr/>
          <p:nvPr/>
        </p:nvSpPr>
        <p:spPr>
          <a:xfrm>
            <a:off x="896112" y="4059936"/>
            <a:ext cx="2834640" cy="164592"/>
          </a:xfrm>
          <a:prstGeom prst="rect">
            <a:avLst/>
          </a:prstGeom>
          <a:noFill/>
          <a:ln/>
        </p:spPr>
        <p:txBody>
          <a:bodyPr wrap="square" lIns="0" tIns="0" rIns="0" bIns="0" rtlCol="0" anchor="ctr"/>
          <a:lstStyle/>
          <a:p>
            <a:pPr marL="0" indent="0">
              <a:buNone/>
            </a:pPr>
            <a:r>
              <a:rPr lang="en-US" sz="1500" b="1" dirty="0">
                <a:solidFill>
                  <a:srgbClr val="1C1414"/>
                </a:solidFill>
                <a:latin typeface="Aptos" pitchFamily="34" charset="0"/>
                <a:ea typeface="Aptos" pitchFamily="34" charset="-122"/>
                <a:cs typeface="Aptos" pitchFamily="34" charset="-120"/>
              </a:rPr>
              <a:t>Enterprise Ops</a:t>
            </a:r>
            <a:endParaRPr lang="en-US" sz="1500" dirty="0"/>
          </a:p>
        </p:txBody>
      </p:sp>
      <p:sp>
        <p:nvSpPr>
          <p:cNvPr id="23" name="Text 20"/>
          <p:cNvSpPr/>
          <p:nvPr/>
        </p:nvSpPr>
        <p:spPr>
          <a:xfrm>
            <a:off x="896112" y="4370832"/>
            <a:ext cx="4663440" cy="457200"/>
          </a:xfrm>
          <a:prstGeom prst="rect">
            <a:avLst/>
          </a:prstGeom>
          <a:noFill/>
          <a:ln/>
        </p:spPr>
        <p:txBody>
          <a:bodyPr wrap="square" lIns="0" tIns="0" rIns="0" bIns="0" rtlCol="0" anchor="ctr">
            <a:normAutofit/>
          </a:bodyPr>
          <a:lstStyle/>
          <a:p>
            <a:pPr marL="0" indent="0">
              <a:buNone/>
            </a:pPr>
            <a:r>
              <a:rPr lang="en-US" sz="1100" dirty="0">
                <a:solidFill>
                  <a:srgbClr val="5F6A6A"/>
                </a:solidFill>
                <a:latin typeface="Aptos" pitchFamily="34" charset="0"/>
                <a:ea typeface="Aptos" pitchFamily="34" charset="-122"/>
                <a:cs typeface="Aptos" pitchFamily="34" charset="-120"/>
              </a:rPr>
              <a:t>Stand up custom isolated knowledge bases for secure cross-functional execution.</a:t>
            </a:r>
            <a:endParaRPr lang="en-US" sz="1100" dirty="0"/>
          </a:p>
        </p:txBody>
      </p:sp>
      <p:sp>
        <p:nvSpPr>
          <p:cNvPr id="24" name="Text 21"/>
          <p:cNvSpPr/>
          <p:nvPr/>
        </p:nvSpPr>
        <p:spPr>
          <a:xfrm>
            <a:off x="4471416" y="4974336"/>
            <a:ext cx="1234440" cy="128016"/>
          </a:xfrm>
          <a:prstGeom prst="rect">
            <a:avLst/>
          </a:prstGeom>
          <a:noFill/>
          <a:ln/>
        </p:spPr>
        <p:txBody>
          <a:bodyPr wrap="square" lIns="0" tIns="0" rIns="0" bIns="0" rtlCol="0" anchor="ctr"/>
          <a:lstStyle/>
          <a:p>
            <a:pPr marL="0" indent="0" algn="r">
              <a:buNone/>
            </a:pPr>
            <a:r>
              <a:rPr lang="en-US" sz="980" b="1" dirty="0">
                <a:solidFill>
                  <a:srgbClr val="E5A932"/>
                </a:solidFill>
                <a:latin typeface="Aptos" pitchFamily="34" charset="0"/>
                <a:ea typeface="Aptos" pitchFamily="34" charset="-122"/>
                <a:cs typeface="Aptos" pitchFamily="34" charset="-120"/>
              </a:rPr>
              <a:t>Enterprise-ready</a:t>
            </a:r>
            <a:endParaRPr lang="en-US" sz="980" dirty="0"/>
          </a:p>
        </p:txBody>
      </p:sp>
      <p:sp>
        <p:nvSpPr>
          <p:cNvPr id="25" name="Shape 22"/>
          <p:cNvSpPr/>
          <p:nvPr/>
        </p:nvSpPr>
        <p:spPr>
          <a:xfrm>
            <a:off x="6163056" y="3803904"/>
            <a:ext cx="5376672" cy="1572768"/>
          </a:xfrm>
          <a:prstGeom prst="roundRect">
            <a:avLst>
              <a:gd name="adj" fmla="val 4651"/>
            </a:avLst>
          </a:prstGeom>
          <a:solidFill>
            <a:srgbClr val="F0FAF5"/>
          </a:solidFill>
          <a:ln w="12700">
            <a:solidFill>
              <a:srgbClr val="38BDF8"/>
            </a:solidFill>
            <a:prstDash val="solid"/>
          </a:ln>
          <a:effectLst>
            <a:outerShdw blurRad="12700" dist="50800" dir="2700000" algn="bl" rotWithShape="0">
              <a:srgbClr val="DDECF3">
                <a:alpha val="12000"/>
              </a:srgbClr>
            </a:outerShdw>
          </a:effectLst>
        </p:spPr>
        <p:txBody>
          <a:bodyPr/>
          <a:lstStyle/>
          <a:p>
            <a:endParaRPr lang="en-US"/>
          </a:p>
        </p:txBody>
      </p:sp>
      <p:sp>
        <p:nvSpPr>
          <p:cNvPr id="26" name="Shape 23"/>
          <p:cNvSpPr/>
          <p:nvPr/>
        </p:nvSpPr>
        <p:spPr>
          <a:xfrm>
            <a:off x="6181344" y="3822192"/>
            <a:ext cx="73152" cy="1536192"/>
          </a:xfrm>
          <a:prstGeom prst="rect">
            <a:avLst/>
          </a:prstGeom>
          <a:solidFill>
            <a:srgbClr val="38BDF8"/>
          </a:solidFill>
          <a:ln w="12700">
            <a:solidFill>
              <a:srgbClr val="38BDF8"/>
            </a:solidFill>
            <a:prstDash val="solid"/>
          </a:ln>
        </p:spPr>
        <p:txBody>
          <a:bodyPr/>
          <a:lstStyle/>
          <a:p>
            <a:endParaRPr lang="en-US"/>
          </a:p>
        </p:txBody>
      </p:sp>
      <p:sp>
        <p:nvSpPr>
          <p:cNvPr id="27" name="Text 24"/>
          <p:cNvSpPr/>
          <p:nvPr/>
        </p:nvSpPr>
        <p:spPr>
          <a:xfrm>
            <a:off x="6382512" y="4059936"/>
            <a:ext cx="2834640" cy="164592"/>
          </a:xfrm>
          <a:prstGeom prst="rect">
            <a:avLst/>
          </a:prstGeom>
          <a:noFill/>
          <a:ln/>
        </p:spPr>
        <p:txBody>
          <a:bodyPr wrap="square" lIns="0" tIns="0" rIns="0" bIns="0" rtlCol="0" anchor="ctr"/>
          <a:lstStyle/>
          <a:p>
            <a:pPr marL="0" indent="0">
              <a:buNone/>
            </a:pPr>
            <a:r>
              <a:rPr lang="en-US" sz="1500" b="1" dirty="0">
                <a:solidFill>
                  <a:srgbClr val="1C1414"/>
                </a:solidFill>
                <a:latin typeface="Aptos" pitchFamily="34" charset="0"/>
                <a:ea typeface="Aptos" pitchFamily="34" charset="-122"/>
                <a:cs typeface="Aptos" pitchFamily="34" charset="-120"/>
              </a:rPr>
              <a:t>Non-Profits &amp; NGOs</a:t>
            </a:r>
            <a:endParaRPr lang="en-US" sz="1500" dirty="0"/>
          </a:p>
        </p:txBody>
      </p:sp>
      <p:sp>
        <p:nvSpPr>
          <p:cNvPr id="28" name="Text 25"/>
          <p:cNvSpPr/>
          <p:nvPr/>
        </p:nvSpPr>
        <p:spPr>
          <a:xfrm>
            <a:off x="6382512" y="4370832"/>
            <a:ext cx="4663440" cy="457200"/>
          </a:xfrm>
          <a:prstGeom prst="rect">
            <a:avLst/>
          </a:prstGeom>
          <a:noFill/>
          <a:ln/>
        </p:spPr>
        <p:txBody>
          <a:bodyPr wrap="square" lIns="0" tIns="0" rIns="0" bIns="0" rtlCol="0" anchor="ctr">
            <a:normAutofit/>
          </a:bodyPr>
          <a:lstStyle/>
          <a:p>
            <a:pPr marL="0" indent="0">
              <a:buNone/>
            </a:pPr>
            <a:r>
              <a:rPr lang="en-US" sz="1100" dirty="0">
                <a:solidFill>
                  <a:srgbClr val="5F6A6A"/>
                </a:solidFill>
                <a:latin typeface="Aptos" pitchFamily="34" charset="0"/>
                <a:ea typeface="Aptos" pitchFamily="34" charset="-122"/>
                <a:cs typeface="Aptos" pitchFamily="34" charset="-120"/>
              </a:rPr>
              <a:t>Accelerate donor analysis, grant writing, and impact reporting with source traceability.</a:t>
            </a:r>
            <a:endParaRPr lang="en-US" sz="1100" dirty="0"/>
          </a:p>
        </p:txBody>
      </p:sp>
      <p:sp>
        <p:nvSpPr>
          <p:cNvPr id="29" name="Text 26"/>
          <p:cNvSpPr/>
          <p:nvPr/>
        </p:nvSpPr>
        <p:spPr>
          <a:xfrm>
            <a:off x="9957816" y="4974336"/>
            <a:ext cx="1234440" cy="128016"/>
          </a:xfrm>
          <a:prstGeom prst="rect">
            <a:avLst/>
          </a:prstGeom>
          <a:noFill/>
          <a:ln/>
        </p:spPr>
        <p:txBody>
          <a:bodyPr wrap="square" lIns="0" tIns="0" rIns="0" bIns="0" rtlCol="0" anchor="ctr"/>
          <a:lstStyle/>
          <a:p>
            <a:pPr marL="0" indent="0" algn="r">
              <a:buNone/>
            </a:pPr>
            <a:r>
              <a:rPr lang="en-US" sz="980" b="1" dirty="0">
                <a:solidFill>
                  <a:srgbClr val="38BDF8"/>
                </a:solidFill>
                <a:latin typeface="Aptos" pitchFamily="34" charset="0"/>
                <a:ea typeface="Aptos" pitchFamily="34" charset="-122"/>
                <a:cs typeface="Aptos" pitchFamily="34" charset="-120"/>
              </a:rPr>
              <a:t>Enterprise-ready</a:t>
            </a:r>
            <a:endParaRPr lang="en-US" sz="9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38BDF8"/>
          </a:solidFill>
          <a:ln w="12700">
            <a:solidFill>
              <a:srgbClr val="38BDF8"/>
            </a:solidFill>
            <a:prstDash val="solid"/>
          </a:ln>
        </p:spPr>
        <p:txBody>
          <a:bodyPr/>
          <a:lstStyle/>
          <a:p>
            <a:endParaRPr lang="en-US"/>
          </a:p>
        </p:txBody>
      </p:sp>
      <p:sp>
        <p:nvSpPr>
          <p:cNvPr id="3" name="Shape 1"/>
          <p:cNvSpPr/>
          <p:nvPr/>
        </p:nvSpPr>
        <p:spPr>
          <a:xfrm>
            <a:off x="10012680" y="0"/>
            <a:ext cx="2179015" cy="128016"/>
          </a:xfrm>
          <a:prstGeom prst="rect">
            <a:avLst/>
          </a:prstGeom>
          <a:solidFill>
            <a:srgbClr val="E5A932"/>
          </a:solidFill>
          <a:ln w="12700">
            <a:solidFill>
              <a:srgbClr val="E5A932"/>
            </a:solidFill>
            <a:prstDash val="solid"/>
          </a:ln>
        </p:spPr>
        <p:txBody>
          <a:bodyPr/>
          <a:lstStyle/>
          <a:p>
            <a:endParaRPr lang="en-US"/>
          </a:p>
        </p:txBody>
      </p:sp>
      <p:sp>
        <p:nvSpPr>
          <p:cNvPr id="4" name="Text 2"/>
          <p:cNvSpPr/>
          <p:nvPr/>
        </p:nvSpPr>
        <p:spPr>
          <a:xfrm>
            <a:off x="438912" y="6437376"/>
            <a:ext cx="1645920" cy="146304"/>
          </a:xfrm>
          <a:prstGeom prst="rect">
            <a:avLst/>
          </a:prstGeom>
          <a:noFill/>
          <a:ln/>
        </p:spPr>
        <p:txBody>
          <a:bodyPr wrap="square" lIns="0" tIns="0" rIns="0" bIns="0" rtlCol="0" anchor="ctr"/>
          <a:lstStyle/>
          <a:p>
            <a:pPr marL="0" indent="0">
              <a:buNone/>
            </a:pPr>
            <a:r>
              <a:rPr lang="en-US" sz="880" b="1" dirty="0">
                <a:solidFill>
                  <a:srgbClr val="1C1414"/>
                </a:solidFill>
                <a:latin typeface="Aptos" pitchFamily="34" charset="0"/>
                <a:ea typeface="Aptos" pitchFamily="34" charset="-122"/>
                <a:cs typeface="Aptos" pitchFamily="34" charset="-120"/>
              </a:rPr>
              <a:t>Techpigeon</a:t>
            </a:r>
            <a:endParaRPr lang="en-US" sz="880" dirty="0"/>
          </a:p>
        </p:txBody>
      </p:sp>
      <p:sp>
        <p:nvSpPr>
          <p:cNvPr id="5" name="Text 3"/>
          <p:cNvSpPr/>
          <p:nvPr/>
        </p:nvSpPr>
        <p:spPr>
          <a:xfrm>
            <a:off x="1920240" y="6437376"/>
            <a:ext cx="1828800" cy="146304"/>
          </a:xfrm>
          <a:prstGeom prst="rect">
            <a:avLst/>
          </a:prstGeom>
          <a:noFill/>
          <a:ln/>
        </p:spPr>
        <p:txBody>
          <a:bodyPr wrap="square" lIns="0" tIns="0" rIns="0" bIns="0" rtlCol="0" anchor="ctr"/>
          <a:lstStyle/>
          <a:p>
            <a:pPr marL="0" indent="0">
              <a:buNone/>
            </a:pPr>
            <a:r>
              <a:rPr lang="en-US" sz="880" dirty="0">
                <a:solidFill>
                  <a:srgbClr val="5F6A6A"/>
                </a:solidFill>
                <a:latin typeface="Aptos" pitchFamily="34" charset="0"/>
                <a:ea typeface="Aptos" pitchFamily="34" charset="-122"/>
                <a:cs typeface="Aptos" pitchFamily="34" charset="-120"/>
              </a:rPr>
              <a:t>NovusSparks AI</a:t>
            </a:r>
            <a:endParaRPr lang="en-US" sz="880" dirty="0"/>
          </a:p>
        </p:txBody>
      </p:sp>
      <p:sp>
        <p:nvSpPr>
          <p:cNvPr id="6" name="Text 4"/>
          <p:cNvSpPr/>
          <p:nvPr/>
        </p:nvSpPr>
        <p:spPr>
          <a:xfrm>
            <a:off x="8732520" y="6437376"/>
            <a:ext cx="2926080" cy="146304"/>
          </a:xfrm>
          <a:prstGeom prst="rect">
            <a:avLst/>
          </a:prstGeom>
          <a:noFill/>
          <a:ln/>
        </p:spPr>
        <p:txBody>
          <a:bodyPr wrap="square" lIns="0" tIns="0" rIns="0" bIns="0" rtlCol="0" anchor="ctr"/>
          <a:lstStyle/>
          <a:p>
            <a:pPr marL="0" indent="0" algn="r">
              <a:buNone/>
            </a:pPr>
            <a:r>
              <a:rPr lang="en-US" sz="880" dirty="0">
                <a:solidFill>
                  <a:srgbClr val="5F6A6A"/>
                </a:solidFill>
                <a:latin typeface="Aptos" pitchFamily="34" charset="0"/>
                <a:ea typeface="Aptos" pitchFamily="34" charset="-122"/>
                <a:cs typeface="Aptos" pitchFamily="34" charset="-120"/>
              </a:rPr>
              <a:t>AWS Activate via Spendbase</a:t>
            </a:r>
            <a:endParaRPr lang="en-US" sz="880" dirty="0"/>
          </a:p>
        </p:txBody>
      </p:sp>
      <p:pic>
        <p:nvPicPr>
          <p:cNvPr id="8" name="Image 1" descr="D:\ai-powered-techpigeon\src\assets\images\novussparks-logo-1200.png"/>
          <p:cNvPicPr>
            <a:picLocks noChangeAspect="1"/>
          </p:cNvPicPr>
          <p:nvPr/>
        </p:nvPicPr>
        <p:blipFill>
          <a:blip r:embed="rId3"/>
          <a:stretch>
            <a:fillRect/>
          </a:stretch>
        </p:blipFill>
        <p:spPr>
          <a:xfrm>
            <a:off x="9006840" y="274320"/>
            <a:ext cx="2331720" cy="749808"/>
          </a:xfrm>
          <a:prstGeom prst="rect">
            <a:avLst/>
          </a:prstGeom>
        </p:spPr>
      </p:pic>
      <p:sp>
        <p:nvSpPr>
          <p:cNvPr id="9" name="Text 5"/>
          <p:cNvSpPr/>
          <p:nvPr/>
        </p:nvSpPr>
        <p:spPr>
          <a:xfrm>
            <a:off x="658368" y="640080"/>
            <a:ext cx="7772400" cy="603504"/>
          </a:xfrm>
          <a:prstGeom prst="rect">
            <a:avLst/>
          </a:prstGeom>
          <a:noFill/>
          <a:ln/>
        </p:spPr>
        <p:txBody>
          <a:bodyPr wrap="square" lIns="0" tIns="0" rIns="0" bIns="0" rtlCol="0" anchor="ctr"/>
          <a:lstStyle/>
          <a:p>
            <a:pPr marL="0" indent="0">
              <a:buNone/>
            </a:pPr>
            <a:r>
              <a:rPr lang="en-US" sz="2200" b="1" dirty="0">
                <a:solidFill>
                  <a:srgbClr val="1C1414"/>
                </a:solidFill>
                <a:latin typeface="Aptos Display" pitchFamily="34" charset="0"/>
                <a:ea typeface="Aptos Display" pitchFamily="34" charset="-122"/>
                <a:cs typeface="Aptos Display" pitchFamily="34" charset="-120"/>
              </a:rPr>
              <a:t>Simple, transparent pricing. The software that pays for itself.</a:t>
            </a:r>
            <a:endParaRPr lang="en-US" sz="2200" dirty="0"/>
          </a:p>
        </p:txBody>
      </p:sp>
      <p:sp>
        <p:nvSpPr>
          <p:cNvPr id="10" name="Text 6"/>
          <p:cNvSpPr/>
          <p:nvPr/>
        </p:nvSpPr>
        <p:spPr>
          <a:xfrm>
            <a:off x="676656" y="1207008"/>
            <a:ext cx="8229600" cy="384048"/>
          </a:xfrm>
          <a:prstGeom prst="rect">
            <a:avLst/>
          </a:prstGeom>
          <a:noFill/>
          <a:ln/>
        </p:spPr>
        <p:txBody>
          <a:bodyPr wrap="square" lIns="0" tIns="0" rIns="0" bIns="0" rtlCol="0" anchor="ctr"/>
          <a:lstStyle/>
          <a:p>
            <a:pPr marL="0" indent="0">
              <a:buNone/>
            </a:pPr>
            <a:r>
              <a:rPr lang="en-US" sz="1150" dirty="0">
                <a:solidFill>
                  <a:srgbClr val="5F6A6A"/>
                </a:solidFill>
                <a:latin typeface="Aptos" pitchFamily="34" charset="0"/>
                <a:ea typeface="Aptos" pitchFamily="34" charset="-122"/>
                <a:cs typeface="Aptos" pitchFamily="34" charset="-120"/>
              </a:rPr>
              <a:t>Land teams with clear value, then scale into governed enterprise workspaces.</a:t>
            </a:r>
            <a:endParaRPr lang="en-US" sz="1150" dirty="0"/>
          </a:p>
        </p:txBody>
      </p:sp>
      <p:sp>
        <p:nvSpPr>
          <p:cNvPr id="11" name="Shape 7"/>
          <p:cNvSpPr/>
          <p:nvPr/>
        </p:nvSpPr>
        <p:spPr>
          <a:xfrm>
            <a:off x="768096" y="1755648"/>
            <a:ext cx="3310128" cy="4407408"/>
          </a:xfrm>
          <a:prstGeom prst="roundRect">
            <a:avLst>
              <a:gd name="adj" fmla="val 2210"/>
            </a:avLst>
          </a:prstGeom>
          <a:solidFill>
            <a:srgbClr val="F0FAF5"/>
          </a:solidFill>
          <a:ln w="12700">
            <a:solidFill>
              <a:srgbClr val="DDD6D2"/>
            </a:solidFill>
            <a:prstDash val="solid"/>
          </a:ln>
          <a:effectLst>
            <a:outerShdw blurRad="12700" dist="50800" dir="2700000" algn="bl" rotWithShape="0">
              <a:srgbClr val="DDECF3">
                <a:alpha val="12000"/>
              </a:srgbClr>
            </a:outerShdw>
          </a:effectLst>
        </p:spPr>
        <p:txBody>
          <a:bodyPr/>
          <a:lstStyle/>
          <a:p>
            <a:endParaRPr lang="en-US"/>
          </a:p>
        </p:txBody>
      </p:sp>
      <p:sp>
        <p:nvSpPr>
          <p:cNvPr id="12" name="Shape 8"/>
          <p:cNvSpPr/>
          <p:nvPr/>
        </p:nvSpPr>
        <p:spPr>
          <a:xfrm>
            <a:off x="786384" y="1773936"/>
            <a:ext cx="3273552" cy="54864"/>
          </a:xfrm>
          <a:prstGeom prst="rect">
            <a:avLst/>
          </a:prstGeom>
          <a:solidFill>
            <a:srgbClr val="DDD6D2"/>
          </a:solidFill>
          <a:ln w="12700">
            <a:solidFill>
              <a:srgbClr val="DDD6D2"/>
            </a:solidFill>
            <a:prstDash val="solid"/>
          </a:ln>
        </p:spPr>
        <p:txBody>
          <a:bodyPr/>
          <a:lstStyle/>
          <a:p>
            <a:endParaRPr lang="en-US"/>
          </a:p>
        </p:txBody>
      </p:sp>
      <p:sp>
        <p:nvSpPr>
          <p:cNvPr id="13" name="Text 9"/>
          <p:cNvSpPr/>
          <p:nvPr/>
        </p:nvSpPr>
        <p:spPr>
          <a:xfrm>
            <a:off x="987552" y="2048256"/>
            <a:ext cx="1554480" cy="164592"/>
          </a:xfrm>
          <a:prstGeom prst="rect">
            <a:avLst/>
          </a:prstGeom>
          <a:noFill/>
          <a:ln/>
        </p:spPr>
        <p:txBody>
          <a:bodyPr wrap="square" lIns="0" tIns="0" rIns="0" bIns="0" rtlCol="0" anchor="ctr"/>
          <a:lstStyle/>
          <a:p>
            <a:pPr marL="0" indent="0">
              <a:buNone/>
            </a:pPr>
            <a:r>
              <a:rPr lang="en-US" sz="1550" b="1" dirty="0">
                <a:solidFill>
                  <a:srgbClr val="1C1414"/>
                </a:solidFill>
                <a:latin typeface="Aptos" pitchFamily="34" charset="0"/>
                <a:ea typeface="Aptos" pitchFamily="34" charset="-122"/>
                <a:cs typeface="Aptos" pitchFamily="34" charset="-120"/>
              </a:rPr>
              <a:t>Basic</a:t>
            </a:r>
            <a:endParaRPr lang="en-US" sz="1550" dirty="0"/>
          </a:p>
        </p:txBody>
      </p:sp>
      <p:sp>
        <p:nvSpPr>
          <p:cNvPr id="14" name="Text 10"/>
          <p:cNvSpPr/>
          <p:nvPr/>
        </p:nvSpPr>
        <p:spPr>
          <a:xfrm>
            <a:off x="987552" y="2377440"/>
            <a:ext cx="2468880" cy="256032"/>
          </a:xfrm>
          <a:prstGeom prst="rect">
            <a:avLst/>
          </a:prstGeom>
          <a:noFill/>
          <a:ln/>
        </p:spPr>
        <p:txBody>
          <a:bodyPr wrap="square" lIns="0" tIns="0" rIns="0" bIns="0" rtlCol="0" anchor="ctr">
            <a:normAutofit fontScale="92500" lnSpcReduction="20000"/>
          </a:bodyPr>
          <a:lstStyle/>
          <a:p>
            <a:pPr marL="0" indent="0">
              <a:buNone/>
            </a:pPr>
            <a:r>
              <a:rPr lang="en-US" sz="2050" b="1" dirty="0">
                <a:solidFill>
                  <a:srgbClr val="1C1414"/>
                </a:solidFill>
                <a:latin typeface="Aptos Display" pitchFamily="34" charset="0"/>
                <a:ea typeface="Aptos Display" pitchFamily="34" charset="-122"/>
                <a:cs typeface="Aptos Display" pitchFamily="34" charset="-120"/>
              </a:rPr>
              <a:t>Free</a:t>
            </a:r>
            <a:endParaRPr lang="en-US" sz="2050" dirty="0"/>
          </a:p>
        </p:txBody>
      </p:sp>
      <p:sp>
        <p:nvSpPr>
          <p:cNvPr id="15" name="Text 11"/>
          <p:cNvSpPr/>
          <p:nvPr/>
        </p:nvSpPr>
        <p:spPr>
          <a:xfrm>
            <a:off x="987552" y="3017520"/>
            <a:ext cx="2871216" cy="1417320"/>
          </a:xfrm>
          <a:prstGeom prst="rect">
            <a:avLst/>
          </a:prstGeom>
          <a:noFill/>
          <a:ln/>
        </p:spPr>
        <p:txBody>
          <a:bodyPr wrap="square" lIns="762" tIns="762" rIns="762" bIns="762" rtlCol="0" anchor="ctr"/>
          <a:lstStyle/>
          <a:p>
            <a:pPr marL="152400" indent="-152400">
              <a:buSzPct val="100000"/>
              <a:buChar char="•"/>
            </a:pPr>
            <a:r>
              <a:rPr lang="en-US" sz="1210" dirty="0">
                <a:solidFill>
                  <a:srgbClr val="1C1414"/>
                </a:solidFill>
                <a:latin typeface="Aptos" pitchFamily="34" charset="0"/>
                <a:ea typeface="Aptos" pitchFamily="34" charset="-122"/>
                <a:cs typeface="Aptos" pitchFamily="34" charset="-120"/>
              </a:rPr>
              <a:t>Idea Cooking
</a:t>
            </a:r>
            <a:endParaRPr lang="en-US" sz="1210" dirty="0"/>
          </a:p>
          <a:p>
            <a:pPr marL="152400" indent="-152400">
              <a:buSzPct val="100000"/>
              <a:buChar char="•"/>
            </a:pPr>
            <a:r>
              <a:rPr lang="en-US" sz="1210" dirty="0">
                <a:solidFill>
                  <a:srgbClr val="1C1414"/>
                </a:solidFill>
                <a:latin typeface="Aptos" pitchFamily="34" charset="0"/>
                <a:ea typeface="Aptos" pitchFamily="34" charset="-122"/>
                <a:cs typeface="Aptos" pitchFamily="34" charset="-120"/>
              </a:rPr>
              <a:t>Canvas generation
</a:t>
            </a:r>
            <a:endParaRPr lang="en-US" sz="1210" dirty="0"/>
          </a:p>
          <a:p>
            <a:pPr marL="152400" indent="-152400">
              <a:buSzPct val="100000"/>
              <a:buChar char="•"/>
            </a:pPr>
            <a:r>
              <a:rPr lang="en-US" sz="1210" dirty="0">
                <a:solidFill>
                  <a:srgbClr val="1C1414"/>
                </a:solidFill>
                <a:latin typeface="Aptos" pitchFamily="34" charset="0"/>
                <a:ea typeface="Aptos" pitchFamily="34" charset="-122"/>
                <a:cs typeface="Aptos" pitchFamily="34" charset="-120"/>
              </a:rPr>
              <a:t>3 exports</a:t>
            </a:r>
            <a:endParaRPr lang="en-US" sz="1210" dirty="0"/>
          </a:p>
        </p:txBody>
      </p:sp>
      <p:sp>
        <p:nvSpPr>
          <p:cNvPr id="16" name="Shape 12"/>
          <p:cNvSpPr/>
          <p:nvPr/>
        </p:nvSpPr>
        <p:spPr>
          <a:xfrm>
            <a:off x="987552" y="5504688"/>
            <a:ext cx="2871216" cy="347472"/>
          </a:xfrm>
          <a:prstGeom prst="roundRect">
            <a:avLst>
              <a:gd name="adj" fmla="val 13158"/>
            </a:avLst>
          </a:prstGeom>
          <a:solidFill>
            <a:srgbClr val="1C1414"/>
          </a:solidFill>
          <a:ln w="12700">
            <a:solidFill>
              <a:srgbClr val="1C1414"/>
            </a:solidFill>
            <a:prstDash val="solid"/>
          </a:ln>
        </p:spPr>
        <p:txBody>
          <a:bodyPr/>
          <a:lstStyle/>
          <a:p>
            <a:endParaRPr lang="en-US"/>
          </a:p>
        </p:txBody>
      </p:sp>
      <p:sp>
        <p:nvSpPr>
          <p:cNvPr id="17" name="Text 13"/>
          <p:cNvSpPr/>
          <p:nvPr/>
        </p:nvSpPr>
        <p:spPr>
          <a:xfrm>
            <a:off x="987552" y="5614416"/>
            <a:ext cx="2871216" cy="128016"/>
          </a:xfrm>
          <a:prstGeom prst="rect">
            <a:avLst/>
          </a:prstGeom>
          <a:noFill/>
          <a:ln/>
        </p:spPr>
        <p:txBody>
          <a:bodyPr wrap="square" lIns="0" tIns="0" rIns="0" bIns="0"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Get Started</a:t>
            </a:r>
            <a:endParaRPr lang="en-US" sz="1100" dirty="0"/>
          </a:p>
        </p:txBody>
      </p:sp>
      <p:sp>
        <p:nvSpPr>
          <p:cNvPr id="18" name="Shape 14"/>
          <p:cNvSpPr/>
          <p:nvPr/>
        </p:nvSpPr>
        <p:spPr>
          <a:xfrm>
            <a:off x="4443984" y="1517904"/>
            <a:ext cx="3310128" cy="4645152"/>
          </a:xfrm>
          <a:prstGeom prst="roundRect">
            <a:avLst>
              <a:gd name="adj" fmla="val 2210"/>
            </a:avLst>
          </a:prstGeom>
          <a:solidFill>
            <a:srgbClr val="EAF8FE"/>
          </a:solidFill>
          <a:ln w="12700">
            <a:solidFill>
              <a:srgbClr val="38BDF8"/>
            </a:solidFill>
            <a:prstDash val="solid"/>
          </a:ln>
          <a:effectLst>
            <a:outerShdw blurRad="12700" dist="50800" dir="2700000" algn="bl" rotWithShape="0">
              <a:srgbClr val="DDECF3">
                <a:alpha val="12000"/>
              </a:srgbClr>
            </a:outerShdw>
          </a:effectLst>
        </p:spPr>
        <p:txBody>
          <a:bodyPr/>
          <a:lstStyle/>
          <a:p>
            <a:endParaRPr lang="en-US"/>
          </a:p>
        </p:txBody>
      </p:sp>
      <p:sp>
        <p:nvSpPr>
          <p:cNvPr id="19" name="Shape 15"/>
          <p:cNvSpPr/>
          <p:nvPr/>
        </p:nvSpPr>
        <p:spPr>
          <a:xfrm>
            <a:off x="4462272" y="1536192"/>
            <a:ext cx="3273552" cy="54864"/>
          </a:xfrm>
          <a:prstGeom prst="rect">
            <a:avLst/>
          </a:prstGeom>
          <a:solidFill>
            <a:srgbClr val="E5A932"/>
          </a:solidFill>
          <a:ln w="12700">
            <a:solidFill>
              <a:srgbClr val="E5A932"/>
            </a:solidFill>
            <a:prstDash val="solid"/>
          </a:ln>
        </p:spPr>
        <p:txBody>
          <a:bodyPr/>
          <a:lstStyle/>
          <a:p>
            <a:endParaRPr lang="en-US"/>
          </a:p>
        </p:txBody>
      </p:sp>
      <p:sp>
        <p:nvSpPr>
          <p:cNvPr id="20" name="Shape 16"/>
          <p:cNvSpPr/>
          <p:nvPr/>
        </p:nvSpPr>
        <p:spPr>
          <a:xfrm>
            <a:off x="6803136" y="1664208"/>
            <a:ext cx="749808" cy="219456"/>
          </a:xfrm>
          <a:prstGeom prst="roundRect">
            <a:avLst>
              <a:gd name="adj" fmla="val 16667"/>
            </a:avLst>
          </a:prstGeom>
          <a:solidFill>
            <a:srgbClr val="BBA442"/>
          </a:solidFill>
          <a:ln w="12700">
            <a:solidFill>
              <a:srgbClr val="38BDF8"/>
            </a:solidFill>
            <a:prstDash val="solid"/>
          </a:ln>
        </p:spPr>
        <p:txBody>
          <a:bodyPr/>
          <a:lstStyle/>
          <a:p>
            <a:endParaRPr lang="en-US"/>
          </a:p>
        </p:txBody>
      </p:sp>
      <p:sp>
        <p:nvSpPr>
          <p:cNvPr id="21" name="Text 17"/>
          <p:cNvSpPr/>
          <p:nvPr/>
        </p:nvSpPr>
        <p:spPr>
          <a:xfrm>
            <a:off x="6803136" y="1700784"/>
            <a:ext cx="749808" cy="91440"/>
          </a:xfrm>
          <a:prstGeom prst="rect">
            <a:avLst/>
          </a:prstGeom>
          <a:noFill/>
          <a:ln/>
        </p:spPr>
        <p:txBody>
          <a:bodyPr wrap="square" lIns="0" tIns="0" rIns="0" bIns="0" rtlCol="0" anchor="ctr"/>
          <a:lstStyle/>
          <a:p>
            <a:pPr marL="0" indent="0" algn="ctr">
              <a:buNone/>
            </a:pPr>
            <a:r>
              <a:rPr lang="en-US" sz="780" b="1" dirty="0">
                <a:solidFill>
                  <a:srgbClr val="FFFFFF"/>
                </a:solidFill>
                <a:latin typeface="Aptos" pitchFamily="34" charset="0"/>
                <a:ea typeface="Aptos" pitchFamily="34" charset="-122"/>
                <a:cs typeface="Aptos" pitchFamily="34" charset="-120"/>
              </a:rPr>
              <a:t>POPULAR</a:t>
            </a:r>
            <a:endParaRPr lang="en-US" sz="780" dirty="0"/>
          </a:p>
        </p:txBody>
      </p:sp>
      <p:sp>
        <p:nvSpPr>
          <p:cNvPr id="22" name="Text 18"/>
          <p:cNvSpPr/>
          <p:nvPr/>
        </p:nvSpPr>
        <p:spPr>
          <a:xfrm>
            <a:off x="4663440" y="1810512"/>
            <a:ext cx="1554480" cy="164592"/>
          </a:xfrm>
          <a:prstGeom prst="rect">
            <a:avLst/>
          </a:prstGeom>
          <a:noFill/>
          <a:ln/>
        </p:spPr>
        <p:txBody>
          <a:bodyPr wrap="square" lIns="0" tIns="0" rIns="0" bIns="0" rtlCol="0" anchor="ctr"/>
          <a:lstStyle/>
          <a:p>
            <a:pPr marL="0" indent="0">
              <a:buNone/>
            </a:pPr>
            <a:r>
              <a:rPr lang="en-US" sz="1550" b="1" dirty="0">
                <a:solidFill>
                  <a:srgbClr val="1C1414"/>
                </a:solidFill>
                <a:latin typeface="Aptos" pitchFamily="34" charset="0"/>
                <a:ea typeface="Aptos" pitchFamily="34" charset="-122"/>
                <a:cs typeface="Aptos" pitchFamily="34" charset="-120"/>
              </a:rPr>
              <a:t>Pro</a:t>
            </a:r>
            <a:endParaRPr lang="en-US" sz="1550" dirty="0"/>
          </a:p>
        </p:txBody>
      </p:sp>
      <p:sp>
        <p:nvSpPr>
          <p:cNvPr id="23" name="Text 19"/>
          <p:cNvSpPr/>
          <p:nvPr/>
        </p:nvSpPr>
        <p:spPr>
          <a:xfrm>
            <a:off x="4663440" y="2139696"/>
            <a:ext cx="2468880" cy="256032"/>
          </a:xfrm>
          <a:prstGeom prst="rect">
            <a:avLst/>
          </a:prstGeom>
          <a:noFill/>
          <a:ln/>
        </p:spPr>
        <p:txBody>
          <a:bodyPr wrap="square" lIns="0" tIns="0" rIns="0" bIns="0" rtlCol="0" anchor="ctr">
            <a:normAutofit fontScale="92500" lnSpcReduction="20000"/>
          </a:bodyPr>
          <a:lstStyle/>
          <a:p>
            <a:pPr marL="0" indent="0">
              <a:buNone/>
            </a:pPr>
            <a:r>
              <a:rPr lang="en-US" sz="2050" b="1" dirty="0">
                <a:solidFill>
                  <a:srgbClr val="BBA442"/>
                </a:solidFill>
                <a:latin typeface="Aptos Display" pitchFamily="34" charset="0"/>
                <a:ea typeface="Aptos Display" pitchFamily="34" charset="-122"/>
                <a:cs typeface="Aptos Display" pitchFamily="34" charset="-120"/>
              </a:rPr>
              <a:t>$20 / month</a:t>
            </a:r>
            <a:endParaRPr lang="en-US" sz="2050" dirty="0">
              <a:solidFill>
                <a:srgbClr val="BBA442"/>
              </a:solidFill>
            </a:endParaRPr>
          </a:p>
        </p:txBody>
      </p:sp>
      <p:sp>
        <p:nvSpPr>
          <p:cNvPr id="24" name="Text 20"/>
          <p:cNvSpPr/>
          <p:nvPr/>
        </p:nvSpPr>
        <p:spPr>
          <a:xfrm>
            <a:off x="4663440" y="2779776"/>
            <a:ext cx="2871216" cy="1417320"/>
          </a:xfrm>
          <a:prstGeom prst="rect">
            <a:avLst/>
          </a:prstGeom>
          <a:noFill/>
          <a:ln/>
        </p:spPr>
        <p:txBody>
          <a:bodyPr wrap="square" lIns="762" tIns="762" rIns="762" bIns="762" rtlCol="0" anchor="ctr"/>
          <a:lstStyle/>
          <a:p>
            <a:pPr marL="152400" indent="-152400">
              <a:buSzPct val="100000"/>
              <a:buChar char="•"/>
            </a:pPr>
            <a:r>
              <a:rPr lang="en-US" sz="1210" dirty="0">
                <a:solidFill>
                  <a:srgbClr val="1C1414"/>
                </a:solidFill>
                <a:latin typeface="Aptos" pitchFamily="34" charset="0"/>
                <a:ea typeface="Aptos" pitchFamily="34" charset="-122"/>
                <a:cs typeface="Aptos" pitchFamily="34" charset="-120"/>
              </a:rPr>
              <a:t>50 review credits
</a:t>
            </a:r>
            <a:endParaRPr lang="en-US" sz="1210" dirty="0"/>
          </a:p>
          <a:p>
            <a:pPr marL="152400" indent="-152400">
              <a:buSzPct val="100000"/>
              <a:buChar char="•"/>
            </a:pPr>
            <a:r>
              <a:rPr lang="en-US" sz="1210" dirty="0">
                <a:solidFill>
                  <a:srgbClr val="1C1414"/>
                </a:solidFill>
                <a:latin typeface="Aptos" pitchFamily="34" charset="0"/>
                <a:ea typeface="Aptos" pitchFamily="34" charset="-122"/>
                <a:cs typeface="Aptos" pitchFamily="34" charset="-120"/>
              </a:rPr>
              <a:t>Evidence-backed workspace
</a:t>
            </a:r>
            <a:endParaRPr lang="en-US" sz="1210" dirty="0"/>
          </a:p>
          <a:p>
            <a:pPr marL="152400" indent="-152400">
              <a:buSzPct val="100000"/>
              <a:buChar char="•"/>
            </a:pPr>
            <a:r>
              <a:rPr lang="en-US" sz="1210" dirty="0">
                <a:solidFill>
                  <a:srgbClr val="1C1414"/>
                </a:solidFill>
                <a:latin typeface="Aptos" pitchFamily="34" charset="0"/>
                <a:ea typeface="Aptos" pitchFamily="34" charset="-122"/>
                <a:cs typeface="Aptos" pitchFamily="34" charset="-120"/>
              </a:rPr>
              <a:t>NGO module</a:t>
            </a:r>
            <a:endParaRPr lang="en-US" sz="1210" dirty="0"/>
          </a:p>
        </p:txBody>
      </p:sp>
      <p:sp>
        <p:nvSpPr>
          <p:cNvPr id="25" name="Shape 21"/>
          <p:cNvSpPr/>
          <p:nvPr/>
        </p:nvSpPr>
        <p:spPr>
          <a:xfrm>
            <a:off x="4663440" y="5504688"/>
            <a:ext cx="2871216" cy="347472"/>
          </a:xfrm>
          <a:prstGeom prst="roundRect">
            <a:avLst>
              <a:gd name="adj" fmla="val 13158"/>
            </a:avLst>
          </a:prstGeom>
          <a:solidFill>
            <a:srgbClr val="BBA442"/>
          </a:solidFill>
          <a:ln w="12700">
            <a:solidFill>
              <a:srgbClr val="38BDF8"/>
            </a:solidFill>
            <a:prstDash val="solid"/>
          </a:ln>
        </p:spPr>
        <p:txBody>
          <a:bodyPr/>
          <a:lstStyle/>
          <a:p>
            <a:endParaRPr lang="en-US"/>
          </a:p>
        </p:txBody>
      </p:sp>
      <p:sp>
        <p:nvSpPr>
          <p:cNvPr id="26" name="Text 22"/>
          <p:cNvSpPr/>
          <p:nvPr/>
        </p:nvSpPr>
        <p:spPr>
          <a:xfrm>
            <a:off x="4663440" y="5614416"/>
            <a:ext cx="2871216" cy="128016"/>
          </a:xfrm>
          <a:prstGeom prst="rect">
            <a:avLst/>
          </a:prstGeom>
          <a:noFill/>
          <a:ln/>
        </p:spPr>
        <p:txBody>
          <a:bodyPr wrap="square" lIns="0" tIns="0" rIns="0" bIns="0"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Choose Pro</a:t>
            </a:r>
            <a:endParaRPr lang="en-US" sz="1100" dirty="0"/>
          </a:p>
        </p:txBody>
      </p:sp>
      <p:sp>
        <p:nvSpPr>
          <p:cNvPr id="27" name="Shape 23"/>
          <p:cNvSpPr/>
          <p:nvPr/>
        </p:nvSpPr>
        <p:spPr>
          <a:xfrm>
            <a:off x="8119872" y="1755648"/>
            <a:ext cx="3310128" cy="4407408"/>
          </a:xfrm>
          <a:prstGeom prst="roundRect">
            <a:avLst>
              <a:gd name="adj" fmla="val 2210"/>
            </a:avLst>
          </a:prstGeom>
          <a:solidFill>
            <a:srgbClr val="F0FAF5"/>
          </a:solidFill>
          <a:ln w="12700">
            <a:solidFill>
              <a:srgbClr val="6EE7A0"/>
            </a:solidFill>
            <a:prstDash val="solid"/>
          </a:ln>
          <a:effectLst>
            <a:outerShdw blurRad="12700" dist="50800" dir="2700000" algn="bl" rotWithShape="0">
              <a:srgbClr val="DDECF3">
                <a:alpha val="12000"/>
              </a:srgbClr>
            </a:outerShdw>
          </a:effectLst>
        </p:spPr>
        <p:txBody>
          <a:bodyPr/>
          <a:lstStyle/>
          <a:p>
            <a:endParaRPr lang="en-US"/>
          </a:p>
        </p:txBody>
      </p:sp>
      <p:sp>
        <p:nvSpPr>
          <p:cNvPr id="28" name="Shape 24"/>
          <p:cNvSpPr/>
          <p:nvPr/>
        </p:nvSpPr>
        <p:spPr>
          <a:xfrm>
            <a:off x="8138160" y="1773936"/>
            <a:ext cx="3273552" cy="54864"/>
          </a:xfrm>
          <a:prstGeom prst="rect">
            <a:avLst/>
          </a:prstGeom>
          <a:solidFill>
            <a:srgbClr val="6EE7A0"/>
          </a:solidFill>
          <a:ln w="12700">
            <a:solidFill>
              <a:srgbClr val="6EE7A0"/>
            </a:solidFill>
            <a:prstDash val="solid"/>
          </a:ln>
        </p:spPr>
        <p:txBody>
          <a:bodyPr/>
          <a:lstStyle/>
          <a:p>
            <a:endParaRPr lang="en-US"/>
          </a:p>
        </p:txBody>
      </p:sp>
      <p:sp>
        <p:nvSpPr>
          <p:cNvPr id="29" name="Text 25"/>
          <p:cNvSpPr/>
          <p:nvPr/>
        </p:nvSpPr>
        <p:spPr>
          <a:xfrm>
            <a:off x="8339328" y="2048256"/>
            <a:ext cx="1554480" cy="164592"/>
          </a:xfrm>
          <a:prstGeom prst="rect">
            <a:avLst/>
          </a:prstGeom>
          <a:noFill/>
          <a:ln/>
        </p:spPr>
        <p:txBody>
          <a:bodyPr wrap="square" lIns="0" tIns="0" rIns="0" bIns="0" rtlCol="0" anchor="ctr"/>
          <a:lstStyle/>
          <a:p>
            <a:pPr marL="0" indent="0">
              <a:buNone/>
            </a:pPr>
            <a:r>
              <a:rPr lang="en-US" sz="1550" b="1" dirty="0">
                <a:solidFill>
                  <a:srgbClr val="1C1414"/>
                </a:solidFill>
                <a:latin typeface="Aptos" pitchFamily="34" charset="0"/>
                <a:ea typeface="Aptos" pitchFamily="34" charset="-122"/>
                <a:cs typeface="Aptos" pitchFamily="34" charset="-120"/>
              </a:rPr>
              <a:t>Enterprise</a:t>
            </a:r>
            <a:endParaRPr lang="en-US" sz="1550" dirty="0"/>
          </a:p>
        </p:txBody>
      </p:sp>
      <p:sp>
        <p:nvSpPr>
          <p:cNvPr id="30" name="Text 26"/>
          <p:cNvSpPr/>
          <p:nvPr/>
        </p:nvSpPr>
        <p:spPr>
          <a:xfrm>
            <a:off x="8339328" y="2377440"/>
            <a:ext cx="2468880" cy="256032"/>
          </a:xfrm>
          <a:prstGeom prst="rect">
            <a:avLst/>
          </a:prstGeom>
          <a:noFill/>
          <a:ln/>
        </p:spPr>
        <p:txBody>
          <a:bodyPr wrap="square" lIns="0" tIns="0" rIns="0" bIns="0" rtlCol="0" anchor="ctr">
            <a:normAutofit fontScale="92500" lnSpcReduction="20000"/>
          </a:bodyPr>
          <a:lstStyle/>
          <a:p>
            <a:pPr marL="0" indent="0">
              <a:buNone/>
            </a:pPr>
            <a:r>
              <a:rPr lang="en-US" sz="2050" b="1" dirty="0">
                <a:solidFill>
                  <a:srgbClr val="1C1414"/>
                </a:solidFill>
                <a:latin typeface="Aptos Display" pitchFamily="34" charset="0"/>
                <a:ea typeface="Aptos Display" pitchFamily="34" charset="-122"/>
                <a:cs typeface="Aptos Display" pitchFamily="34" charset="-120"/>
              </a:rPr>
              <a:t>$50 / month / user</a:t>
            </a:r>
            <a:endParaRPr lang="en-US" sz="2050" dirty="0"/>
          </a:p>
        </p:txBody>
      </p:sp>
      <p:sp>
        <p:nvSpPr>
          <p:cNvPr id="31" name="Text 27"/>
          <p:cNvSpPr/>
          <p:nvPr/>
        </p:nvSpPr>
        <p:spPr>
          <a:xfrm>
            <a:off x="8339328" y="3017520"/>
            <a:ext cx="2871216" cy="1417320"/>
          </a:xfrm>
          <a:prstGeom prst="rect">
            <a:avLst/>
          </a:prstGeom>
          <a:noFill/>
          <a:ln/>
        </p:spPr>
        <p:txBody>
          <a:bodyPr wrap="square" lIns="762" tIns="762" rIns="762" bIns="762" rtlCol="0" anchor="ctr"/>
          <a:lstStyle/>
          <a:p>
            <a:pPr marL="152400" indent="-152400">
              <a:buSzPct val="100000"/>
              <a:buChar char="•"/>
            </a:pPr>
            <a:r>
              <a:rPr lang="en-US" sz="1210" dirty="0">
                <a:solidFill>
                  <a:srgbClr val="1C1414"/>
                </a:solidFill>
                <a:latin typeface="Aptos" pitchFamily="34" charset="0"/>
                <a:ea typeface="Aptos" pitchFamily="34" charset="-122"/>
                <a:cs typeface="Aptos" pitchFamily="34" charset="-120"/>
              </a:rPr>
              <a:t>Unlimited exports
</a:t>
            </a:r>
            <a:endParaRPr lang="en-US" sz="1210" dirty="0"/>
          </a:p>
          <a:p>
            <a:pPr marL="152400" indent="-152400">
              <a:buSzPct val="100000"/>
              <a:buChar char="•"/>
            </a:pPr>
            <a:r>
              <a:rPr lang="en-US" sz="1210" dirty="0">
                <a:solidFill>
                  <a:srgbClr val="1C1414"/>
                </a:solidFill>
                <a:latin typeface="Aptos" pitchFamily="34" charset="0"/>
                <a:ea typeface="Aptos" pitchFamily="34" charset="-122"/>
                <a:cs typeface="Aptos" pitchFamily="34" charset="-120"/>
              </a:rPr>
              <a:t>Custom branding
</a:t>
            </a:r>
            <a:endParaRPr lang="en-US" sz="1210" dirty="0"/>
          </a:p>
          <a:p>
            <a:pPr marL="152400" indent="-152400">
              <a:buSzPct val="100000"/>
              <a:buChar char="•"/>
            </a:pPr>
            <a:r>
              <a:rPr lang="en-US" sz="1210" dirty="0">
                <a:solidFill>
                  <a:srgbClr val="1C1414"/>
                </a:solidFill>
                <a:latin typeface="Aptos" pitchFamily="34" charset="0"/>
                <a:ea typeface="Aptos" pitchFamily="34" charset="-122"/>
                <a:cs typeface="Aptos" pitchFamily="34" charset="-120"/>
              </a:rPr>
              <a:t>Workspace auditability</a:t>
            </a:r>
            <a:endParaRPr lang="en-US" sz="1210" dirty="0"/>
          </a:p>
        </p:txBody>
      </p:sp>
      <p:sp>
        <p:nvSpPr>
          <p:cNvPr id="32" name="Shape 28"/>
          <p:cNvSpPr/>
          <p:nvPr/>
        </p:nvSpPr>
        <p:spPr>
          <a:xfrm>
            <a:off x="8339328" y="5504688"/>
            <a:ext cx="2871216" cy="347472"/>
          </a:xfrm>
          <a:prstGeom prst="roundRect">
            <a:avLst>
              <a:gd name="adj" fmla="val 13158"/>
            </a:avLst>
          </a:prstGeom>
          <a:solidFill>
            <a:srgbClr val="1C1414"/>
          </a:solidFill>
          <a:ln w="12700">
            <a:solidFill>
              <a:srgbClr val="1C1414"/>
            </a:solidFill>
            <a:prstDash val="solid"/>
          </a:ln>
        </p:spPr>
        <p:txBody>
          <a:bodyPr/>
          <a:lstStyle/>
          <a:p>
            <a:endParaRPr lang="en-US"/>
          </a:p>
        </p:txBody>
      </p:sp>
      <p:sp>
        <p:nvSpPr>
          <p:cNvPr id="33" name="Text 29"/>
          <p:cNvSpPr/>
          <p:nvPr/>
        </p:nvSpPr>
        <p:spPr>
          <a:xfrm>
            <a:off x="8339328" y="5614416"/>
            <a:ext cx="2871216" cy="128016"/>
          </a:xfrm>
          <a:prstGeom prst="rect">
            <a:avLst/>
          </a:prstGeom>
          <a:noFill/>
          <a:ln/>
        </p:spPr>
        <p:txBody>
          <a:bodyPr wrap="square" lIns="0" tIns="0" rIns="0" bIns="0"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Get Started</a:t>
            </a:r>
            <a:endParaRPr lang="en-US" sz="1100" dirty="0"/>
          </a:p>
        </p:txBody>
      </p:sp>
      <p:sp>
        <p:nvSpPr>
          <p:cNvPr id="34" name="Text 30"/>
          <p:cNvSpPr/>
          <p:nvPr/>
        </p:nvSpPr>
        <p:spPr>
          <a:xfrm>
            <a:off x="1051560" y="6327648"/>
            <a:ext cx="10058400" cy="128016"/>
          </a:xfrm>
          <a:prstGeom prst="rect">
            <a:avLst/>
          </a:prstGeom>
          <a:noFill/>
          <a:ln/>
        </p:spPr>
        <p:txBody>
          <a:bodyPr wrap="square" lIns="0" tIns="0" rIns="0" bIns="0" rtlCol="0" anchor="ctr"/>
          <a:lstStyle/>
          <a:p>
            <a:pPr marL="0" indent="0" algn="ctr">
              <a:buNone/>
            </a:pPr>
            <a:r>
              <a:rPr lang="en-US" sz="1010" dirty="0">
                <a:solidFill>
                  <a:srgbClr val="5F6A6A"/>
                </a:solidFill>
                <a:latin typeface="Aptos" pitchFamily="34" charset="0"/>
                <a:ea typeface="Aptos" pitchFamily="34" charset="-122"/>
                <a:cs typeface="Aptos" pitchFamily="34" charset="-120"/>
              </a:rPr>
              <a:t>All plans include Consensus Protocol validation, Evidence Ledger, and export audit trails.</a:t>
            </a:r>
            <a:endParaRPr lang="en-US" sz="101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38BDF8"/>
          </a:solidFill>
          <a:ln w="12700">
            <a:solidFill>
              <a:srgbClr val="38BDF8"/>
            </a:solidFill>
            <a:prstDash val="solid"/>
          </a:ln>
        </p:spPr>
        <p:txBody>
          <a:bodyPr/>
          <a:lstStyle/>
          <a:p>
            <a:endParaRPr lang="en-US"/>
          </a:p>
        </p:txBody>
      </p:sp>
      <p:sp>
        <p:nvSpPr>
          <p:cNvPr id="3" name="Shape 1"/>
          <p:cNvSpPr/>
          <p:nvPr/>
        </p:nvSpPr>
        <p:spPr>
          <a:xfrm>
            <a:off x="10012680" y="0"/>
            <a:ext cx="2179015" cy="128016"/>
          </a:xfrm>
          <a:prstGeom prst="rect">
            <a:avLst/>
          </a:prstGeom>
          <a:solidFill>
            <a:srgbClr val="E5A932"/>
          </a:solidFill>
          <a:ln w="12700">
            <a:solidFill>
              <a:srgbClr val="E5A932"/>
            </a:solidFill>
            <a:prstDash val="solid"/>
          </a:ln>
        </p:spPr>
        <p:txBody>
          <a:bodyPr/>
          <a:lstStyle/>
          <a:p>
            <a:endParaRPr lang="en-US"/>
          </a:p>
        </p:txBody>
      </p:sp>
      <p:sp>
        <p:nvSpPr>
          <p:cNvPr id="4" name="Text 2"/>
          <p:cNvSpPr/>
          <p:nvPr/>
        </p:nvSpPr>
        <p:spPr>
          <a:xfrm>
            <a:off x="438912" y="6437376"/>
            <a:ext cx="1645920" cy="146304"/>
          </a:xfrm>
          <a:prstGeom prst="rect">
            <a:avLst/>
          </a:prstGeom>
          <a:noFill/>
          <a:ln/>
        </p:spPr>
        <p:txBody>
          <a:bodyPr wrap="square" lIns="0" tIns="0" rIns="0" bIns="0" rtlCol="0" anchor="ctr"/>
          <a:lstStyle/>
          <a:p>
            <a:pPr marL="0" indent="0">
              <a:buNone/>
            </a:pPr>
            <a:r>
              <a:rPr lang="en-US" sz="880" b="1" dirty="0">
                <a:solidFill>
                  <a:srgbClr val="1C1414"/>
                </a:solidFill>
                <a:latin typeface="Aptos" pitchFamily="34" charset="0"/>
                <a:ea typeface="Aptos" pitchFamily="34" charset="-122"/>
                <a:cs typeface="Aptos" pitchFamily="34" charset="-120"/>
              </a:rPr>
              <a:t>Techpigeon</a:t>
            </a:r>
            <a:endParaRPr lang="en-US" sz="880" dirty="0"/>
          </a:p>
        </p:txBody>
      </p:sp>
      <p:sp>
        <p:nvSpPr>
          <p:cNvPr id="5" name="Text 3"/>
          <p:cNvSpPr/>
          <p:nvPr/>
        </p:nvSpPr>
        <p:spPr>
          <a:xfrm>
            <a:off x="1920240" y="6437376"/>
            <a:ext cx="1828800" cy="146304"/>
          </a:xfrm>
          <a:prstGeom prst="rect">
            <a:avLst/>
          </a:prstGeom>
          <a:noFill/>
          <a:ln/>
        </p:spPr>
        <p:txBody>
          <a:bodyPr wrap="square" lIns="0" tIns="0" rIns="0" bIns="0" rtlCol="0" anchor="ctr"/>
          <a:lstStyle/>
          <a:p>
            <a:pPr marL="0" indent="0">
              <a:buNone/>
            </a:pPr>
            <a:r>
              <a:rPr lang="en-US" sz="880" dirty="0">
                <a:solidFill>
                  <a:srgbClr val="5F6A6A"/>
                </a:solidFill>
                <a:latin typeface="Aptos" pitchFamily="34" charset="0"/>
                <a:ea typeface="Aptos" pitchFamily="34" charset="-122"/>
                <a:cs typeface="Aptos" pitchFamily="34" charset="-120"/>
              </a:rPr>
              <a:t>NovusSparks AI</a:t>
            </a:r>
            <a:endParaRPr lang="en-US" sz="880" dirty="0"/>
          </a:p>
        </p:txBody>
      </p:sp>
      <p:sp>
        <p:nvSpPr>
          <p:cNvPr id="6" name="Text 4"/>
          <p:cNvSpPr/>
          <p:nvPr/>
        </p:nvSpPr>
        <p:spPr>
          <a:xfrm>
            <a:off x="8732520" y="6437376"/>
            <a:ext cx="2926080" cy="146304"/>
          </a:xfrm>
          <a:prstGeom prst="rect">
            <a:avLst/>
          </a:prstGeom>
          <a:noFill/>
          <a:ln/>
        </p:spPr>
        <p:txBody>
          <a:bodyPr wrap="square" lIns="0" tIns="0" rIns="0" bIns="0" rtlCol="0" anchor="ctr"/>
          <a:lstStyle/>
          <a:p>
            <a:pPr marL="0" indent="0" algn="r">
              <a:buNone/>
            </a:pPr>
            <a:r>
              <a:rPr lang="en-US" sz="880" dirty="0">
                <a:solidFill>
                  <a:srgbClr val="5F6A6A"/>
                </a:solidFill>
                <a:latin typeface="Aptos" pitchFamily="34" charset="0"/>
                <a:ea typeface="Aptos" pitchFamily="34" charset="-122"/>
                <a:cs typeface="Aptos" pitchFamily="34" charset="-120"/>
              </a:rPr>
              <a:t>AWS Activate via Spendbase</a:t>
            </a:r>
            <a:endParaRPr lang="en-US" sz="880" dirty="0"/>
          </a:p>
        </p:txBody>
      </p:sp>
      <p:pic>
        <p:nvPicPr>
          <p:cNvPr id="8" name="Image 1" descr="D:\ai-powered-techpigeon\src\assets\images\novussparks-logo-1200.png"/>
          <p:cNvPicPr>
            <a:picLocks noChangeAspect="1"/>
          </p:cNvPicPr>
          <p:nvPr/>
        </p:nvPicPr>
        <p:blipFill>
          <a:blip r:embed="rId3"/>
          <a:stretch>
            <a:fillRect/>
          </a:stretch>
        </p:blipFill>
        <p:spPr>
          <a:xfrm>
            <a:off x="9006840" y="274320"/>
            <a:ext cx="2331720" cy="749808"/>
          </a:xfrm>
          <a:prstGeom prst="rect">
            <a:avLst/>
          </a:prstGeom>
        </p:spPr>
      </p:pic>
      <p:sp>
        <p:nvSpPr>
          <p:cNvPr id="9" name="Text 5"/>
          <p:cNvSpPr/>
          <p:nvPr/>
        </p:nvSpPr>
        <p:spPr>
          <a:xfrm>
            <a:off x="658368" y="640080"/>
            <a:ext cx="7772400" cy="603504"/>
          </a:xfrm>
          <a:prstGeom prst="rect">
            <a:avLst/>
          </a:prstGeom>
          <a:noFill/>
          <a:ln/>
        </p:spPr>
        <p:txBody>
          <a:bodyPr wrap="square" lIns="0" tIns="0" rIns="0" bIns="0" rtlCol="0" anchor="ctr"/>
          <a:lstStyle/>
          <a:p>
            <a:pPr marL="0" indent="0">
              <a:buNone/>
            </a:pPr>
            <a:r>
              <a:rPr lang="en-US" sz="2200" b="1" dirty="0">
                <a:solidFill>
                  <a:srgbClr val="1C1414"/>
                </a:solidFill>
                <a:latin typeface="Aptos Display" pitchFamily="34" charset="0"/>
                <a:ea typeface="Aptos Display" pitchFamily="34" charset="-122"/>
                <a:cs typeface="Aptos Display" pitchFamily="34" charset="-120"/>
              </a:rPr>
              <a:t>From initial prompt to enterprise-wide scaling.</a:t>
            </a:r>
            <a:endParaRPr lang="en-US" sz="2200" dirty="0"/>
          </a:p>
        </p:txBody>
      </p:sp>
      <p:sp>
        <p:nvSpPr>
          <p:cNvPr id="10" name="Text 6"/>
          <p:cNvSpPr/>
          <p:nvPr/>
        </p:nvSpPr>
        <p:spPr>
          <a:xfrm>
            <a:off x="676656" y="1207008"/>
            <a:ext cx="8229600" cy="384048"/>
          </a:xfrm>
          <a:prstGeom prst="rect">
            <a:avLst/>
          </a:prstGeom>
          <a:noFill/>
          <a:ln/>
        </p:spPr>
        <p:txBody>
          <a:bodyPr wrap="square" lIns="0" tIns="0" rIns="0" bIns="0" rtlCol="0" anchor="ctr"/>
          <a:lstStyle/>
          <a:p>
            <a:pPr marL="0" indent="0">
              <a:buNone/>
            </a:pPr>
            <a:r>
              <a:rPr lang="en-US" sz="1150" dirty="0">
                <a:solidFill>
                  <a:srgbClr val="5F6A6A"/>
                </a:solidFill>
                <a:latin typeface="Aptos" pitchFamily="34" charset="0"/>
                <a:ea typeface="Aptos" pitchFamily="34" charset="-122"/>
                <a:cs typeface="Aptos" pitchFamily="34" charset="-120"/>
              </a:rPr>
              <a:t>This is the compute profile AWS can help us unlock as we move through Spendbase.</a:t>
            </a:r>
            <a:endParaRPr lang="en-US" sz="1150" dirty="0"/>
          </a:p>
        </p:txBody>
      </p:sp>
      <p:sp>
        <p:nvSpPr>
          <p:cNvPr id="11" name="Shape 7"/>
          <p:cNvSpPr/>
          <p:nvPr/>
        </p:nvSpPr>
        <p:spPr>
          <a:xfrm>
            <a:off x="676656" y="1965960"/>
            <a:ext cx="1975104" cy="1316736"/>
          </a:xfrm>
          <a:prstGeom prst="roundRect">
            <a:avLst>
              <a:gd name="adj" fmla="val 5556"/>
            </a:avLst>
          </a:prstGeom>
          <a:solidFill>
            <a:srgbClr val="F0FAF5"/>
          </a:solidFill>
          <a:ln w="12700">
            <a:solidFill>
              <a:srgbClr val="38BDF8"/>
            </a:solidFill>
            <a:prstDash val="solid"/>
          </a:ln>
          <a:effectLst>
            <a:outerShdw blurRad="12700" dist="50800" dir="2700000" algn="bl" rotWithShape="0">
              <a:srgbClr val="DDECF3">
                <a:alpha val="12000"/>
              </a:srgbClr>
            </a:outerShdw>
          </a:effectLst>
        </p:spPr>
        <p:txBody>
          <a:bodyPr/>
          <a:lstStyle/>
          <a:p>
            <a:endParaRPr lang="en-US"/>
          </a:p>
        </p:txBody>
      </p:sp>
      <p:sp>
        <p:nvSpPr>
          <p:cNvPr id="12" name="Shape 8"/>
          <p:cNvSpPr/>
          <p:nvPr/>
        </p:nvSpPr>
        <p:spPr>
          <a:xfrm>
            <a:off x="694944" y="1984248"/>
            <a:ext cx="1938528" cy="54864"/>
          </a:xfrm>
          <a:prstGeom prst="rect">
            <a:avLst/>
          </a:prstGeom>
          <a:solidFill>
            <a:srgbClr val="38BDF8"/>
          </a:solidFill>
          <a:ln w="12700">
            <a:solidFill>
              <a:srgbClr val="38BDF8"/>
            </a:solidFill>
            <a:prstDash val="solid"/>
          </a:ln>
        </p:spPr>
        <p:txBody>
          <a:bodyPr/>
          <a:lstStyle/>
          <a:p>
            <a:endParaRPr lang="en-US"/>
          </a:p>
        </p:txBody>
      </p:sp>
      <p:sp>
        <p:nvSpPr>
          <p:cNvPr id="13" name="Text 9"/>
          <p:cNvSpPr/>
          <p:nvPr/>
        </p:nvSpPr>
        <p:spPr>
          <a:xfrm>
            <a:off x="804672" y="2212848"/>
            <a:ext cx="1719072" cy="128016"/>
          </a:xfrm>
          <a:prstGeom prst="rect">
            <a:avLst/>
          </a:prstGeom>
          <a:noFill/>
          <a:ln/>
        </p:spPr>
        <p:txBody>
          <a:bodyPr wrap="square" lIns="0" tIns="0" rIns="0" bIns="0" rtlCol="0" anchor="ctr"/>
          <a:lstStyle/>
          <a:p>
            <a:pPr marL="0" indent="0" algn="ctr">
              <a:buNone/>
            </a:pPr>
            <a:r>
              <a:rPr lang="en-US" sz="1060" b="1" dirty="0">
                <a:solidFill>
                  <a:srgbClr val="38BDF8"/>
                </a:solidFill>
                <a:latin typeface="Aptos" pitchFamily="34" charset="0"/>
                <a:ea typeface="Aptos" pitchFamily="34" charset="-122"/>
                <a:cs typeface="Aptos" pitchFamily="34" charset="-120"/>
              </a:rPr>
              <a:t>Phase 1</a:t>
            </a:r>
            <a:endParaRPr lang="en-US" sz="1060" dirty="0"/>
          </a:p>
        </p:txBody>
      </p:sp>
      <p:sp>
        <p:nvSpPr>
          <p:cNvPr id="14" name="Text 10"/>
          <p:cNvSpPr/>
          <p:nvPr/>
        </p:nvSpPr>
        <p:spPr>
          <a:xfrm>
            <a:off x="804672" y="2523744"/>
            <a:ext cx="1719072" cy="384048"/>
          </a:xfrm>
          <a:prstGeom prst="rect">
            <a:avLst/>
          </a:prstGeom>
          <a:noFill/>
          <a:ln/>
        </p:spPr>
        <p:txBody>
          <a:bodyPr wrap="square" lIns="0" tIns="0" rIns="0" bIns="0" rtlCol="0" anchor="ctr">
            <a:normAutofit/>
          </a:bodyPr>
          <a:lstStyle/>
          <a:p>
            <a:pPr marL="0" indent="0" algn="ctr">
              <a:buNone/>
            </a:pPr>
            <a:r>
              <a:rPr lang="en-US" sz="1020" b="1" dirty="0">
                <a:solidFill>
                  <a:srgbClr val="1C1414"/>
                </a:solidFill>
                <a:latin typeface="Aptos" pitchFamily="34" charset="0"/>
                <a:ea typeface="Aptos" pitchFamily="34" charset="-122"/>
                <a:cs typeface="Aptos" pitchFamily="34" charset="-120"/>
              </a:rPr>
              <a:t>Natural language prompting</a:t>
            </a:r>
            <a:endParaRPr lang="en-US" sz="1020" dirty="0"/>
          </a:p>
        </p:txBody>
      </p:sp>
      <p:sp>
        <p:nvSpPr>
          <p:cNvPr id="15" name="Shape 11"/>
          <p:cNvSpPr/>
          <p:nvPr/>
        </p:nvSpPr>
        <p:spPr>
          <a:xfrm>
            <a:off x="2944368" y="1965960"/>
            <a:ext cx="1975104" cy="1316736"/>
          </a:xfrm>
          <a:prstGeom prst="roundRect">
            <a:avLst>
              <a:gd name="adj" fmla="val 5556"/>
            </a:avLst>
          </a:prstGeom>
          <a:solidFill>
            <a:srgbClr val="F0FAF5"/>
          </a:solidFill>
          <a:ln w="12700">
            <a:solidFill>
              <a:srgbClr val="38BDF8"/>
            </a:solidFill>
            <a:prstDash val="solid"/>
          </a:ln>
          <a:effectLst>
            <a:outerShdw blurRad="12700" dist="50800" dir="2700000" algn="bl" rotWithShape="0">
              <a:srgbClr val="DDECF3">
                <a:alpha val="12000"/>
              </a:srgbClr>
            </a:outerShdw>
          </a:effectLst>
        </p:spPr>
        <p:txBody>
          <a:bodyPr/>
          <a:lstStyle/>
          <a:p>
            <a:endParaRPr lang="en-US"/>
          </a:p>
        </p:txBody>
      </p:sp>
      <p:sp>
        <p:nvSpPr>
          <p:cNvPr id="16" name="Shape 12"/>
          <p:cNvSpPr/>
          <p:nvPr/>
        </p:nvSpPr>
        <p:spPr>
          <a:xfrm>
            <a:off x="2962656" y="1984248"/>
            <a:ext cx="1938528" cy="54864"/>
          </a:xfrm>
          <a:prstGeom prst="rect">
            <a:avLst/>
          </a:prstGeom>
          <a:solidFill>
            <a:srgbClr val="38BDF8"/>
          </a:solidFill>
          <a:ln w="12700">
            <a:solidFill>
              <a:srgbClr val="38BDF8"/>
            </a:solidFill>
            <a:prstDash val="solid"/>
          </a:ln>
        </p:spPr>
        <p:txBody>
          <a:bodyPr/>
          <a:lstStyle/>
          <a:p>
            <a:endParaRPr lang="en-US"/>
          </a:p>
        </p:txBody>
      </p:sp>
      <p:sp>
        <p:nvSpPr>
          <p:cNvPr id="17" name="Text 13"/>
          <p:cNvSpPr/>
          <p:nvPr/>
        </p:nvSpPr>
        <p:spPr>
          <a:xfrm>
            <a:off x="3072384" y="2212848"/>
            <a:ext cx="1719072" cy="128016"/>
          </a:xfrm>
          <a:prstGeom prst="rect">
            <a:avLst/>
          </a:prstGeom>
          <a:noFill/>
          <a:ln/>
        </p:spPr>
        <p:txBody>
          <a:bodyPr wrap="square" lIns="0" tIns="0" rIns="0" bIns="0" rtlCol="0" anchor="ctr"/>
          <a:lstStyle/>
          <a:p>
            <a:pPr marL="0" indent="0" algn="ctr">
              <a:buNone/>
            </a:pPr>
            <a:r>
              <a:rPr lang="en-US" sz="1060" b="1" dirty="0">
                <a:solidFill>
                  <a:srgbClr val="38BDF8"/>
                </a:solidFill>
                <a:latin typeface="Aptos" pitchFamily="34" charset="0"/>
                <a:ea typeface="Aptos" pitchFamily="34" charset="-122"/>
                <a:cs typeface="Aptos" pitchFamily="34" charset="-120"/>
              </a:rPr>
              <a:t>Phase 2</a:t>
            </a:r>
            <a:endParaRPr lang="en-US" sz="1060" dirty="0"/>
          </a:p>
        </p:txBody>
      </p:sp>
      <p:sp>
        <p:nvSpPr>
          <p:cNvPr id="18" name="Text 14"/>
          <p:cNvSpPr/>
          <p:nvPr/>
        </p:nvSpPr>
        <p:spPr>
          <a:xfrm>
            <a:off x="3072384" y="2523744"/>
            <a:ext cx="1719072" cy="384048"/>
          </a:xfrm>
          <a:prstGeom prst="rect">
            <a:avLst/>
          </a:prstGeom>
          <a:noFill/>
          <a:ln/>
        </p:spPr>
        <p:txBody>
          <a:bodyPr wrap="square" lIns="0" tIns="0" rIns="0" bIns="0" rtlCol="0" anchor="ctr">
            <a:normAutofit/>
          </a:bodyPr>
          <a:lstStyle/>
          <a:p>
            <a:pPr marL="0" indent="0" algn="ctr">
              <a:buNone/>
            </a:pPr>
            <a:r>
              <a:rPr lang="en-US" sz="1020" b="1" dirty="0">
                <a:solidFill>
                  <a:srgbClr val="1C1414"/>
                </a:solidFill>
                <a:latin typeface="Aptos" pitchFamily="34" charset="0"/>
                <a:ea typeface="Aptos" pitchFamily="34" charset="-122"/>
                <a:cs typeface="Aptos" pitchFamily="34" charset="-120"/>
              </a:rPr>
              <a:t>Multi-step business workflows</a:t>
            </a:r>
            <a:endParaRPr lang="en-US" sz="1020" dirty="0"/>
          </a:p>
        </p:txBody>
      </p:sp>
      <p:sp>
        <p:nvSpPr>
          <p:cNvPr id="19" name="Shape 15"/>
          <p:cNvSpPr/>
          <p:nvPr/>
        </p:nvSpPr>
        <p:spPr>
          <a:xfrm>
            <a:off x="5212080" y="1965960"/>
            <a:ext cx="1975104" cy="1316736"/>
          </a:xfrm>
          <a:prstGeom prst="roundRect">
            <a:avLst>
              <a:gd name="adj" fmla="val 5556"/>
            </a:avLst>
          </a:prstGeom>
          <a:solidFill>
            <a:srgbClr val="F0FAF5"/>
          </a:solidFill>
          <a:ln w="12700">
            <a:solidFill>
              <a:srgbClr val="38BDF8"/>
            </a:solidFill>
            <a:prstDash val="solid"/>
          </a:ln>
          <a:effectLst>
            <a:outerShdw blurRad="12700" dist="50800" dir="2700000" algn="bl" rotWithShape="0">
              <a:srgbClr val="DDECF3">
                <a:alpha val="12000"/>
              </a:srgbClr>
            </a:outerShdw>
          </a:effectLst>
        </p:spPr>
        <p:txBody>
          <a:bodyPr/>
          <a:lstStyle/>
          <a:p>
            <a:endParaRPr lang="en-US"/>
          </a:p>
        </p:txBody>
      </p:sp>
      <p:sp>
        <p:nvSpPr>
          <p:cNvPr id="20" name="Shape 16"/>
          <p:cNvSpPr/>
          <p:nvPr/>
        </p:nvSpPr>
        <p:spPr>
          <a:xfrm>
            <a:off x="5230368" y="1984248"/>
            <a:ext cx="1938528" cy="54864"/>
          </a:xfrm>
          <a:prstGeom prst="rect">
            <a:avLst/>
          </a:prstGeom>
          <a:solidFill>
            <a:srgbClr val="38BDF8"/>
          </a:solidFill>
          <a:ln w="12700">
            <a:solidFill>
              <a:srgbClr val="38BDF8"/>
            </a:solidFill>
            <a:prstDash val="solid"/>
          </a:ln>
        </p:spPr>
        <p:txBody>
          <a:bodyPr/>
          <a:lstStyle/>
          <a:p>
            <a:endParaRPr lang="en-US"/>
          </a:p>
        </p:txBody>
      </p:sp>
      <p:sp>
        <p:nvSpPr>
          <p:cNvPr id="21" name="Text 17"/>
          <p:cNvSpPr/>
          <p:nvPr/>
        </p:nvSpPr>
        <p:spPr>
          <a:xfrm>
            <a:off x="5340096" y="2212848"/>
            <a:ext cx="1719072" cy="128016"/>
          </a:xfrm>
          <a:prstGeom prst="rect">
            <a:avLst/>
          </a:prstGeom>
          <a:noFill/>
          <a:ln/>
        </p:spPr>
        <p:txBody>
          <a:bodyPr wrap="square" lIns="0" tIns="0" rIns="0" bIns="0" rtlCol="0" anchor="ctr"/>
          <a:lstStyle/>
          <a:p>
            <a:pPr marL="0" indent="0" algn="ctr">
              <a:buNone/>
            </a:pPr>
            <a:r>
              <a:rPr lang="en-US" sz="1060" b="1" dirty="0">
                <a:solidFill>
                  <a:srgbClr val="38BDF8"/>
                </a:solidFill>
                <a:latin typeface="Aptos" pitchFamily="34" charset="0"/>
                <a:ea typeface="Aptos" pitchFamily="34" charset="-122"/>
                <a:cs typeface="Aptos" pitchFamily="34" charset="-120"/>
              </a:rPr>
              <a:t>Phase 3</a:t>
            </a:r>
            <a:endParaRPr lang="en-US" sz="1060" dirty="0"/>
          </a:p>
        </p:txBody>
      </p:sp>
      <p:sp>
        <p:nvSpPr>
          <p:cNvPr id="22" name="Text 18"/>
          <p:cNvSpPr/>
          <p:nvPr/>
        </p:nvSpPr>
        <p:spPr>
          <a:xfrm>
            <a:off x="5340096" y="2523744"/>
            <a:ext cx="1719072" cy="384048"/>
          </a:xfrm>
          <a:prstGeom prst="rect">
            <a:avLst/>
          </a:prstGeom>
          <a:noFill/>
          <a:ln/>
        </p:spPr>
        <p:txBody>
          <a:bodyPr wrap="square" lIns="0" tIns="0" rIns="0" bIns="0" rtlCol="0" anchor="ctr">
            <a:normAutofit/>
          </a:bodyPr>
          <a:lstStyle/>
          <a:p>
            <a:pPr marL="0" indent="0" algn="ctr">
              <a:buNone/>
            </a:pPr>
            <a:r>
              <a:rPr lang="en-US" sz="1020" b="1" dirty="0">
                <a:solidFill>
                  <a:srgbClr val="1C1414"/>
                </a:solidFill>
                <a:latin typeface="Aptos" pitchFamily="34" charset="0"/>
                <a:ea typeface="Aptos" pitchFamily="34" charset="-122"/>
                <a:cs typeface="Aptos" pitchFamily="34" charset="-120"/>
              </a:rPr>
              <a:t>Secure, isolated enterprise deployments</a:t>
            </a:r>
            <a:endParaRPr lang="en-US" sz="1020" dirty="0"/>
          </a:p>
        </p:txBody>
      </p:sp>
      <p:sp>
        <p:nvSpPr>
          <p:cNvPr id="23" name="Shape 19"/>
          <p:cNvSpPr/>
          <p:nvPr/>
        </p:nvSpPr>
        <p:spPr>
          <a:xfrm>
            <a:off x="7479792" y="1965960"/>
            <a:ext cx="1975104" cy="1316736"/>
          </a:xfrm>
          <a:prstGeom prst="roundRect">
            <a:avLst>
              <a:gd name="adj" fmla="val 5556"/>
            </a:avLst>
          </a:prstGeom>
          <a:solidFill>
            <a:srgbClr val="F0FAF5"/>
          </a:solidFill>
          <a:ln w="12700">
            <a:solidFill>
              <a:srgbClr val="38BDF8"/>
            </a:solidFill>
            <a:prstDash val="solid"/>
          </a:ln>
          <a:effectLst>
            <a:outerShdw blurRad="12700" dist="50800" dir="2700000" algn="bl" rotWithShape="0">
              <a:srgbClr val="DDECF3">
                <a:alpha val="12000"/>
              </a:srgbClr>
            </a:outerShdw>
          </a:effectLst>
        </p:spPr>
        <p:txBody>
          <a:bodyPr/>
          <a:lstStyle/>
          <a:p>
            <a:endParaRPr lang="en-US"/>
          </a:p>
        </p:txBody>
      </p:sp>
      <p:sp>
        <p:nvSpPr>
          <p:cNvPr id="24" name="Shape 20"/>
          <p:cNvSpPr/>
          <p:nvPr/>
        </p:nvSpPr>
        <p:spPr>
          <a:xfrm>
            <a:off x="7498080" y="1984248"/>
            <a:ext cx="1938528" cy="54864"/>
          </a:xfrm>
          <a:prstGeom prst="rect">
            <a:avLst/>
          </a:prstGeom>
          <a:solidFill>
            <a:srgbClr val="38BDF8"/>
          </a:solidFill>
          <a:ln w="12700">
            <a:solidFill>
              <a:srgbClr val="38BDF8"/>
            </a:solidFill>
            <a:prstDash val="solid"/>
          </a:ln>
        </p:spPr>
        <p:txBody>
          <a:bodyPr/>
          <a:lstStyle/>
          <a:p>
            <a:endParaRPr lang="en-US"/>
          </a:p>
        </p:txBody>
      </p:sp>
      <p:sp>
        <p:nvSpPr>
          <p:cNvPr id="25" name="Text 21"/>
          <p:cNvSpPr/>
          <p:nvPr/>
        </p:nvSpPr>
        <p:spPr>
          <a:xfrm>
            <a:off x="7607808" y="2212848"/>
            <a:ext cx="1719072" cy="128016"/>
          </a:xfrm>
          <a:prstGeom prst="rect">
            <a:avLst/>
          </a:prstGeom>
          <a:noFill/>
          <a:ln/>
        </p:spPr>
        <p:txBody>
          <a:bodyPr wrap="square" lIns="0" tIns="0" rIns="0" bIns="0" rtlCol="0" anchor="ctr"/>
          <a:lstStyle/>
          <a:p>
            <a:pPr marL="0" indent="0" algn="ctr">
              <a:buNone/>
            </a:pPr>
            <a:r>
              <a:rPr lang="en-US" sz="1060" b="1" dirty="0">
                <a:solidFill>
                  <a:srgbClr val="38BDF8"/>
                </a:solidFill>
                <a:latin typeface="Aptos" pitchFamily="34" charset="0"/>
                <a:ea typeface="Aptos" pitchFamily="34" charset="-122"/>
                <a:cs typeface="Aptos" pitchFamily="34" charset="-120"/>
              </a:rPr>
              <a:t>Phase 4</a:t>
            </a:r>
            <a:endParaRPr lang="en-US" sz="1060" dirty="0"/>
          </a:p>
        </p:txBody>
      </p:sp>
      <p:sp>
        <p:nvSpPr>
          <p:cNvPr id="26" name="Text 22"/>
          <p:cNvSpPr/>
          <p:nvPr/>
        </p:nvSpPr>
        <p:spPr>
          <a:xfrm>
            <a:off x="7607808" y="2523744"/>
            <a:ext cx="1719072" cy="384048"/>
          </a:xfrm>
          <a:prstGeom prst="rect">
            <a:avLst/>
          </a:prstGeom>
          <a:noFill/>
          <a:ln/>
        </p:spPr>
        <p:txBody>
          <a:bodyPr wrap="square" lIns="0" tIns="0" rIns="0" bIns="0" rtlCol="0" anchor="ctr">
            <a:normAutofit/>
          </a:bodyPr>
          <a:lstStyle/>
          <a:p>
            <a:pPr marL="0" indent="0" algn="ctr">
              <a:buNone/>
            </a:pPr>
            <a:r>
              <a:rPr lang="en-US" sz="1020" b="1" dirty="0">
                <a:solidFill>
                  <a:srgbClr val="1C1414"/>
                </a:solidFill>
                <a:latin typeface="Aptos" pitchFamily="34" charset="0"/>
                <a:ea typeface="Aptos" pitchFamily="34" charset="-122"/>
                <a:cs typeface="Aptos" pitchFamily="34" charset="-120"/>
              </a:rPr>
              <a:t>Massive cross-department scaling</a:t>
            </a:r>
            <a:endParaRPr lang="en-US" sz="1020" dirty="0"/>
          </a:p>
        </p:txBody>
      </p:sp>
      <p:sp>
        <p:nvSpPr>
          <p:cNvPr id="27" name="Shape 23"/>
          <p:cNvSpPr/>
          <p:nvPr/>
        </p:nvSpPr>
        <p:spPr>
          <a:xfrm>
            <a:off x="2642616" y="2834640"/>
            <a:ext cx="201168" cy="256032"/>
          </a:xfrm>
          <a:prstGeom prst="chevron">
            <a:avLst/>
          </a:prstGeom>
          <a:solidFill>
            <a:srgbClr val="38BDF8">
              <a:alpha val="90000"/>
            </a:srgbClr>
          </a:solidFill>
          <a:ln w="12700">
            <a:solidFill>
              <a:srgbClr val="38BDF8"/>
            </a:solidFill>
            <a:prstDash val="solid"/>
          </a:ln>
        </p:spPr>
        <p:txBody>
          <a:bodyPr/>
          <a:lstStyle/>
          <a:p>
            <a:endParaRPr lang="en-US"/>
          </a:p>
        </p:txBody>
      </p:sp>
      <p:sp>
        <p:nvSpPr>
          <p:cNvPr id="28" name="Shape 24"/>
          <p:cNvSpPr/>
          <p:nvPr/>
        </p:nvSpPr>
        <p:spPr>
          <a:xfrm>
            <a:off x="4910328" y="2834640"/>
            <a:ext cx="201168" cy="256032"/>
          </a:xfrm>
          <a:prstGeom prst="chevron">
            <a:avLst/>
          </a:prstGeom>
          <a:solidFill>
            <a:srgbClr val="38BDF8">
              <a:alpha val="90000"/>
            </a:srgbClr>
          </a:solidFill>
          <a:ln w="12700">
            <a:solidFill>
              <a:srgbClr val="38BDF8"/>
            </a:solidFill>
            <a:prstDash val="solid"/>
          </a:ln>
        </p:spPr>
        <p:txBody>
          <a:bodyPr/>
          <a:lstStyle/>
          <a:p>
            <a:endParaRPr lang="en-US"/>
          </a:p>
        </p:txBody>
      </p:sp>
      <p:sp>
        <p:nvSpPr>
          <p:cNvPr id="29" name="Shape 25"/>
          <p:cNvSpPr/>
          <p:nvPr/>
        </p:nvSpPr>
        <p:spPr>
          <a:xfrm>
            <a:off x="7178040" y="2834640"/>
            <a:ext cx="201168" cy="256032"/>
          </a:xfrm>
          <a:prstGeom prst="chevron">
            <a:avLst/>
          </a:prstGeom>
          <a:solidFill>
            <a:srgbClr val="38BDF8">
              <a:alpha val="90000"/>
            </a:srgbClr>
          </a:solidFill>
          <a:ln w="12700">
            <a:solidFill>
              <a:srgbClr val="38BDF8"/>
            </a:solidFill>
            <a:prstDash val="solid"/>
          </a:ln>
        </p:spPr>
        <p:txBody>
          <a:bodyPr/>
          <a:lstStyle/>
          <a:p>
            <a:endParaRPr lang="en-US"/>
          </a:p>
        </p:txBody>
      </p:sp>
      <p:sp>
        <p:nvSpPr>
          <p:cNvPr id="30" name="Shape 26"/>
          <p:cNvSpPr/>
          <p:nvPr/>
        </p:nvSpPr>
        <p:spPr>
          <a:xfrm>
            <a:off x="676656" y="3794760"/>
            <a:ext cx="10881360" cy="1719072"/>
          </a:xfrm>
          <a:prstGeom prst="roundRect">
            <a:avLst>
              <a:gd name="adj" fmla="val 4255"/>
            </a:avLst>
          </a:prstGeom>
          <a:solidFill>
            <a:srgbClr val="F8FDFA"/>
          </a:solidFill>
          <a:ln w="12700">
            <a:solidFill>
              <a:srgbClr val="E5A932"/>
            </a:solidFill>
            <a:prstDash val="solid"/>
          </a:ln>
          <a:effectLst>
            <a:outerShdw blurRad="12700" dist="50800" dir="2700000" algn="bl" rotWithShape="0">
              <a:srgbClr val="DDECF3">
                <a:alpha val="12000"/>
              </a:srgbClr>
            </a:outerShdw>
          </a:effectLst>
        </p:spPr>
        <p:txBody>
          <a:bodyPr/>
          <a:lstStyle/>
          <a:p>
            <a:endParaRPr lang="en-US"/>
          </a:p>
        </p:txBody>
      </p:sp>
      <p:sp>
        <p:nvSpPr>
          <p:cNvPr id="31" name="Shape 27"/>
          <p:cNvSpPr/>
          <p:nvPr/>
        </p:nvSpPr>
        <p:spPr>
          <a:xfrm>
            <a:off x="694944" y="3813048"/>
            <a:ext cx="73152" cy="1682496"/>
          </a:xfrm>
          <a:prstGeom prst="rect">
            <a:avLst/>
          </a:prstGeom>
          <a:solidFill>
            <a:srgbClr val="E5A932"/>
          </a:solidFill>
          <a:ln w="12700">
            <a:solidFill>
              <a:srgbClr val="E5A932"/>
            </a:solidFill>
            <a:prstDash val="solid"/>
          </a:ln>
        </p:spPr>
        <p:txBody>
          <a:bodyPr/>
          <a:lstStyle/>
          <a:p>
            <a:endParaRPr lang="en-US"/>
          </a:p>
        </p:txBody>
      </p:sp>
      <p:sp>
        <p:nvSpPr>
          <p:cNvPr id="32" name="Text 28"/>
          <p:cNvSpPr/>
          <p:nvPr/>
        </p:nvSpPr>
        <p:spPr>
          <a:xfrm>
            <a:off x="932688" y="4096512"/>
            <a:ext cx="1280160" cy="146304"/>
          </a:xfrm>
          <a:prstGeom prst="rect">
            <a:avLst/>
          </a:prstGeom>
          <a:noFill/>
          <a:ln/>
        </p:spPr>
        <p:txBody>
          <a:bodyPr wrap="square" lIns="0" tIns="0" rIns="0" bIns="0" rtlCol="0" anchor="ctr"/>
          <a:lstStyle/>
          <a:p>
            <a:pPr marL="0" indent="0">
              <a:buNone/>
            </a:pPr>
            <a:r>
              <a:rPr lang="en-US" sz="1160" b="1" dirty="0">
                <a:solidFill>
                  <a:srgbClr val="E5A932"/>
                </a:solidFill>
                <a:latin typeface="Aptos" pitchFamily="34" charset="0"/>
                <a:ea typeface="Aptos" pitchFamily="34" charset="-122"/>
                <a:cs typeface="Aptos" pitchFamily="34" charset="-120"/>
              </a:rPr>
              <a:t>The AWS Ask</a:t>
            </a:r>
            <a:endParaRPr lang="en-US" sz="1160" dirty="0"/>
          </a:p>
        </p:txBody>
      </p:sp>
      <p:sp>
        <p:nvSpPr>
          <p:cNvPr id="33" name="Text 29"/>
          <p:cNvSpPr/>
          <p:nvPr/>
        </p:nvSpPr>
        <p:spPr>
          <a:xfrm>
            <a:off x="932688" y="4462272"/>
            <a:ext cx="9921240" cy="658368"/>
          </a:xfrm>
          <a:prstGeom prst="rect">
            <a:avLst/>
          </a:prstGeom>
          <a:noFill/>
          <a:ln/>
        </p:spPr>
        <p:txBody>
          <a:bodyPr wrap="square" lIns="0" tIns="0" rIns="0" bIns="0" rtlCol="0" anchor="ctr">
            <a:normAutofit/>
          </a:bodyPr>
          <a:lstStyle/>
          <a:p>
            <a:pPr marL="0" indent="0">
              <a:buNone/>
            </a:pPr>
            <a:r>
              <a:rPr lang="en-US" sz="1350" b="1" dirty="0">
                <a:solidFill>
                  <a:srgbClr val="1C1414"/>
                </a:solidFill>
                <a:latin typeface="Aptos" pitchFamily="34" charset="0"/>
                <a:ea typeface="Aptos" pitchFamily="34" charset="-122"/>
                <a:cs typeface="Aptos" pitchFamily="34" charset="-120"/>
              </a:rPr>
              <a:t>Scaling NovusSparks' multi-engine validation and semantic RAG requires immense, reliable compute power. Through Spendbase, we are seeking AWS Activate credits to support GPU inference, retrieval infrastructure, and secure document storage as we onboard our enterprise waitlist.</a:t>
            </a:r>
            <a:endParaRPr lang="en-US" sz="1350" dirty="0"/>
          </a:p>
        </p:txBody>
      </p:sp>
      <p:sp>
        <p:nvSpPr>
          <p:cNvPr id="34" name="Text 30"/>
          <p:cNvSpPr/>
          <p:nvPr/>
        </p:nvSpPr>
        <p:spPr>
          <a:xfrm>
            <a:off x="932688" y="5175504"/>
            <a:ext cx="8595360" cy="164592"/>
          </a:xfrm>
          <a:prstGeom prst="rect">
            <a:avLst/>
          </a:prstGeom>
          <a:noFill/>
          <a:ln/>
        </p:spPr>
        <p:txBody>
          <a:bodyPr wrap="square" lIns="0" tIns="0" rIns="0" bIns="0" rtlCol="0" anchor="ctr"/>
          <a:lstStyle/>
          <a:p>
            <a:pPr marL="0" indent="0">
              <a:buNone/>
            </a:pPr>
            <a:r>
              <a:rPr lang="en-US" sz="1030" dirty="0">
                <a:solidFill>
                  <a:srgbClr val="5F6A6A"/>
                </a:solidFill>
                <a:latin typeface="Aptos" pitchFamily="34" charset="0"/>
                <a:ea typeface="Aptos" pitchFamily="34" charset="-122"/>
                <a:cs typeface="Aptos" pitchFamily="34" charset="-120"/>
              </a:rPr>
              <a:t>Use of credits: model validation workloads, vector retrieval, export pipelines, and storage isolation for enterprise pilots.</a:t>
            </a:r>
            <a:endParaRPr lang="en-US" sz="103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38BDF8"/>
          </a:solidFill>
          <a:ln w="12700">
            <a:solidFill>
              <a:srgbClr val="38BDF8"/>
            </a:solidFill>
            <a:prstDash val="solid"/>
          </a:ln>
        </p:spPr>
        <p:txBody>
          <a:bodyPr/>
          <a:lstStyle/>
          <a:p>
            <a:endParaRPr lang="en-US"/>
          </a:p>
        </p:txBody>
      </p:sp>
      <p:sp>
        <p:nvSpPr>
          <p:cNvPr id="3" name="Shape 1"/>
          <p:cNvSpPr/>
          <p:nvPr/>
        </p:nvSpPr>
        <p:spPr>
          <a:xfrm>
            <a:off x="10012680" y="0"/>
            <a:ext cx="2179015" cy="128016"/>
          </a:xfrm>
          <a:prstGeom prst="rect">
            <a:avLst/>
          </a:prstGeom>
          <a:solidFill>
            <a:srgbClr val="E5A932"/>
          </a:solidFill>
          <a:ln w="12700">
            <a:solidFill>
              <a:srgbClr val="E5A932"/>
            </a:solidFill>
            <a:prstDash val="solid"/>
          </a:ln>
        </p:spPr>
        <p:txBody>
          <a:bodyPr/>
          <a:lstStyle/>
          <a:p>
            <a:endParaRPr lang="en-US"/>
          </a:p>
        </p:txBody>
      </p:sp>
      <p:sp>
        <p:nvSpPr>
          <p:cNvPr id="4" name="Text 2"/>
          <p:cNvSpPr/>
          <p:nvPr/>
        </p:nvSpPr>
        <p:spPr>
          <a:xfrm>
            <a:off x="438912" y="6437376"/>
            <a:ext cx="1645920" cy="146304"/>
          </a:xfrm>
          <a:prstGeom prst="rect">
            <a:avLst/>
          </a:prstGeom>
          <a:noFill/>
          <a:ln/>
        </p:spPr>
        <p:txBody>
          <a:bodyPr wrap="square" lIns="0" tIns="0" rIns="0" bIns="0" rtlCol="0" anchor="ctr"/>
          <a:lstStyle/>
          <a:p>
            <a:pPr marL="0" indent="0">
              <a:buNone/>
            </a:pPr>
            <a:r>
              <a:rPr lang="en-US" sz="880" b="1" dirty="0">
                <a:solidFill>
                  <a:srgbClr val="1C1414"/>
                </a:solidFill>
                <a:latin typeface="Aptos" pitchFamily="34" charset="0"/>
                <a:ea typeface="Aptos" pitchFamily="34" charset="-122"/>
                <a:cs typeface="Aptos" pitchFamily="34" charset="-120"/>
              </a:rPr>
              <a:t>Techpigeon</a:t>
            </a:r>
            <a:endParaRPr lang="en-US" sz="880" dirty="0"/>
          </a:p>
        </p:txBody>
      </p:sp>
      <p:sp>
        <p:nvSpPr>
          <p:cNvPr id="5" name="Text 3"/>
          <p:cNvSpPr/>
          <p:nvPr/>
        </p:nvSpPr>
        <p:spPr>
          <a:xfrm>
            <a:off x="1920240" y="6437376"/>
            <a:ext cx="1828800" cy="146304"/>
          </a:xfrm>
          <a:prstGeom prst="rect">
            <a:avLst/>
          </a:prstGeom>
          <a:noFill/>
          <a:ln/>
        </p:spPr>
        <p:txBody>
          <a:bodyPr wrap="square" lIns="0" tIns="0" rIns="0" bIns="0" rtlCol="0" anchor="ctr"/>
          <a:lstStyle/>
          <a:p>
            <a:pPr marL="0" indent="0">
              <a:buNone/>
            </a:pPr>
            <a:r>
              <a:rPr lang="en-US" sz="880" dirty="0">
                <a:solidFill>
                  <a:srgbClr val="5F6A6A"/>
                </a:solidFill>
                <a:latin typeface="Aptos" pitchFamily="34" charset="0"/>
                <a:ea typeface="Aptos" pitchFamily="34" charset="-122"/>
                <a:cs typeface="Aptos" pitchFamily="34" charset="-120"/>
              </a:rPr>
              <a:t>NovusSparks AI</a:t>
            </a:r>
            <a:endParaRPr lang="en-US" sz="880" dirty="0"/>
          </a:p>
        </p:txBody>
      </p:sp>
      <p:sp>
        <p:nvSpPr>
          <p:cNvPr id="6" name="Text 4"/>
          <p:cNvSpPr/>
          <p:nvPr/>
        </p:nvSpPr>
        <p:spPr>
          <a:xfrm>
            <a:off x="8732520" y="6437376"/>
            <a:ext cx="2926080" cy="146304"/>
          </a:xfrm>
          <a:prstGeom prst="rect">
            <a:avLst/>
          </a:prstGeom>
          <a:noFill/>
          <a:ln/>
        </p:spPr>
        <p:txBody>
          <a:bodyPr wrap="square" lIns="0" tIns="0" rIns="0" bIns="0" rtlCol="0" anchor="ctr"/>
          <a:lstStyle/>
          <a:p>
            <a:pPr marL="0" indent="0" algn="r">
              <a:buNone/>
            </a:pPr>
            <a:r>
              <a:rPr lang="en-US" sz="880" dirty="0">
                <a:solidFill>
                  <a:srgbClr val="5F6A6A"/>
                </a:solidFill>
                <a:latin typeface="Aptos" pitchFamily="34" charset="0"/>
                <a:ea typeface="Aptos" pitchFamily="34" charset="-122"/>
                <a:cs typeface="Aptos" pitchFamily="34" charset="-120"/>
              </a:rPr>
              <a:t>AWS Activate via Spendbase</a:t>
            </a:r>
            <a:endParaRPr lang="en-US" sz="880" dirty="0"/>
          </a:p>
        </p:txBody>
      </p:sp>
      <p:pic>
        <p:nvPicPr>
          <p:cNvPr id="9" name="Image 2" descr="D:\ai-powered-techpigeon\src\assets\images\novussparks-logo-1200.png"/>
          <p:cNvPicPr>
            <a:picLocks noChangeAspect="1"/>
          </p:cNvPicPr>
          <p:nvPr/>
        </p:nvPicPr>
        <p:blipFill>
          <a:blip r:embed="rId3"/>
          <a:stretch>
            <a:fillRect/>
          </a:stretch>
        </p:blipFill>
        <p:spPr>
          <a:xfrm>
            <a:off x="9738733" y="5321808"/>
            <a:ext cx="2240280" cy="713232"/>
          </a:xfrm>
          <a:prstGeom prst="rect">
            <a:avLst/>
          </a:prstGeom>
        </p:spPr>
      </p:pic>
      <p:sp>
        <p:nvSpPr>
          <p:cNvPr id="10" name="Text 5"/>
          <p:cNvSpPr/>
          <p:nvPr/>
        </p:nvSpPr>
        <p:spPr>
          <a:xfrm>
            <a:off x="1005840" y="1920240"/>
            <a:ext cx="10149840" cy="530352"/>
          </a:xfrm>
          <a:prstGeom prst="rect">
            <a:avLst/>
          </a:prstGeom>
          <a:noFill/>
          <a:ln/>
        </p:spPr>
        <p:txBody>
          <a:bodyPr wrap="square" lIns="0" tIns="0" rIns="0" bIns="0" rtlCol="0" anchor="ctr"/>
          <a:lstStyle/>
          <a:p>
            <a:pPr marL="0" indent="0" algn="ctr">
              <a:buNone/>
            </a:pPr>
            <a:r>
              <a:rPr lang="en-US" sz="2700" b="1" dirty="0">
                <a:solidFill>
                  <a:srgbClr val="1C1414"/>
                </a:solidFill>
                <a:latin typeface="Aptos Display" pitchFamily="34" charset="0"/>
                <a:ea typeface="Aptos Display" pitchFamily="34" charset="-122"/>
                <a:cs typeface="Aptos Display" pitchFamily="34" charset="-120"/>
              </a:rPr>
              <a:t>Ready to Make Smarter Decisions?</a:t>
            </a:r>
            <a:endParaRPr lang="en-US" sz="2700" dirty="0"/>
          </a:p>
        </p:txBody>
      </p:sp>
      <p:sp>
        <p:nvSpPr>
          <p:cNvPr id="11" name="Text 6"/>
          <p:cNvSpPr/>
          <p:nvPr/>
        </p:nvSpPr>
        <p:spPr>
          <a:xfrm>
            <a:off x="1828800" y="2697480"/>
            <a:ext cx="8503920" cy="365760"/>
          </a:xfrm>
          <a:prstGeom prst="rect">
            <a:avLst/>
          </a:prstGeom>
          <a:noFill/>
          <a:ln/>
        </p:spPr>
        <p:txBody>
          <a:bodyPr wrap="square" lIns="0" tIns="0" rIns="0" bIns="0" rtlCol="0" anchor="ctr"/>
          <a:lstStyle/>
          <a:p>
            <a:pPr marL="0" indent="0" algn="ctr">
              <a:buNone/>
            </a:pPr>
            <a:r>
              <a:rPr lang="en-US" sz="1220" dirty="0">
                <a:solidFill>
                  <a:srgbClr val="5F6A6A"/>
                </a:solidFill>
                <a:latin typeface="Aptos" pitchFamily="34" charset="0"/>
                <a:ea typeface="Aptos" pitchFamily="34" charset="-122"/>
                <a:cs typeface="Aptos" pitchFamily="34" charset="-120"/>
              </a:rPr>
              <a:t>Join forward-thinking teams using Techpigeon's multi-engine AI consensus to validate ideas, build strategies, and ship with confidence.</a:t>
            </a:r>
            <a:endParaRPr lang="en-US" sz="1220" dirty="0"/>
          </a:p>
        </p:txBody>
      </p:sp>
      <p:sp>
        <p:nvSpPr>
          <p:cNvPr id="12" name="Shape 7"/>
          <p:cNvSpPr/>
          <p:nvPr/>
        </p:nvSpPr>
        <p:spPr>
          <a:xfrm>
            <a:off x="2926080" y="3520440"/>
            <a:ext cx="6355080" cy="1508760"/>
          </a:xfrm>
          <a:prstGeom prst="roundRect">
            <a:avLst>
              <a:gd name="adj" fmla="val 4848"/>
            </a:avLst>
          </a:prstGeom>
          <a:solidFill>
            <a:srgbClr val="F0FAF5"/>
          </a:solidFill>
          <a:ln w="12700">
            <a:solidFill>
              <a:srgbClr val="38BDF8"/>
            </a:solidFill>
            <a:prstDash val="solid"/>
          </a:ln>
          <a:effectLst>
            <a:outerShdw blurRad="12700" dist="50800" dir="2700000" algn="bl" rotWithShape="0">
              <a:srgbClr val="DDECF3">
                <a:alpha val="12000"/>
              </a:srgbClr>
            </a:outerShdw>
          </a:effectLst>
        </p:spPr>
        <p:txBody>
          <a:bodyPr/>
          <a:lstStyle/>
          <a:p>
            <a:endParaRPr lang="en-US"/>
          </a:p>
        </p:txBody>
      </p:sp>
      <p:sp>
        <p:nvSpPr>
          <p:cNvPr id="13" name="Shape 8"/>
          <p:cNvSpPr/>
          <p:nvPr/>
        </p:nvSpPr>
        <p:spPr>
          <a:xfrm>
            <a:off x="2944368" y="3538728"/>
            <a:ext cx="6318504" cy="54864"/>
          </a:xfrm>
          <a:prstGeom prst="rect">
            <a:avLst/>
          </a:prstGeom>
          <a:solidFill>
            <a:srgbClr val="38BDF8"/>
          </a:solidFill>
          <a:ln w="12700">
            <a:solidFill>
              <a:srgbClr val="38BDF8"/>
            </a:solidFill>
            <a:prstDash val="solid"/>
          </a:ln>
        </p:spPr>
        <p:txBody>
          <a:bodyPr/>
          <a:lstStyle/>
          <a:p>
            <a:endParaRPr lang="en-US"/>
          </a:p>
        </p:txBody>
      </p:sp>
      <p:sp>
        <p:nvSpPr>
          <p:cNvPr id="14" name="Text 9"/>
          <p:cNvSpPr/>
          <p:nvPr/>
        </p:nvSpPr>
        <p:spPr>
          <a:xfrm>
            <a:off x="3246120" y="3877056"/>
            <a:ext cx="2011680" cy="146304"/>
          </a:xfrm>
          <a:prstGeom prst="rect">
            <a:avLst/>
          </a:prstGeom>
          <a:noFill/>
          <a:ln/>
        </p:spPr>
        <p:txBody>
          <a:bodyPr wrap="square" lIns="0" tIns="0" rIns="0" bIns="0" rtlCol="0" anchor="ctr"/>
          <a:lstStyle/>
          <a:p>
            <a:pPr marL="0" indent="0" algn="ctr">
              <a:buNone/>
            </a:pPr>
            <a:r>
              <a:rPr lang="en-US" sz="1200" b="1" dirty="0">
                <a:solidFill>
                  <a:srgbClr val="1C1414"/>
                </a:solidFill>
                <a:latin typeface="Aptos" pitchFamily="34" charset="0"/>
                <a:ea typeface="Aptos" pitchFamily="34" charset="-122"/>
                <a:cs typeface="Aptos" pitchFamily="34" charset="-120"/>
              </a:rPr>
              <a:t>umer@techpigeon.org</a:t>
            </a:r>
            <a:endParaRPr lang="en-US" sz="1200" dirty="0"/>
          </a:p>
        </p:txBody>
      </p:sp>
      <p:sp>
        <p:nvSpPr>
          <p:cNvPr id="15" name="Text 10"/>
          <p:cNvSpPr/>
          <p:nvPr/>
        </p:nvSpPr>
        <p:spPr>
          <a:xfrm>
            <a:off x="5230368" y="3877056"/>
            <a:ext cx="1783080" cy="146304"/>
          </a:xfrm>
          <a:prstGeom prst="rect">
            <a:avLst/>
          </a:prstGeom>
          <a:noFill/>
          <a:ln/>
        </p:spPr>
        <p:txBody>
          <a:bodyPr wrap="square" lIns="0" tIns="0" rIns="0" bIns="0" rtlCol="0" anchor="ctr"/>
          <a:lstStyle/>
          <a:p>
            <a:pPr marL="0" indent="0" algn="ctr">
              <a:buNone/>
            </a:pPr>
            <a:r>
              <a:rPr lang="en-US" sz="1200" b="1" dirty="0">
                <a:solidFill>
                  <a:srgbClr val="1C1414"/>
                </a:solidFill>
                <a:latin typeface="Aptos" pitchFamily="34" charset="0"/>
                <a:ea typeface="Aptos" pitchFamily="34" charset="-122"/>
                <a:cs typeface="Aptos" pitchFamily="34" charset="-120"/>
              </a:rPr>
              <a:t>www.techpigeon.org</a:t>
            </a:r>
            <a:endParaRPr lang="en-US" sz="1200" dirty="0"/>
          </a:p>
        </p:txBody>
      </p:sp>
      <p:sp>
        <p:nvSpPr>
          <p:cNvPr id="16" name="Text 11"/>
          <p:cNvSpPr/>
          <p:nvPr/>
        </p:nvSpPr>
        <p:spPr>
          <a:xfrm>
            <a:off x="7059168" y="3877056"/>
            <a:ext cx="1920240" cy="146304"/>
          </a:xfrm>
          <a:prstGeom prst="rect">
            <a:avLst/>
          </a:prstGeom>
          <a:noFill/>
          <a:ln/>
        </p:spPr>
        <p:txBody>
          <a:bodyPr wrap="square" lIns="0" tIns="0" rIns="0" bIns="0" rtlCol="0" anchor="ctr"/>
          <a:lstStyle/>
          <a:p>
            <a:pPr marL="0" indent="0" algn="ctr">
              <a:buNone/>
            </a:pPr>
            <a:r>
              <a:rPr lang="en-US" sz="1200" b="1" dirty="0">
                <a:solidFill>
                  <a:srgbClr val="1C1414"/>
                </a:solidFill>
                <a:latin typeface="Aptos" pitchFamily="34" charset="0"/>
                <a:ea typeface="Aptos" pitchFamily="34" charset="-122"/>
                <a:cs typeface="Aptos" pitchFamily="34" charset="-120"/>
              </a:rPr>
              <a:t>www.novussparks.com</a:t>
            </a:r>
            <a:endParaRPr lang="en-US" sz="1200" dirty="0"/>
          </a:p>
        </p:txBody>
      </p:sp>
      <p:sp>
        <p:nvSpPr>
          <p:cNvPr id="17" name="Shape 12">
            <a:hlinkClick r:id="rId4"/>
          </p:cNvPr>
          <p:cNvSpPr/>
          <p:nvPr/>
        </p:nvSpPr>
        <p:spPr>
          <a:xfrm>
            <a:off x="4334256" y="5394960"/>
            <a:ext cx="3566160" cy="566928"/>
          </a:xfrm>
          <a:prstGeom prst="roundRect">
            <a:avLst>
              <a:gd name="adj" fmla="val 9677"/>
            </a:avLst>
          </a:prstGeom>
          <a:solidFill>
            <a:srgbClr val="BBA442"/>
          </a:solidFill>
          <a:ln w="12700">
            <a:solidFill>
              <a:srgbClr val="38BDF8"/>
            </a:solidFill>
            <a:prstDash val="solid"/>
          </a:ln>
        </p:spPr>
        <p:txBody>
          <a:bodyPr/>
          <a:lstStyle/>
          <a:p>
            <a:endParaRPr lang="en-US"/>
          </a:p>
        </p:txBody>
      </p:sp>
      <p:sp>
        <p:nvSpPr>
          <p:cNvPr id="18" name="Text 13"/>
          <p:cNvSpPr/>
          <p:nvPr/>
        </p:nvSpPr>
        <p:spPr>
          <a:xfrm>
            <a:off x="4334256" y="5559552"/>
            <a:ext cx="3566160" cy="146304"/>
          </a:xfrm>
          <a:prstGeom prst="rect">
            <a:avLst/>
          </a:prstGeom>
          <a:noFill/>
          <a:ln/>
        </p:spPr>
        <p:txBody>
          <a:bodyPr wrap="square" lIns="0" tIns="0" rIns="0" bIns="0" rtlCol="0" anchor="ctr"/>
          <a:lstStyle/>
          <a:p>
            <a:pPr marL="0" indent="0" algn="ctr">
              <a:buNone/>
            </a:pPr>
            <a:r>
              <a:rPr lang="en-US" sz="1380" b="1" dirty="0">
                <a:solidFill>
                  <a:srgbClr val="FFFFFF"/>
                </a:solidFill>
                <a:latin typeface="Aptos" pitchFamily="34" charset="0"/>
                <a:ea typeface="Aptos" pitchFamily="34" charset="-122"/>
                <a:cs typeface="Aptos" pitchFamily="34" charset="-120"/>
              </a:rPr>
              <a:t>Get Started ? It's Free</a:t>
            </a:r>
            <a:endParaRPr lang="en-US" sz="1380" dirty="0"/>
          </a:p>
        </p:txBody>
      </p:sp>
      <p:sp>
        <p:nvSpPr>
          <p:cNvPr id="19" name="Text 14"/>
          <p:cNvSpPr/>
          <p:nvPr/>
        </p:nvSpPr>
        <p:spPr>
          <a:xfrm>
            <a:off x="2240280" y="6144768"/>
            <a:ext cx="7772400" cy="146304"/>
          </a:xfrm>
          <a:prstGeom prst="rect">
            <a:avLst/>
          </a:prstGeom>
          <a:noFill/>
          <a:ln/>
        </p:spPr>
        <p:txBody>
          <a:bodyPr wrap="square" lIns="0" tIns="0" rIns="0" bIns="0" rtlCol="0" anchor="ctr"/>
          <a:lstStyle/>
          <a:p>
            <a:pPr marL="0" indent="0" algn="ctr">
              <a:buNone/>
            </a:pPr>
            <a:endParaRPr lang="en-US" sz="1050" dirty="0"/>
          </a:p>
        </p:txBody>
      </p:sp>
      <p:pic>
        <p:nvPicPr>
          <p:cNvPr id="20" name="Image 0">
            <a:extLst>
              <a:ext uri="{FF2B5EF4-FFF2-40B4-BE49-F238E27FC236}">
                <a16:creationId xmlns:a16="http://schemas.microsoft.com/office/drawing/2014/main" id="{58E03DA5-4239-8EE0-9396-954DE842BE4C}"/>
              </a:ext>
            </a:extLst>
          </p:cNvPr>
          <p:cNvPicPr>
            <a:picLocks noChangeAspect="1"/>
          </p:cNvPicPr>
          <p:nvPr/>
        </p:nvPicPr>
        <p:blipFill>
          <a:blip r:embed="rId5"/>
          <a:srcRect t="25581" b="23256"/>
          <a:stretch>
            <a:fillRect/>
          </a:stretch>
        </p:blipFill>
        <p:spPr>
          <a:xfrm>
            <a:off x="9843149" y="357160"/>
            <a:ext cx="1660003" cy="84930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942</Words>
  <Application>Microsoft Office PowerPoint</Application>
  <PresentationFormat>Widescreen</PresentationFormat>
  <Paragraphs>189</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Techpigeon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Techpigeon x NovusSparks AI - AWS Activate via Spendbase</dc:title>
  <dc:subject>AWS Activate via Spendbase Pitch Deck</dc:subject>
  <dc:creator>Techpigeon</dc:creator>
  <cp:lastModifiedBy>Umer Siddique</cp:lastModifiedBy>
  <cp:revision>2</cp:revision>
  <dcterms:created xsi:type="dcterms:W3CDTF">2026-04-20T21:08:01Z</dcterms:created>
  <dcterms:modified xsi:type="dcterms:W3CDTF">2026-04-20T21:21:47Z</dcterms:modified>
</cp:coreProperties>
</file>