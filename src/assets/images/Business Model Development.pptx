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8" r:id="rId9"/>
    <p:sldId id="263" r:id="rId10"/>
    <p:sldId id="264" r:id="rId11"/>
    <p:sldId id="266" r:id="rId12"/>
    <p:sldId id="267" r:id="rId13"/>
    <p:sldId id="270" r:id="rId14"/>
    <p:sldId id="276" r:id="rId15"/>
    <p:sldId id="277" r:id="rId16"/>
    <p:sldId id="278" r:id="rId17"/>
    <p:sldId id="274" r:id="rId18"/>
    <p:sldId id="273" r:id="rId19"/>
    <p:sldId id="275" r:id="rId20"/>
    <p:sldId id="279" r:id="rId21"/>
    <p:sldId id="272" r:id="rId22"/>
    <p:sldId id="265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A33E"/>
    <a:srgbClr val="272727"/>
    <a:srgbClr val="FF6600"/>
    <a:srgbClr val="5CC4EB"/>
    <a:srgbClr val="3B8E7E"/>
    <a:srgbClr val="2EA650"/>
    <a:srgbClr val="FF7900"/>
    <a:srgbClr val="5CDFF3"/>
    <a:srgbClr val="CCFF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7432" autoAdjust="0"/>
  </p:normalViewPr>
  <p:slideViewPr>
    <p:cSldViewPr snapToGrid="0">
      <p:cViewPr varScale="1">
        <p:scale>
          <a:sx n="80" d="100"/>
          <a:sy n="80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D1E5B-5FBA-4D84-8794-8EDEDA1A078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FAF1E-89B8-4FE4-86EE-3C35E7C9F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52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2937"/>
                </a:solidFill>
                <a:effectLst/>
                <a:latin typeface="Inter"/>
              </a:rPr>
              <a:t>Lean Canvas is a 1-page business plan template created by Ash Maurya that helps you deconstruct your idea into its key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FAF1E-89B8-4FE4-86EE-3C35E7C9F4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92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FAF1E-89B8-4FE4-86EE-3C35E7C9F4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46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FAF1E-89B8-4FE4-86EE-3C35E7C9F4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58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FAF1E-89B8-4FE4-86EE-3C35E7C9F49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63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D9485-8D28-44F0-82E5-D3D5471E8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09CB8-C998-44C4-85E8-A8A5E6CDE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98E57-7F2C-47C8-90E8-3CD369C3E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8B4B9-DC49-4FC6-B143-E79D23F2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8D667-CB5E-4026-BDC5-9DB4A132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4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B3135-095D-4EC7-966B-37185E28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D70D5-93B4-474D-960D-A329BAAB3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93596-3A37-491A-B061-8A8C4D1EA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696F-DEE4-4E67-BC79-35A4B760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5A88C-ACC9-44D7-A2A0-22189CA4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0B04-CB6F-4CB2-823F-149B8270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82B9D-2D0B-49A5-9816-967AF68F6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C2B7C-7D54-44A7-AA44-81F06D1E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22630-842D-40ED-B5DE-74C72415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EC853-060C-4CBA-8F4B-47A866AA3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4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4746-CB08-4154-914B-D89435AC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0E636-1A44-4688-AD38-84989314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69AC3-07E5-4E75-BA58-909EF5E8A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EC429-D57B-47ED-ABC9-0331F00C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103D5-F77A-49F8-A324-8A9B8737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7B943-9149-4BDC-AA7F-2FC672A0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5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12C8-1741-4D8E-AC7C-38F8572E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CEBE6-EAC9-47F8-8A3C-A8342B7FF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08C96-8008-4537-981C-D63EB6EE7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B22AA-1F50-4C39-B1DD-BD1BC8B87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DCE36-7850-4051-8784-9E56338D9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9BCB8-4160-4C6B-B3E6-1744AA7FB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6D985-0AD6-4B1F-AC38-FA92B1E9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B8EA4-901F-490C-80E6-4A426A5D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5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6DAF-07F2-4E5F-AE5D-878059747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D6358-FCF5-4AE7-B73C-C590FE854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9682D-0A2E-417F-8AF1-DE933688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A470F-8E26-46BA-8DEF-024D4F038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08932F-7422-4830-A971-F6E1AC95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910C6C-7CBA-49E2-826C-7A1EF501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D2654-F2EF-49E4-B8C4-A7F17AEB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38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748F-8753-4E2B-BFD0-C407B0E5C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57C8-1B20-4D8A-93F8-F1CAC379B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AAFCF-33E6-4A37-8D52-73C4D0093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AF31A-73C7-4441-9D85-199435EF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F36D0-691C-4CD0-BB1C-1C2C22C4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FB1BF-DA77-4F80-8390-D6967807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2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B93E-0359-4F66-BDF1-CBFA1CFB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260AE-DFEA-4146-AE96-6AEB94E04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DEF5-E4D4-4D8E-984D-EAFACDB2E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D4F65-4FD9-4E1D-ADBC-3C35CD8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11C66-9C74-43D1-B5F6-5008001E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9898F-7432-40F6-AAB1-386118AA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4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7628-5F65-409C-B660-A13BF210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A6800-1C84-495E-98FF-C690F6332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6A6A7-AAFA-4485-A9D7-AF2E2B87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A30B7-2373-4AD0-8A10-7AFF1549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F4203-D909-4878-93C5-AD3B4595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1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17E8B-313B-4CC7-990E-B823560F8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AFE60-D61F-4D52-B563-DD88A1ABF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B159C-50FB-45A2-9A76-7968756A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02E1A-A6FE-47C8-8EC7-864E4139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C2547-3B51-4C83-B65F-A920A868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2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B6475-2CE8-43F7-8A42-D4B278EA4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337DD-4ED5-4E90-A7FC-D6450E902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FF83F-4FF3-459A-B879-F81FF7FD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6DC8A-4368-44A0-BB14-2278025DB136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DAE9-1A82-463F-ADD1-B8D817498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708F4-3089-4F69-A9DB-38DD63B3B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9A3BB-F267-4846-8E27-C62A03CAD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3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hyperlink" Target="https://en.wikipedia.org/wiki/Skype_Technologies" TargetMode="External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hyperlink" Target="https://education.github.com/pack" TargetMode="External"/><Relationship Id="rId12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4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echpigeon.org/" TargetMode="External"/><Relationship Id="rId3" Type="http://schemas.openxmlformats.org/officeDocument/2006/relationships/image" Target="../media/image1.png"/><Relationship Id="rId7" Type="http://schemas.openxmlformats.org/officeDocument/2006/relationships/hyperlink" Target="mailto:HELLO@TECHPIGEON.OR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acebook.com/techpigeon/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hyperlink" Target="https://techpigeon-smc-private-limited.dmc-microsit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BB59-6568-4A08-BDF6-A8DEF37363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6600"/>
                </a:solidFill>
              </a:rPr>
              <a:t>Business Model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6576D-F219-417C-AA3A-33E9BDD4C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223685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>
                <a:solidFill>
                  <a:srgbClr val="272727"/>
                </a:solidFill>
              </a:rPr>
              <a:t>Umer Siddique</a:t>
            </a:r>
          </a:p>
          <a:p>
            <a:r>
              <a:rPr lang="en-US" sz="3600" dirty="0">
                <a:solidFill>
                  <a:srgbClr val="272727"/>
                </a:solidFill>
              </a:rPr>
              <a:t>Founder –</a:t>
            </a:r>
            <a:r>
              <a:rPr lang="en-US" sz="3600" dirty="0">
                <a:solidFill>
                  <a:srgbClr val="FF6600"/>
                </a:solidFill>
              </a:rPr>
              <a:t> </a:t>
            </a:r>
            <a:r>
              <a:rPr lang="en-US" sz="3600" dirty="0">
                <a:solidFill>
                  <a:srgbClr val="5CC4EB"/>
                </a:solidFill>
              </a:rPr>
              <a:t>Techpigeon Private Limited</a:t>
            </a:r>
          </a:p>
          <a:p>
            <a:r>
              <a:rPr lang="en-US" sz="3600" dirty="0">
                <a:solidFill>
                  <a:srgbClr val="272727"/>
                </a:solidFill>
              </a:rPr>
              <a:t>Cloud Evangelist – </a:t>
            </a:r>
            <a:r>
              <a:rPr lang="en-US" sz="3600" dirty="0">
                <a:solidFill>
                  <a:srgbClr val="3B8E7E"/>
                </a:solidFill>
              </a:rPr>
              <a:t>GitHub Enterprise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3BE586-E3AA-0CC8-7460-9A4DBE686F74}"/>
              </a:ext>
            </a:extLst>
          </p:cNvPr>
          <p:cNvGrpSpPr/>
          <p:nvPr/>
        </p:nvGrpSpPr>
        <p:grpSpPr>
          <a:xfrm>
            <a:off x="0" y="-27310"/>
            <a:ext cx="12192000" cy="977950"/>
            <a:chOff x="0" y="-27310"/>
            <a:chExt cx="12192000" cy="9779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3098A51-A36C-EA31-5EF2-235135614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9233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782C03C-0358-6BA3-A3FD-C879D93FD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69331" y="-27310"/>
              <a:ext cx="2692538" cy="977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583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8AC4-19D5-416E-B513-CCD66308B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5860"/>
            <a:ext cx="10515600" cy="5857461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Are you an entrepreneurial spirit?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FF6600"/>
                </a:solidFill>
              </a:rPr>
              <a:t>yes ________ </a:t>
            </a:r>
            <a:r>
              <a:rPr lang="en-US" sz="3600" dirty="0">
                <a:solidFill>
                  <a:srgbClr val="0070C0"/>
                </a:solidFill>
              </a:rPr>
              <a:t>no ______</a:t>
            </a:r>
          </a:p>
          <a:p>
            <a:pPr marL="0" indent="0">
              <a:buNone/>
            </a:pPr>
            <a:br>
              <a:rPr lang="en-US" sz="3600" dirty="0">
                <a:solidFill>
                  <a:srgbClr val="002060"/>
                </a:solidFill>
              </a:rPr>
            </a:br>
            <a:r>
              <a:rPr lang="en-US" sz="3600" dirty="0"/>
              <a:t>Are you constantly thinking about how to build new businesses?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FF6600"/>
                </a:solidFill>
              </a:rPr>
              <a:t>yes ________ </a:t>
            </a:r>
            <a:r>
              <a:rPr lang="en-US" sz="3600" dirty="0">
                <a:solidFill>
                  <a:srgbClr val="0070C0"/>
                </a:solidFill>
              </a:rPr>
              <a:t>no ______</a:t>
            </a:r>
          </a:p>
          <a:p>
            <a:pPr marL="0" indent="0">
              <a:buNone/>
            </a:pPr>
            <a:br>
              <a:rPr lang="en-US" sz="3600" dirty="0">
                <a:solidFill>
                  <a:srgbClr val="002060"/>
                </a:solidFill>
              </a:rPr>
            </a:br>
            <a:r>
              <a:rPr lang="en-US" sz="3600" dirty="0"/>
              <a:t>Are you trying to find innovative ways of doing business?</a:t>
            </a:r>
            <a:br>
              <a:rPr lang="en-US" sz="3600" dirty="0"/>
            </a:br>
            <a:r>
              <a:rPr lang="en-US" sz="3600" dirty="0">
                <a:solidFill>
                  <a:srgbClr val="FF6600"/>
                </a:solidFill>
              </a:rPr>
              <a:t>yes ________ </a:t>
            </a:r>
            <a:r>
              <a:rPr lang="en-US" sz="3600" dirty="0">
                <a:solidFill>
                  <a:srgbClr val="0070C0"/>
                </a:solidFill>
              </a:rPr>
              <a:t>no ______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E984C-3449-4E18-ADD8-CB4071007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6082"/>
            <a:ext cx="10515600" cy="53593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If you’ve answered </a:t>
            </a:r>
            <a:r>
              <a:rPr lang="en-US" sz="5400" dirty="0">
                <a:solidFill>
                  <a:srgbClr val="FF6600"/>
                </a:solidFill>
              </a:rPr>
              <a:t>“yes” </a:t>
            </a:r>
            <a:r>
              <a:rPr lang="en-US" sz="5400" dirty="0"/>
              <a:t>to any of these questions, welcome to our community!</a:t>
            </a:r>
            <a:br>
              <a:rPr lang="en-US" sz="5400" dirty="0"/>
            </a:br>
            <a:br>
              <a:rPr lang="en-US" sz="2400" dirty="0"/>
            </a:br>
            <a:r>
              <a:rPr lang="en-US" sz="4400" dirty="0"/>
              <a:t>We’re here to take you to the long drive of crazy world of </a:t>
            </a:r>
            <a:r>
              <a:rPr lang="en-US" sz="4400" dirty="0">
                <a:solidFill>
                  <a:srgbClr val="FF6600"/>
                </a:solidFill>
              </a:rPr>
              <a:t>“ideas” </a:t>
            </a:r>
            <a:r>
              <a:rPr lang="en-US" sz="4400" dirty="0"/>
              <a:t>and their development into successful business generation.</a:t>
            </a:r>
          </a:p>
        </p:txBody>
      </p:sp>
    </p:spTree>
    <p:extLst>
      <p:ext uri="{BB962C8B-B14F-4D97-AF65-F5344CB8AC3E}">
        <p14:creationId xmlns:p14="http://schemas.microsoft.com/office/powerpoint/2010/main" val="44557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6A91D-D64E-4491-BFD0-53F480830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57" y="1605472"/>
            <a:ext cx="11012686" cy="36470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Canvas </a:t>
            </a:r>
          </a:p>
        </p:txBody>
      </p:sp>
    </p:spTree>
    <p:extLst>
      <p:ext uri="{BB962C8B-B14F-4D97-AF65-F5344CB8AC3E}">
        <p14:creationId xmlns:p14="http://schemas.microsoft.com/office/powerpoint/2010/main" val="72820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B837-CF97-4D71-A0D4-8C0929E4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009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The Lean Canvas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6A91D-D64E-4491-BFD0-53F480830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2604"/>
            <a:ext cx="10515600" cy="29319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i="1" dirty="0">
                <a:solidFill>
                  <a:srgbClr val="FF6600"/>
                </a:solidFill>
              </a:rPr>
              <a:t>“A shared language for describing, visualizing, assessing and changing  business models”</a:t>
            </a:r>
          </a:p>
        </p:txBody>
      </p:sp>
    </p:spTree>
    <p:extLst>
      <p:ext uri="{BB962C8B-B14F-4D97-AF65-F5344CB8AC3E}">
        <p14:creationId xmlns:p14="http://schemas.microsoft.com/office/powerpoint/2010/main" val="41893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B837-CF97-4D71-A0D4-8C0929E4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798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Def_</a:t>
            </a:r>
            <a:r>
              <a:rPr lang="en-US" sz="6000" dirty="0">
                <a:solidFill>
                  <a:srgbClr val="FF6600"/>
                </a:solidFill>
              </a:rPr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6A91D-D64E-4491-BFD0-53F480830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8998"/>
            <a:ext cx="10515600" cy="29319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A business model describes how a business creates, delivers and captures value</a:t>
            </a:r>
          </a:p>
        </p:txBody>
      </p:sp>
    </p:spTree>
    <p:extLst>
      <p:ext uri="{BB962C8B-B14F-4D97-AF65-F5344CB8AC3E}">
        <p14:creationId xmlns:p14="http://schemas.microsoft.com/office/powerpoint/2010/main" val="894102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B8ED4-31A3-4124-9FED-9F481AE6D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4" y="500062"/>
            <a:ext cx="105156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6600"/>
                </a:solidFill>
              </a:rPr>
              <a:t>9</a:t>
            </a:r>
            <a:r>
              <a:rPr lang="en-US" dirty="0"/>
              <a:t> Building Blocks of Canvas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558E75-D593-4BB9-A452-A78437AF3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1950434"/>
              </p:ext>
            </p:extLst>
          </p:nvPr>
        </p:nvGraphicFramePr>
        <p:xfrm>
          <a:off x="341194" y="1825625"/>
          <a:ext cx="11464119" cy="1694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991">
                  <a:extLst>
                    <a:ext uri="{9D8B030D-6E8A-4147-A177-3AD203B41FA5}">
                      <a16:colId xmlns:a16="http://schemas.microsoft.com/office/drawing/2014/main" val="3020886702"/>
                    </a:ext>
                  </a:extLst>
                </a:gridCol>
                <a:gridCol w="1338886">
                  <a:extLst>
                    <a:ext uri="{9D8B030D-6E8A-4147-A177-3AD203B41FA5}">
                      <a16:colId xmlns:a16="http://schemas.microsoft.com/office/drawing/2014/main" val="116005203"/>
                    </a:ext>
                  </a:extLst>
                </a:gridCol>
                <a:gridCol w="1117711">
                  <a:extLst>
                    <a:ext uri="{9D8B030D-6E8A-4147-A177-3AD203B41FA5}">
                      <a16:colId xmlns:a16="http://schemas.microsoft.com/office/drawing/2014/main" val="2036354028"/>
                    </a:ext>
                  </a:extLst>
                </a:gridCol>
                <a:gridCol w="1296537">
                  <a:extLst>
                    <a:ext uri="{9D8B030D-6E8A-4147-A177-3AD203B41FA5}">
                      <a16:colId xmlns:a16="http://schemas.microsoft.com/office/drawing/2014/main" val="3438427004"/>
                    </a:ext>
                  </a:extLst>
                </a:gridCol>
                <a:gridCol w="1229905">
                  <a:extLst>
                    <a:ext uri="{9D8B030D-6E8A-4147-A177-3AD203B41FA5}">
                      <a16:colId xmlns:a16="http://schemas.microsoft.com/office/drawing/2014/main" val="1666582404"/>
                    </a:ext>
                  </a:extLst>
                </a:gridCol>
                <a:gridCol w="1690716">
                  <a:extLst>
                    <a:ext uri="{9D8B030D-6E8A-4147-A177-3AD203B41FA5}">
                      <a16:colId xmlns:a16="http://schemas.microsoft.com/office/drawing/2014/main" val="3943773395"/>
                    </a:ext>
                  </a:extLst>
                </a:gridCol>
                <a:gridCol w="1273791">
                  <a:extLst>
                    <a:ext uri="{9D8B030D-6E8A-4147-A177-3AD203B41FA5}">
                      <a16:colId xmlns:a16="http://schemas.microsoft.com/office/drawing/2014/main" val="690116889"/>
                    </a:ext>
                  </a:extLst>
                </a:gridCol>
                <a:gridCol w="1424124">
                  <a:extLst>
                    <a:ext uri="{9D8B030D-6E8A-4147-A177-3AD203B41FA5}">
                      <a16:colId xmlns:a16="http://schemas.microsoft.com/office/drawing/2014/main" val="162846264"/>
                    </a:ext>
                  </a:extLst>
                </a:gridCol>
                <a:gridCol w="1123458">
                  <a:extLst>
                    <a:ext uri="{9D8B030D-6E8A-4147-A177-3AD203B41FA5}">
                      <a16:colId xmlns:a16="http://schemas.microsoft.com/office/drawing/2014/main" val="4030360555"/>
                    </a:ext>
                  </a:extLst>
                </a:gridCol>
              </a:tblGrid>
              <a:tr h="62074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CS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1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VP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2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CH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3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CR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4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R$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5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KR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6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KA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7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KP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8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C$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9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725888"/>
                  </a:ext>
                </a:extLst>
              </a:tr>
              <a:tr h="99367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Customer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Value </a:t>
                      </a:r>
                    </a:p>
                    <a:p>
                      <a:pPr algn="ctr"/>
                      <a:r>
                        <a:rPr lang="en-US" sz="1500" b="1" dirty="0"/>
                        <a:t>Propositions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Customer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Revenue </a:t>
                      </a:r>
                      <a:br>
                        <a:rPr lang="en-US" sz="1500" b="1" dirty="0"/>
                      </a:br>
                      <a:r>
                        <a:rPr lang="en-US" sz="1500" b="1" dirty="0"/>
                        <a:t>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Key </a:t>
                      </a:r>
                      <a:br>
                        <a:rPr lang="en-US" sz="1500" b="1" dirty="0"/>
                      </a:br>
                      <a:r>
                        <a:rPr lang="en-US" sz="1500" b="1" dirty="0"/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Key </a:t>
                      </a:r>
                      <a:br>
                        <a:rPr lang="en-US" sz="1500" b="1" dirty="0"/>
                      </a:br>
                      <a:r>
                        <a:rPr lang="en-US" sz="1500" b="1" dirty="0"/>
                        <a:t>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Key </a:t>
                      </a:r>
                      <a:br>
                        <a:rPr lang="en-US" sz="1500" b="1" dirty="0"/>
                      </a:br>
                      <a:r>
                        <a:rPr lang="en-US" sz="1500" b="1" dirty="0"/>
                        <a:t>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Cost </a:t>
                      </a:r>
                      <a:br>
                        <a:rPr lang="en-US" sz="1500" b="1" dirty="0"/>
                      </a:br>
                      <a:r>
                        <a:rPr lang="en-US" sz="1500" b="1" dirty="0"/>
                        <a:t>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7846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3A8106-9696-4133-9D98-BFF0E4F38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583490"/>
              </p:ext>
            </p:extLst>
          </p:nvPr>
        </p:nvGraphicFramePr>
        <p:xfrm>
          <a:off x="341194" y="3542378"/>
          <a:ext cx="11464119" cy="28346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53034">
                  <a:extLst>
                    <a:ext uri="{9D8B030D-6E8A-4147-A177-3AD203B41FA5}">
                      <a16:colId xmlns:a16="http://schemas.microsoft.com/office/drawing/2014/main" val="3669373499"/>
                    </a:ext>
                  </a:extLst>
                </a:gridCol>
                <a:gridCol w="1364566">
                  <a:extLst>
                    <a:ext uri="{9D8B030D-6E8A-4147-A177-3AD203B41FA5}">
                      <a16:colId xmlns:a16="http://schemas.microsoft.com/office/drawing/2014/main" val="345539594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45722395"/>
                    </a:ext>
                  </a:extLst>
                </a:gridCol>
                <a:gridCol w="1294228">
                  <a:extLst>
                    <a:ext uri="{9D8B030D-6E8A-4147-A177-3AD203B41FA5}">
                      <a16:colId xmlns:a16="http://schemas.microsoft.com/office/drawing/2014/main" val="3257239958"/>
                    </a:ext>
                  </a:extLst>
                </a:gridCol>
                <a:gridCol w="1253516">
                  <a:extLst>
                    <a:ext uri="{9D8B030D-6E8A-4147-A177-3AD203B41FA5}">
                      <a16:colId xmlns:a16="http://schemas.microsoft.com/office/drawing/2014/main" val="1314867164"/>
                    </a:ext>
                  </a:extLst>
                </a:gridCol>
                <a:gridCol w="1680122">
                  <a:extLst>
                    <a:ext uri="{9D8B030D-6E8A-4147-A177-3AD203B41FA5}">
                      <a16:colId xmlns:a16="http://schemas.microsoft.com/office/drawing/2014/main" val="2895078645"/>
                    </a:ext>
                  </a:extLst>
                </a:gridCol>
                <a:gridCol w="1273791">
                  <a:extLst>
                    <a:ext uri="{9D8B030D-6E8A-4147-A177-3AD203B41FA5}">
                      <a16:colId xmlns:a16="http://schemas.microsoft.com/office/drawing/2014/main" val="3270191595"/>
                    </a:ext>
                  </a:extLst>
                </a:gridCol>
                <a:gridCol w="1424124">
                  <a:extLst>
                    <a:ext uri="{9D8B030D-6E8A-4147-A177-3AD203B41FA5}">
                      <a16:colId xmlns:a16="http://schemas.microsoft.com/office/drawing/2014/main" val="53417163"/>
                    </a:ext>
                  </a:extLst>
                </a:gridCol>
                <a:gridCol w="1123458">
                  <a:extLst>
                    <a:ext uri="{9D8B030D-6E8A-4147-A177-3AD203B41FA5}">
                      <a16:colId xmlns:a16="http://schemas.microsoft.com/office/drawing/2014/main" val="3791704042"/>
                    </a:ext>
                  </a:extLst>
                </a:gridCol>
              </a:tblGrid>
              <a:tr h="262289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dirty="0"/>
                        <a:t>aims to reach and 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to create value for a customer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reaches to customer segment to deliver ‘VP’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to establish relationship with customer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to generate cash from each customer segment</a:t>
                      </a:r>
                    </a:p>
                    <a:p>
                      <a:r>
                        <a:rPr lang="en-US" b="0" dirty="0" err="1"/>
                        <a:t>i.e</a:t>
                      </a:r>
                      <a:r>
                        <a:rPr lang="en-US" b="0" dirty="0"/>
                        <a:t> licensing, advertising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important assets required to make a business model work.</a:t>
                      </a:r>
                    </a:p>
                    <a:p>
                      <a:r>
                        <a:rPr lang="en-US" b="0" dirty="0" err="1"/>
                        <a:t>i.e</a:t>
                      </a:r>
                      <a:r>
                        <a:rPr lang="en-US" b="0" dirty="0"/>
                        <a:t> physical, intellectual, human, 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important actions take to operate successfully.</a:t>
                      </a:r>
                    </a:p>
                    <a:p>
                      <a:r>
                        <a:rPr lang="en-US" b="0" dirty="0" err="1"/>
                        <a:t>i.e</a:t>
                      </a:r>
                      <a:r>
                        <a:rPr lang="en-US" b="0" dirty="0"/>
                        <a:t> production,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network of suppliers &amp; partners to make the business model work.</a:t>
                      </a:r>
                    </a:p>
                    <a:p>
                      <a:r>
                        <a:rPr lang="en-US" b="0" dirty="0" err="1"/>
                        <a:t>e.g</a:t>
                      </a:r>
                      <a:r>
                        <a:rPr lang="en-US" b="0" dirty="0"/>
                        <a:t> alliances, Joint Venture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all costs incurred to operate a business model.</a:t>
                      </a:r>
                    </a:p>
                    <a:p>
                      <a:r>
                        <a:rPr lang="en-US" b="0" dirty="0" err="1"/>
                        <a:t>e.g</a:t>
                      </a:r>
                      <a:r>
                        <a:rPr lang="en-US" b="0" dirty="0"/>
                        <a:t> fixed costs</a:t>
                      </a:r>
                      <a:r>
                        <a:rPr lang="en-US" b="0"/>
                        <a:t>, variable costs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998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08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6A91D-D64E-4491-BFD0-53F480830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57" y="1605472"/>
            <a:ext cx="11012686" cy="36470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0" dirty="0">
                <a:solidFill>
                  <a:schemeClr val="bg1"/>
                </a:solidFill>
                <a:latin typeface="Baskerville Old Face" panose="02020602080505020303" pitchFamily="18" charset="0"/>
              </a:rPr>
              <a:t>Canvas </a:t>
            </a:r>
          </a:p>
        </p:txBody>
      </p:sp>
    </p:spTree>
    <p:extLst>
      <p:ext uri="{BB962C8B-B14F-4D97-AF65-F5344CB8AC3E}">
        <p14:creationId xmlns:p14="http://schemas.microsoft.com/office/powerpoint/2010/main" val="234061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33B8-CA57-4A20-AF2A-8237EA55A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16" y="22824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6600"/>
                </a:solidFill>
              </a:rPr>
              <a:t>Lean Canvas Model</a:t>
            </a:r>
            <a:br>
              <a:rPr lang="en-US" dirty="0">
                <a:solidFill>
                  <a:srgbClr val="FF3300"/>
                </a:solidFill>
              </a:rPr>
            </a:b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913644D-3464-4F23-92A1-B032405ED364}"/>
              </a:ext>
            </a:extLst>
          </p:cNvPr>
          <p:cNvGrpSpPr/>
          <p:nvPr/>
        </p:nvGrpSpPr>
        <p:grpSpPr>
          <a:xfrm>
            <a:off x="567518" y="952347"/>
            <a:ext cx="11056963" cy="5647765"/>
            <a:chOff x="0" y="0"/>
            <a:chExt cx="12192000" cy="68580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50CBAC4-16FE-4DAA-96DE-0ED695A7E8DF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249713" y="1173709"/>
              <a:chExt cx="11491415" cy="5319167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3DC4AC0-A801-4CBF-94A6-4F0107AAD81E}"/>
                  </a:ext>
                </a:extLst>
              </p:cNvPr>
              <p:cNvSpPr/>
              <p:nvPr/>
            </p:nvSpPr>
            <p:spPr>
              <a:xfrm>
                <a:off x="249713" y="1173709"/>
                <a:ext cx="11491415" cy="531916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A1115A6-CA18-4576-A5D0-CB23520B6817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/>
              <p:nvPr/>
            </p:nvSpPr>
            <p:spPr>
              <a:xfrm>
                <a:off x="318660" y="1244604"/>
                <a:ext cx="2303489" cy="3841571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>
                    <a:ln w="0"/>
                    <a:solidFill>
                      <a:schemeClr val="tx1"/>
                    </a:solidFill>
                  </a:rPr>
                  <a:t>Key Partners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B23D474-54AB-460C-95A4-8C115A87F042}"/>
                  </a:ext>
                </a:extLst>
              </p:cNvPr>
              <p:cNvSpPr/>
              <p:nvPr/>
            </p:nvSpPr>
            <p:spPr>
              <a:xfrm>
                <a:off x="9468990" y="1241946"/>
                <a:ext cx="2196020" cy="384157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Customer </a:t>
                </a:r>
                <a:br>
                  <a:rPr lang="en-US" sz="1400" b="1" dirty="0"/>
                </a:br>
                <a:r>
                  <a:rPr lang="en-US" sz="1400" b="1" dirty="0"/>
                  <a:t>Segments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493B76D-84D4-4068-9BAC-1C9AA0386BE7}"/>
                  </a:ext>
                </a:extLst>
              </p:cNvPr>
              <p:cNvSpPr/>
              <p:nvPr/>
            </p:nvSpPr>
            <p:spPr>
              <a:xfrm>
                <a:off x="4876800" y="1241946"/>
                <a:ext cx="2319130" cy="384688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Value </a:t>
                </a:r>
                <a:br>
                  <a:rPr lang="en-US" sz="1400" b="1" dirty="0"/>
                </a:br>
                <a:r>
                  <a:rPr lang="en-US" sz="1400" b="1" dirty="0"/>
                  <a:t>Proposition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C0CB480-F80A-48A6-AD6A-3EFB4A68DF9A}"/>
                  </a:ext>
                </a:extLst>
              </p:cNvPr>
              <p:cNvSpPr/>
              <p:nvPr/>
            </p:nvSpPr>
            <p:spPr>
              <a:xfrm>
                <a:off x="2723011" y="1241946"/>
                <a:ext cx="2071336" cy="18281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Key Activities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C73DD74-26DD-42C6-90D9-789428E5D2C0}"/>
                  </a:ext>
                </a:extLst>
              </p:cNvPr>
              <p:cNvSpPr/>
              <p:nvPr/>
            </p:nvSpPr>
            <p:spPr>
              <a:xfrm>
                <a:off x="2723011" y="3152005"/>
                <a:ext cx="2071336" cy="1925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Key Resources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8838C4A-160E-451A-8B34-C343134834F7}"/>
                  </a:ext>
                </a:extLst>
              </p:cNvPr>
              <p:cNvSpPr/>
              <p:nvPr/>
            </p:nvSpPr>
            <p:spPr>
              <a:xfrm>
                <a:off x="7296792" y="1241946"/>
                <a:ext cx="2071336" cy="18281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Customer </a:t>
                </a:r>
                <a:br>
                  <a:rPr lang="en-US" sz="1400" b="1" dirty="0"/>
                </a:br>
                <a:r>
                  <a:rPr lang="en-US" sz="1400" b="1" dirty="0"/>
                  <a:t>Relationship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F66DCED-A281-4CE9-B037-D0642092A58F}"/>
                  </a:ext>
                </a:extLst>
              </p:cNvPr>
              <p:cNvSpPr/>
              <p:nvPr/>
            </p:nvSpPr>
            <p:spPr>
              <a:xfrm>
                <a:off x="7296792" y="3157917"/>
                <a:ext cx="2071336" cy="1925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Channels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AD0841B-27AE-4272-80FE-8C9BE958E6B6}"/>
                  </a:ext>
                </a:extLst>
              </p:cNvPr>
              <p:cNvSpPr/>
              <p:nvPr/>
            </p:nvSpPr>
            <p:spPr>
              <a:xfrm>
                <a:off x="310796" y="5160040"/>
                <a:ext cx="5785204" cy="12665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Cost Structure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60C6A89-217C-4054-AA46-48F2C13BA188}"/>
                  </a:ext>
                </a:extLst>
              </p:cNvPr>
              <p:cNvSpPr/>
              <p:nvPr/>
            </p:nvSpPr>
            <p:spPr>
              <a:xfrm>
                <a:off x="6161135" y="5158062"/>
                <a:ext cx="5503875" cy="12665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Revenue Streams</a:t>
                </a:r>
              </a:p>
            </p:txBody>
          </p:sp>
        </p:grpSp>
        <p:pic>
          <p:nvPicPr>
            <p:cNvPr id="31" name="Graphic 30" descr="Wedding rings">
              <a:extLst>
                <a:ext uri="{FF2B5EF4-FFF2-40B4-BE49-F238E27FC236}">
                  <a16:creationId xmlns:a16="http://schemas.microsoft.com/office/drawing/2014/main" id="{24103348-5658-44F7-989E-9C9351458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28694" y="85432"/>
              <a:ext cx="365760" cy="365760"/>
            </a:xfrm>
            <a:prstGeom prst="rect">
              <a:avLst/>
            </a:prstGeom>
          </p:spPr>
        </p:pic>
        <p:pic>
          <p:nvPicPr>
            <p:cNvPr id="32" name="Graphic 31" descr="Box trolley">
              <a:extLst>
                <a:ext uri="{FF2B5EF4-FFF2-40B4-BE49-F238E27FC236}">
                  <a16:creationId xmlns:a16="http://schemas.microsoft.com/office/drawing/2014/main" id="{DD7173FB-7C7E-4A6B-985D-58DD0F43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17843" y="85432"/>
              <a:ext cx="365760" cy="365760"/>
            </a:xfrm>
            <a:prstGeom prst="rect">
              <a:avLst/>
            </a:prstGeom>
          </p:spPr>
        </p:pic>
        <p:pic>
          <p:nvPicPr>
            <p:cNvPr id="33" name="Graphic 32" descr="Present">
              <a:extLst>
                <a:ext uri="{FF2B5EF4-FFF2-40B4-BE49-F238E27FC236}">
                  <a16:creationId xmlns:a16="http://schemas.microsoft.com/office/drawing/2014/main" id="{D9C6C814-E2A4-4DD4-8CAB-5F4FA2281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81320" y="85432"/>
              <a:ext cx="365760" cy="365760"/>
            </a:xfrm>
            <a:prstGeom prst="rect">
              <a:avLst/>
            </a:prstGeom>
          </p:spPr>
        </p:pic>
        <p:pic>
          <p:nvPicPr>
            <p:cNvPr id="34" name="Graphic 33" descr="Heart">
              <a:extLst>
                <a:ext uri="{FF2B5EF4-FFF2-40B4-BE49-F238E27FC236}">
                  <a16:creationId xmlns:a16="http://schemas.microsoft.com/office/drawing/2014/main" id="{ED49347A-2FB7-46E9-BD96-639F273EC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05479" y="85432"/>
              <a:ext cx="365760" cy="365760"/>
            </a:xfrm>
            <a:prstGeom prst="rect">
              <a:avLst/>
            </a:prstGeom>
          </p:spPr>
        </p:pic>
        <p:pic>
          <p:nvPicPr>
            <p:cNvPr id="35" name="Graphic 34" descr="Target Audience">
              <a:extLst>
                <a:ext uri="{FF2B5EF4-FFF2-40B4-BE49-F238E27FC236}">
                  <a16:creationId xmlns:a16="http://schemas.microsoft.com/office/drawing/2014/main" id="{5334C573-C044-4DAF-AA56-062A45DCA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727752" y="85432"/>
              <a:ext cx="365760" cy="365760"/>
            </a:xfrm>
            <a:prstGeom prst="rect">
              <a:avLst/>
            </a:prstGeom>
          </p:spPr>
        </p:pic>
        <p:pic>
          <p:nvPicPr>
            <p:cNvPr id="36" name="Graphic 35" descr="Truck">
              <a:extLst>
                <a:ext uri="{FF2B5EF4-FFF2-40B4-BE49-F238E27FC236}">
                  <a16:creationId xmlns:a16="http://schemas.microsoft.com/office/drawing/2014/main" id="{10ACE2F6-C424-4670-9B45-42ACD7582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76418" y="2540573"/>
              <a:ext cx="365760" cy="365760"/>
            </a:xfrm>
            <a:prstGeom prst="rect">
              <a:avLst/>
            </a:prstGeom>
          </p:spPr>
        </p:pic>
        <p:pic>
          <p:nvPicPr>
            <p:cNvPr id="37" name="Graphic 36" descr="Woman with stroller">
              <a:extLst>
                <a:ext uri="{FF2B5EF4-FFF2-40B4-BE49-F238E27FC236}">
                  <a16:creationId xmlns:a16="http://schemas.microsoft.com/office/drawing/2014/main" id="{B1A317E6-3B96-4C9D-8484-BF850D038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435927" y="2567873"/>
              <a:ext cx="365760" cy="365760"/>
            </a:xfrm>
            <a:prstGeom prst="rect">
              <a:avLst/>
            </a:prstGeom>
          </p:spPr>
        </p:pic>
        <p:pic>
          <p:nvPicPr>
            <p:cNvPr id="38" name="Graphic 37" descr="Register">
              <a:extLst>
                <a:ext uri="{FF2B5EF4-FFF2-40B4-BE49-F238E27FC236}">
                  <a16:creationId xmlns:a16="http://schemas.microsoft.com/office/drawing/2014/main" id="{4F8F258A-47F8-452F-9206-73DBAF3CA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706631" y="5164427"/>
              <a:ext cx="365760" cy="365760"/>
            </a:xfrm>
            <a:prstGeom prst="rect">
              <a:avLst/>
            </a:prstGeom>
          </p:spPr>
        </p:pic>
        <p:pic>
          <p:nvPicPr>
            <p:cNvPr id="39" name="Graphic 38" descr="List RTL">
              <a:extLst>
                <a:ext uri="{FF2B5EF4-FFF2-40B4-BE49-F238E27FC236}">
                  <a16:creationId xmlns:a16="http://schemas.microsoft.com/office/drawing/2014/main" id="{72406FFE-ADDE-4186-8A1A-9B27A0624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841589" y="5164427"/>
              <a:ext cx="365760" cy="365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109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E8F2D5D7-C5B6-4C07-A277-0F21D879FD0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CC0432B-A22A-4F79-99A8-B20051D25D06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249713" y="1173709"/>
              <a:chExt cx="11491415" cy="5319167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1DC67D-0D98-4B91-900A-9BEA41BED2E6}"/>
                  </a:ext>
                </a:extLst>
              </p:cNvPr>
              <p:cNvSpPr/>
              <p:nvPr/>
            </p:nvSpPr>
            <p:spPr>
              <a:xfrm>
                <a:off x="249713" y="1173709"/>
                <a:ext cx="11491415" cy="531916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6E998E7-CA66-44F9-98DD-FD1369EADC82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/>
              <p:nvPr/>
            </p:nvSpPr>
            <p:spPr>
              <a:xfrm>
                <a:off x="318660" y="1244604"/>
                <a:ext cx="2303489" cy="3841571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>
                    <a:ln w="0"/>
                    <a:solidFill>
                      <a:schemeClr val="tx1"/>
                    </a:solidFill>
                  </a:rPr>
                  <a:t>Key Partners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2530005-83C1-48A4-8C39-01A1BD859A1F}"/>
                  </a:ext>
                </a:extLst>
              </p:cNvPr>
              <p:cNvSpPr/>
              <p:nvPr/>
            </p:nvSpPr>
            <p:spPr>
              <a:xfrm>
                <a:off x="9468990" y="1241946"/>
                <a:ext cx="2196020" cy="384157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Customer </a:t>
                </a:r>
                <a:br>
                  <a:rPr lang="en-US" sz="1400" b="1" dirty="0"/>
                </a:br>
                <a:r>
                  <a:rPr lang="en-US" sz="1400" b="1" dirty="0"/>
                  <a:t>Segments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620974-0813-4803-955C-FBD73C530208}"/>
                  </a:ext>
                </a:extLst>
              </p:cNvPr>
              <p:cNvSpPr/>
              <p:nvPr/>
            </p:nvSpPr>
            <p:spPr>
              <a:xfrm>
                <a:off x="4876800" y="1241946"/>
                <a:ext cx="2319130" cy="384688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Value </a:t>
                </a:r>
                <a:br>
                  <a:rPr lang="en-US" sz="1400" b="1" dirty="0"/>
                </a:br>
                <a:r>
                  <a:rPr lang="en-US" sz="1400" b="1" dirty="0"/>
                  <a:t>Proposition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0938CA-DFDD-424F-8007-44453B0136E3}"/>
                  </a:ext>
                </a:extLst>
              </p:cNvPr>
              <p:cNvSpPr/>
              <p:nvPr/>
            </p:nvSpPr>
            <p:spPr>
              <a:xfrm>
                <a:off x="2723011" y="1241946"/>
                <a:ext cx="2071336" cy="18281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Key Activities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1806D3-EDF4-4341-82CA-D2A1517D1C76}"/>
                  </a:ext>
                </a:extLst>
              </p:cNvPr>
              <p:cNvSpPr/>
              <p:nvPr/>
            </p:nvSpPr>
            <p:spPr>
              <a:xfrm>
                <a:off x="2723011" y="3152005"/>
                <a:ext cx="2071336" cy="1925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Key Resources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478CA06-9F40-4AA7-8FCD-6C6A234D83C7}"/>
                  </a:ext>
                </a:extLst>
              </p:cNvPr>
              <p:cNvSpPr/>
              <p:nvPr/>
            </p:nvSpPr>
            <p:spPr>
              <a:xfrm>
                <a:off x="7296792" y="1241946"/>
                <a:ext cx="2071336" cy="18281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Customer </a:t>
                </a:r>
                <a:br>
                  <a:rPr lang="en-US" sz="1400" b="1" dirty="0"/>
                </a:br>
                <a:r>
                  <a:rPr lang="en-US" sz="1400" b="1" dirty="0"/>
                  <a:t>Relationship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2937F00-006D-41BE-8CB1-0AE89AD07909}"/>
                  </a:ext>
                </a:extLst>
              </p:cNvPr>
              <p:cNvSpPr/>
              <p:nvPr/>
            </p:nvSpPr>
            <p:spPr>
              <a:xfrm>
                <a:off x="7296792" y="3157917"/>
                <a:ext cx="2071336" cy="1925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Channels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6F6623D-6038-40DE-9982-5256A0732B53}"/>
                  </a:ext>
                </a:extLst>
              </p:cNvPr>
              <p:cNvSpPr/>
              <p:nvPr/>
            </p:nvSpPr>
            <p:spPr>
              <a:xfrm>
                <a:off x="310796" y="5160040"/>
                <a:ext cx="5785204" cy="12665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Cost Structure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5271B59-E772-4762-A277-BBD25EC3779F}"/>
                  </a:ext>
                </a:extLst>
              </p:cNvPr>
              <p:cNvSpPr/>
              <p:nvPr/>
            </p:nvSpPr>
            <p:spPr>
              <a:xfrm>
                <a:off x="6161135" y="5158062"/>
                <a:ext cx="5503875" cy="12665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Revenue Streams</a:t>
                </a:r>
              </a:p>
            </p:txBody>
          </p:sp>
        </p:grpSp>
        <p:pic>
          <p:nvPicPr>
            <p:cNvPr id="18" name="Graphic 17" descr="Wedding rings">
              <a:extLst>
                <a:ext uri="{FF2B5EF4-FFF2-40B4-BE49-F238E27FC236}">
                  <a16:creationId xmlns:a16="http://schemas.microsoft.com/office/drawing/2014/main" id="{AE08409E-5950-4112-BCB6-E7150BEFF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28694" y="85432"/>
              <a:ext cx="365760" cy="365760"/>
            </a:xfrm>
            <a:prstGeom prst="rect">
              <a:avLst/>
            </a:prstGeom>
          </p:spPr>
        </p:pic>
        <p:pic>
          <p:nvPicPr>
            <p:cNvPr id="19" name="Graphic 18" descr="Box trolley">
              <a:extLst>
                <a:ext uri="{FF2B5EF4-FFF2-40B4-BE49-F238E27FC236}">
                  <a16:creationId xmlns:a16="http://schemas.microsoft.com/office/drawing/2014/main" id="{A35B5986-91A2-4281-B6D4-16B7596D5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17843" y="85432"/>
              <a:ext cx="365760" cy="365760"/>
            </a:xfrm>
            <a:prstGeom prst="rect">
              <a:avLst/>
            </a:prstGeom>
          </p:spPr>
        </p:pic>
        <p:pic>
          <p:nvPicPr>
            <p:cNvPr id="20" name="Graphic 19" descr="Present">
              <a:extLst>
                <a:ext uri="{FF2B5EF4-FFF2-40B4-BE49-F238E27FC236}">
                  <a16:creationId xmlns:a16="http://schemas.microsoft.com/office/drawing/2014/main" id="{4C6FDCBC-5CFA-40AF-BAEF-14A7FB7DE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81320" y="85432"/>
              <a:ext cx="365760" cy="365760"/>
            </a:xfrm>
            <a:prstGeom prst="rect">
              <a:avLst/>
            </a:prstGeom>
          </p:spPr>
        </p:pic>
        <p:pic>
          <p:nvPicPr>
            <p:cNvPr id="21" name="Graphic 20" descr="Heart">
              <a:extLst>
                <a:ext uri="{FF2B5EF4-FFF2-40B4-BE49-F238E27FC236}">
                  <a16:creationId xmlns:a16="http://schemas.microsoft.com/office/drawing/2014/main" id="{2F2D7DBB-158E-463E-ADC7-345B09D05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05479" y="85432"/>
              <a:ext cx="365760" cy="365760"/>
            </a:xfrm>
            <a:prstGeom prst="rect">
              <a:avLst/>
            </a:prstGeom>
          </p:spPr>
        </p:pic>
        <p:pic>
          <p:nvPicPr>
            <p:cNvPr id="22" name="Graphic 21" descr="Target Audience">
              <a:extLst>
                <a:ext uri="{FF2B5EF4-FFF2-40B4-BE49-F238E27FC236}">
                  <a16:creationId xmlns:a16="http://schemas.microsoft.com/office/drawing/2014/main" id="{7958F469-F2B6-4007-A8C8-F848315B3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727752" y="85432"/>
              <a:ext cx="365760" cy="365760"/>
            </a:xfrm>
            <a:prstGeom prst="rect">
              <a:avLst/>
            </a:prstGeom>
          </p:spPr>
        </p:pic>
        <p:pic>
          <p:nvPicPr>
            <p:cNvPr id="23" name="Graphic 22" descr="Truck">
              <a:extLst>
                <a:ext uri="{FF2B5EF4-FFF2-40B4-BE49-F238E27FC236}">
                  <a16:creationId xmlns:a16="http://schemas.microsoft.com/office/drawing/2014/main" id="{933EDFB3-6759-4082-A705-876EC3942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76418" y="2540573"/>
              <a:ext cx="365760" cy="365760"/>
            </a:xfrm>
            <a:prstGeom prst="rect">
              <a:avLst/>
            </a:prstGeom>
          </p:spPr>
        </p:pic>
        <p:pic>
          <p:nvPicPr>
            <p:cNvPr id="24" name="Graphic 23" descr="Woman with stroller">
              <a:extLst>
                <a:ext uri="{FF2B5EF4-FFF2-40B4-BE49-F238E27FC236}">
                  <a16:creationId xmlns:a16="http://schemas.microsoft.com/office/drawing/2014/main" id="{BE14C8A6-9699-48E5-B174-A4A161A0A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435927" y="2567873"/>
              <a:ext cx="365760" cy="365760"/>
            </a:xfrm>
            <a:prstGeom prst="rect">
              <a:avLst/>
            </a:prstGeom>
          </p:spPr>
        </p:pic>
        <p:pic>
          <p:nvPicPr>
            <p:cNvPr id="25" name="Graphic 24" descr="Register">
              <a:extLst>
                <a:ext uri="{FF2B5EF4-FFF2-40B4-BE49-F238E27FC236}">
                  <a16:creationId xmlns:a16="http://schemas.microsoft.com/office/drawing/2014/main" id="{73F6CA9F-D406-44B1-81BC-349DAE116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706631" y="5164427"/>
              <a:ext cx="365760" cy="365760"/>
            </a:xfrm>
            <a:prstGeom prst="rect">
              <a:avLst/>
            </a:prstGeom>
          </p:spPr>
        </p:pic>
        <p:pic>
          <p:nvPicPr>
            <p:cNvPr id="26" name="Graphic 25" descr="List RTL">
              <a:extLst>
                <a:ext uri="{FF2B5EF4-FFF2-40B4-BE49-F238E27FC236}">
                  <a16:creationId xmlns:a16="http://schemas.microsoft.com/office/drawing/2014/main" id="{A3126B2E-64E1-4B37-B929-86D512293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844309" y="5164427"/>
              <a:ext cx="365760" cy="365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8508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E8F2D5D7-C5B6-4C07-A277-0F21D879FD0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CC0432B-A22A-4F79-99A8-B20051D25D06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249713" y="1173709"/>
              <a:chExt cx="11491415" cy="5319167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1DC67D-0D98-4B91-900A-9BEA41BED2E6}"/>
                  </a:ext>
                </a:extLst>
              </p:cNvPr>
              <p:cNvSpPr/>
              <p:nvPr/>
            </p:nvSpPr>
            <p:spPr>
              <a:xfrm>
                <a:off x="249713" y="1173709"/>
                <a:ext cx="11491415" cy="531916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6E998E7-CA66-44F9-98DD-FD1369EADC82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/>
              <p:nvPr/>
            </p:nvSpPr>
            <p:spPr>
              <a:xfrm>
                <a:off x="318660" y="1244604"/>
                <a:ext cx="2303489" cy="3841571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>
                    <a:ln w="0"/>
                    <a:solidFill>
                      <a:schemeClr val="tx1"/>
                    </a:solidFill>
                  </a:rPr>
                  <a:t>KP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2530005-83C1-48A4-8C39-01A1BD859A1F}"/>
                  </a:ext>
                </a:extLst>
              </p:cNvPr>
              <p:cNvSpPr/>
              <p:nvPr/>
            </p:nvSpPr>
            <p:spPr>
              <a:xfrm>
                <a:off x="9468990" y="1241946"/>
                <a:ext cx="2196020" cy="384157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CS</a:t>
                </a:r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620974-0813-4803-955C-FBD73C530208}"/>
                  </a:ext>
                </a:extLst>
              </p:cNvPr>
              <p:cNvSpPr/>
              <p:nvPr/>
            </p:nvSpPr>
            <p:spPr>
              <a:xfrm>
                <a:off x="4876800" y="1241946"/>
                <a:ext cx="2319130" cy="384688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VP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0938CA-DFDD-424F-8007-44453B0136E3}"/>
                  </a:ext>
                </a:extLst>
              </p:cNvPr>
              <p:cNvSpPr/>
              <p:nvPr/>
            </p:nvSpPr>
            <p:spPr>
              <a:xfrm>
                <a:off x="2723011" y="1241946"/>
                <a:ext cx="2071336" cy="18281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KA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1806D3-EDF4-4341-82CA-D2A1517D1C76}"/>
                  </a:ext>
                </a:extLst>
              </p:cNvPr>
              <p:cNvSpPr/>
              <p:nvPr/>
            </p:nvSpPr>
            <p:spPr>
              <a:xfrm>
                <a:off x="2723011" y="3152005"/>
                <a:ext cx="2071336" cy="1925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KR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478CA06-9F40-4AA7-8FCD-6C6A234D83C7}"/>
                  </a:ext>
                </a:extLst>
              </p:cNvPr>
              <p:cNvSpPr/>
              <p:nvPr/>
            </p:nvSpPr>
            <p:spPr>
              <a:xfrm>
                <a:off x="7296792" y="1241946"/>
                <a:ext cx="2071336" cy="18281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CR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2937F00-006D-41BE-8CB1-0AE89AD07909}"/>
                  </a:ext>
                </a:extLst>
              </p:cNvPr>
              <p:cNvSpPr/>
              <p:nvPr/>
            </p:nvSpPr>
            <p:spPr>
              <a:xfrm>
                <a:off x="7296792" y="3157917"/>
                <a:ext cx="2071336" cy="1925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CH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6F6623D-6038-40DE-9982-5256A0732B53}"/>
                  </a:ext>
                </a:extLst>
              </p:cNvPr>
              <p:cNvSpPr/>
              <p:nvPr/>
            </p:nvSpPr>
            <p:spPr>
              <a:xfrm>
                <a:off x="310796" y="5160040"/>
                <a:ext cx="5785204" cy="12665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C$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5271B59-E772-4762-A277-BBD25EC3779F}"/>
                  </a:ext>
                </a:extLst>
              </p:cNvPr>
              <p:cNvSpPr/>
              <p:nvPr/>
            </p:nvSpPr>
            <p:spPr>
              <a:xfrm>
                <a:off x="6161135" y="5158062"/>
                <a:ext cx="5503875" cy="12665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R$</a:t>
                </a:r>
              </a:p>
            </p:txBody>
          </p:sp>
        </p:grpSp>
        <p:pic>
          <p:nvPicPr>
            <p:cNvPr id="18" name="Graphic 17" descr="Wedding rings">
              <a:extLst>
                <a:ext uri="{FF2B5EF4-FFF2-40B4-BE49-F238E27FC236}">
                  <a16:creationId xmlns:a16="http://schemas.microsoft.com/office/drawing/2014/main" id="{AE08409E-5950-4112-BCB6-E7150BEFF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28694" y="85432"/>
              <a:ext cx="365760" cy="365760"/>
            </a:xfrm>
            <a:prstGeom prst="rect">
              <a:avLst/>
            </a:prstGeom>
          </p:spPr>
        </p:pic>
        <p:pic>
          <p:nvPicPr>
            <p:cNvPr id="19" name="Graphic 18" descr="Box trolley">
              <a:extLst>
                <a:ext uri="{FF2B5EF4-FFF2-40B4-BE49-F238E27FC236}">
                  <a16:creationId xmlns:a16="http://schemas.microsoft.com/office/drawing/2014/main" id="{A35B5986-91A2-4281-B6D4-16B7596D5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17843" y="85432"/>
              <a:ext cx="365760" cy="365760"/>
            </a:xfrm>
            <a:prstGeom prst="rect">
              <a:avLst/>
            </a:prstGeom>
          </p:spPr>
        </p:pic>
        <p:pic>
          <p:nvPicPr>
            <p:cNvPr id="20" name="Graphic 19" descr="Present">
              <a:extLst>
                <a:ext uri="{FF2B5EF4-FFF2-40B4-BE49-F238E27FC236}">
                  <a16:creationId xmlns:a16="http://schemas.microsoft.com/office/drawing/2014/main" id="{4C6FDCBC-5CFA-40AF-BAEF-14A7FB7DE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81320" y="85432"/>
              <a:ext cx="365760" cy="365760"/>
            </a:xfrm>
            <a:prstGeom prst="rect">
              <a:avLst/>
            </a:prstGeom>
          </p:spPr>
        </p:pic>
        <p:pic>
          <p:nvPicPr>
            <p:cNvPr id="21" name="Graphic 20" descr="Heart">
              <a:extLst>
                <a:ext uri="{FF2B5EF4-FFF2-40B4-BE49-F238E27FC236}">
                  <a16:creationId xmlns:a16="http://schemas.microsoft.com/office/drawing/2014/main" id="{2F2D7DBB-158E-463E-ADC7-345B09D05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05479" y="85432"/>
              <a:ext cx="365760" cy="365760"/>
            </a:xfrm>
            <a:prstGeom prst="rect">
              <a:avLst/>
            </a:prstGeom>
          </p:spPr>
        </p:pic>
        <p:pic>
          <p:nvPicPr>
            <p:cNvPr id="22" name="Graphic 21" descr="Target Audience">
              <a:extLst>
                <a:ext uri="{FF2B5EF4-FFF2-40B4-BE49-F238E27FC236}">
                  <a16:creationId xmlns:a16="http://schemas.microsoft.com/office/drawing/2014/main" id="{7958F469-F2B6-4007-A8C8-F848315B3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727752" y="85432"/>
              <a:ext cx="365760" cy="365760"/>
            </a:xfrm>
            <a:prstGeom prst="rect">
              <a:avLst/>
            </a:prstGeom>
          </p:spPr>
        </p:pic>
        <p:pic>
          <p:nvPicPr>
            <p:cNvPr id="23" name="Graphic 22" descr="Truck">
              <a:extLst>
                <a:ext uri="{FF2B5EF4-FFF2-40B4-BE49-F238E27FC236}">
                  <a16:creationId xmlns:a16="http://schemas.microsoft.com/office/drawing/2014/main" id="{933EDFB3-6759-4082-A705-876EC3942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76418" y="2540573"/>
              <a:ext cx="365760" cy="365760"/>
            </a:xfrm>
            <a:prstGeom prst="rect">
              <a:avLst/>
            </a:prstGeom>
          </p:spPr>
        </p:pic>
        <p:pic>
          <p:nvPicPr>
            <p:cNvPr id="24" name="Graphic 23" descr="Woman with stroller">
              <a:extLst>
                <a:ext uri="{FF2B5EF4-FFF2-40B4-BE49-F238E27FC236}">
                  <a16:creationId xmlns:a16="http://schemas.microsoft.com/office/drawing/2014/main" id="{BE14C8A6-9699-48E5-B174-A4A161A0A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435927" y="2567873"/>
              <a:ext cx="365760" cy="365760"/>
            </a:xfrm>
            <a:prstGeom prst="rect">
              <a:avLst/>
            </a:prstGeom>
          </p:spPr>
        </p:pic>
        <p:pic>
          <p:nvPicPr>
            <p:cNvPr id="25" name="Graphic 24" descr="Register">
              <a:extLst>
                <a:ext uri="{FF2B5EF4-FFF2-40B4-BE49-F238E27FC236}">
                  <a16:creationId xmlns:a16="http://schemas.microsoft.com/office/drawing/2014/main" id="{73F6CA9F-D406-44B1-81BC-349DAE116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706631" y="5164427"/>
              <a:ext cx="365760" cy="365760"/>
            </a:xfrm>
            <a:prstGeom prst="rect">
              <a:avLst/>
            </a:prstGeom>
          </p:spPr>
        </p:pic>
        <p:pic>
          <p:nvPicPr>
            <p:cNvPr id="26" name="Graphic 25" descr="List RTL">
              <a:extLst>
                <a:ext uri="{FF2B5EF4-FFF2-40B4-BE49-F238E27FC236}">
                  <a16:creationId xmlns:a16="http://schemas.microsoft.com/office/drawing/2014/main" id="{A3126B2E-64E1-4B37-B929-86D512293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844309" y="5164427"/>
              <a:ext cx="365760" cy="365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3482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600F620A-C900-42A2-AC46-C2B21DF52D2D}"/>
              </a:ext>
            </a:extLst>
          </p:cNvPr>
          <p:cNvGrpSpPr/>
          <p:nvPr/>
        </p:nvGrpSpPr>
        <p:grpSpPr>
          <a:xfrm>
            <a:off x="571500" y="231684"/>
            <a:ext cx="11049000" cy="6438056"/>
            <a:chOff x="571500" y="231684"/>
            <a:chExt cx="11049000" cy="643805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8F2D5D7-C5B6-4C07-A277-0F21D879FD07}"/>
                </a:ext>
              </a:extLst>
            </p:cNvPr>
            <p:cNvGrpSpPr/>
            <p:nvPr/>
          </p:nvGrpSpPr>
          <p:grpSpPr>
            <a:xfrm>
              <a:off x="571500" y="739587"/>
              <a:ext cx="11049000" cy="5930153"/>
              <a:chOff x="0" y="0"/>
              <a:chExt cx="12192000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CC0432B-A22A-4F79-99A8-B20051D25D06}"/>
                  </a:ext>
                </a:extLst>
              </p:cNvPr>
              <p:cNvGrpSpPr/>
              <p:nvPr/>
            </p:nvGrpSpPr>
            <p:grpSpPr>
              <a:xfrm>
                <a:off x="0" y="0"/>
                <a:ext cx="12192000" cy="6858000"/>
                <a:chOff x="249713" y="1173709"/>
                <a:chExt cx="11491415" cy="5319167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F1DC67D-0D98-4B91-900A-9BEA41BED2E6}"/>
                    </a:ext>
                  </a:extLst>
                </p:cNvPr>
                <p:cNvSpPr/>
                <p:nvPr/>
              </p:nvSpPr>
              <p:spPr>
                <a:xfrm>
                  <a:off x="249713" y="1173709"/>
                  <a:ext cx="11491415" cy="5319167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6E998E7-CA66-44F9-98DD-FD1369EADC82}"/>
                    </a:ext>
                    <a:ext uri="{C183D7F6-B498-43B3-948B-1728B52AA6E4}">
                      <adec:decorative xmlns:adec="http://schemas.microsoft.com/office/drawing/2017/decorative" val="0"/>
                    </a:ext>
                  </a:extLst>
                </p:cNvPr>
                <p:cNvSpPr/>
                <p:nvPr/>
              </p:nvSpPr>
              <p:spPr>
                <a:xfrm>
                  <a:off x="318660" y="1244604"/>
                  <a:ext cx="2303489" cy="3841571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>
                      <a:ln w="0"/>
                      <a:solidFill>
                        <a:schemeClr val="tx1"/>
                      </a:solidFill>
                    </a:rPr>
                    <a:t>KP</a:t>
                  </a:r>
                  <a:br>
                    <a:rPr lang="en-US" b="1" dirty="0">
                      <a:ln w="0"/>
                      <a:solidFill>
                        <a:schemeClr val="tx1"/>
                      </a:solidFill>
                    </a:rPr>
                  </a:br>
                  <a:br>
                    <a:rPr lang="en-US" b="1" dirty="0">
                      <a:ln w="0"/>
                      <a:solidFill>
                        <a:schemeClr val="tx1"/>
                      </a:solidFill>
                    </a:rPr>
                  </a:br>
                  <a:br>
                    <a:rPr lang="en-US" b="1" dirty="0">
                      <a:ln w="0"/>
                      <a:solidFill>
                        <a:schemeClr val="tx1"/>
                      </a:solidFill>
                    </a:rPr>
                  </a:br>
                  <a:endParaRPr lang="en-US" b="1" dirty="0">
                    <a:ln w="0"/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2530005-83C1-48A4-8C39-01A1BD859A1F}"/>
                    </a:ext>
                  </a:extLst>
                </p:cNvPr>
                <p:cNvSpPr/>
                <p:nvPr/>
              </p:nvSpPr>
              <p:spPr>
                <a:xfrm>
                  <a:off x="9468990" y="1241946"/>
                  <a:ext cx="2196020" cy="3841571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CS</a:t>
                  </a:r>
                  <a:endParaRPr lang="en-US" dirty="0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1620974-0813-4803-955C-FBD73C530208}"/>
                    </a:ext>
                  </a:extLst>
                </p:cNvPr>
                <p:cNvSpPr/>
                <p:nvPr/>
              </p:nvSpPr>
              <p:spPr>
                <a:xfrm>
                  <a:off x="4876800" y="1241946"/>
                  <a:ext cx="2319130" cy="3846889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VP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80938CA-DFDD-424F-8007-44453B0136E3}"/>
                    </a:ext>
                  </a:extLst>
                </p:cNvPr>
                <p:cNvSpPr/>
                <p:nvPr/>
              </p:nvSpPr>
              <p:spPr>
                <a:xfrm>
                  <a:off x="2723011" y="1241946"/>
                  <a:ext cx="2071336" cy="18281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KA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71806D3-EDF4-4341-82CA-D2A1517D1C76}"/>
                    </a:ext>
                  </a:extLst>
                </p:cNvPr>
                <p:cNvSpPr/>
                <p:nvPr/>
              </p:nvSpPr>
              <p:spPr>
                <a:xfrm>
                  <a:off x="2723011" y="3152005"/>
                  <a:ext cx="2071336" cy="1925600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KR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478CA06-9F40-4AA7-8FCD-6C6A234D83C7}"/>
                    </a:ext>
                  </a:extLst>
                </p:cNvPr>
                <p:cNvSpPr/>
                <p:nvPr/>
              </p:nvSpPr>
              <p:spPr>
                <a:xfrm>
                  <a:off x="7296792" y="1241946"/>
                  <a:ext cx="2071336" cy="18281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CR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2937F00-006D-41BE-8CB1-0AE89AD07909}"/>
                    </a:ext>
                  </a:extLst>
                </p:cNvPr>
                <p:cNvSpPr/>
                <p:nvPr/>
              </p:nvSpPr>
              <p:spPr>
                <a:xfrm>
                  <a:off x="7296792" y="3157917"/>
                  <a:ext cx="2071336" cy="1925600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CH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6F6623D-6038-40DE-9982-5256A0732B53}"/>
                    </a:ext>
                  </a:extLst>
                </p:cNvPr>
                <p:cNvSpPr/>
                <p:nvPr/>
              </p:nvSpPr>
              <p:spPr>
                <a:xfrm>
                  <a:off x="310796" y="5160040"/>
                  <a:ext cx="5785204" cy="12665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C$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35271B59-E772-4762-A277-BBD25EC3779F}"/>
                    </a:ext>
                  </a:extLst>
                </p:cNvPr>
                <p:cNvSpPr/>
                <p:nvPr/>
              </p:nvSpPr>
              <p:spPr>
                <a:xfrm>
                  <a:off x="6161135" y="5158062"/>
                  <a:ext cx="5503875" cy="12665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R$</a:t>
                  </a:r>
                </a:p>
              </p:txBody>
            </p:sp>
          </p:grpSp>
          <p:pic>
            <p:nvPicPr>
              <p:cNvPr id="18" name="Graphic 17" descr="Wedding rings">
                <a:extLst>
                  <a:ext uri="{FF2B5EF4-FFF2-40B4-BE49-F238E27FC236}">
                    <a16:creationId xmlns:a16="http://schemas.microsoft.com/office/drawing/2014/main" id="{AE08409E-5950-4112-BCB6-E7150BEFF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128694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19" name="Graphic 18" descr="Box trolley">
                <a:extLst>
                  <a:ext uri="{FF2B5EF4-FFF2-40B4-BE49-F238E27FC236}">
                    <a16:creationId xmlns:a16="http://schemas.microsoft.com/office/drawing/2014/main" id="{A35B5986-91A2-4281-B6D4-16B7596D5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17843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0" name="Graphic 19" descr="Present">
                <a:extLst>
                  <a:ext uri="{FF2B5EF4-FFF2-40B4-BE49-F238E27FC236}">
                    <a16:creationId xmlns:a16="http://schemas.microsoft.com/office/drawing/2014/main" id="{4C6FDCBC-5CFA-40AF-BAEF-14A7FB7DE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981320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1" name="Graphic 20" descr="Heart">
                <a:extLst>
                  <a:ext uri="{FF2B5EF4-FFF2-40B4-BE49-F238E27FC236}">
                    <a16:creationId xmlns:a16="http://schemas.microsoft.com/office/drawing/2014/main" id="{2F2D7DBB-158E-463E-ADC7-345B09D05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305479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2" name="Graphic 21" descr="Target Audience">
                <a:extLst>
                  <a:ext uri="{FF2B5EF4-FFF2-40B4-BE49-F238E27FC236}">
                    <a16:creationId xmlns:a16="http://schemas.microsoft.com/office/drawing/2014/main" id="{7958F469-F2B6-4007-A8C8-F848315B3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727752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3" name="Graphic 22" descr="Truck">
                <a:extLst>
                  <a:ext uri="{FF2B5EF4-FFF2-40B4-BE49-F238E27FC236}">
                    <a16:creationId xmlns:a16="http://schemas.microsoft.com/office/drawing/2014/main" id="{933EDFB3-6759-4082-A705-876EC39420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9276418" y="2540573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4" name="Graphic 23" descr="Woman with stroller">
                <a:extLst>
                  <a:ext uri="{FF2B5EF4-FFF2-40B4-BE49-F238E27FC236}">
                    <a16:creationId xmlns:a16="http://schemas.microsoft.com/office/drawing/2014/main" id="{BE14C8A6-9699-48E5-B174-A4A161A0A3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435927" y="2567873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5" name="Graphic 24" descr="Register">
                <a:extLst>
                  <a:ext uri="{FF2B5EF4-FFF2-40B4-BE49-F238E27FC236}">
                    <a16:creationId xmlns:a16="http://schemas.microsoft.com/office/drawing/2014/main" id="{73F6CA9F-D406-44B1-81BC-349DAE116E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706631" y="5164427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6" name="Graphic 25" descr="List RTL">
                <a:extLst>
                  <a:ext uri="{FF2B5EF4-FFF2-40B4-BE49-F238E27FC236}">
                    <a16:creationId xmlns:a16="http://schemas.microsoft.com/office/drawing/2014/main" id="{A3126B2E-64E1-4B37-B929-86D512293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5841567" y="5164426"/>
                <a:ext cx="365760" cy="365760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926E30C-83B4-4B20-97AB-7286F69A9B63}"/>
                </a:ext>
              </a:extLst>
            </p:cNvPr>
            <p:cNvSpPr txBox="1"/>
            <p:nvPr/>
          </p:nvSpPr>
          <p:spPr>
            <a:xfrm>
              <a:off x="1014258" y="2122155"/>
              <a:ext cx="1461875" cy="2062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PAYMENT </a:t>
              </a:r>
              <a:br>
                <a:rPr lang="en-US" sz="1600" b="1" dirty="0"/>
              </a:br>
              <a:r>
                <a:rPr lang="en-US" sz="1600" b="1" dirty="0"/>
                <a:t>PROVIDERS</a:t>
              </a:r>
            </a:p>
            <a:p>
              <a:pPr algn="ctr"/>
              <a:endParaRPr lang="en-US" sz="1600" b="1" dirty="0"/>
            </a:p>
            <a:p>
              <a:pPr algn="ctr"/>
              <a:r>
                <a:rPr lang="en-US" sz="1600" b="1" dirty="0"/>
                <a:t>DISTRIBUTION </a:t>
              </a:r>
              <a:br>
                <a:rPr lang="en-US" sz="1600" b="1" dirty="0"/>
              </a:br>
              <a:r>
                <a:rPr lang="en-US" sz="1600" b="1" dirty="0"/>
                <a:t>PARTNERS</a:t>
              </a:r>
            </a:p>
            <a:p>
              <a:pPr algn="ctr"/>
              <a:endParaRPr lang="en-US" sz="1600" b="1" dirty="0"/>
            </a:p>
            <a:p>
              <a:pPr algn="ctr"/>
              <a:r>
                <a:rPr lang="en-US" sz="1600" b="1" dirty="0"/>
                <a:t>TELECO</a:t>
              </a:r>
              <a:br>
                <a:rPr lang="en-US" sz="1600" b="1" dirty="0"/>
              </a:br>
              <a:r>
                <a:rPr lang="en-US" sz="1600" b="1" dirty="0"/>
                <a:t>PARTNERS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EACC27-0361-4C7C-8BD0-E5C0A0071C83}"/>
                </a:ext>
              </a:extLst>
            </p:cNvPr>
            <p:cNvSpPr txBox="1"/>
            <p:nvPr/>
          </p:nvSpPr>
          <p:spPr>
            <a:xfrm>
              <a:off x="3204816" y="1632343"/>
              <a:ext cx="14811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SOFTWARE </a:t>
              </a:r>
              <a:br>
                <a:rPr lang="en-US" sz="1600" b="1" dirty="0"/>
              </a:br>
              <a:r>
                <a:rPr lang="en-US" sz="1600" b="1" dirty="0"/>
                <a:t>DEVELOPMENT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EA45FBE-4F2A-4C16-8610-EA18779683F2}"/>
                </a:ext>
              </a:extLst>
            </p:cNvPr>
            <p:cNvSpPr txBox="1"/>
            <p:nvPr/>
          </p:nvSpPr>
          <p:spPr>
            <a:xfrm>
              <a:off x="3306799" y="3596549"/>
              <a:ext cx="1277144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SOFTWARE </a:t>
              </a:r>
            </a:p>
            <a:p>
              <a:pPr algn="ctr"/>
              <a:r>
                <a:rPr lang="en-US" sz="1600" b="1" dirty="0"/>
                <a:t>DEVELOPERS</a:t>
              </a:r>
            </a:p>
            <a:p>
              <a:pPr algn="ctr"/>
              <a:endParaRPr lang="en-US" sz="1600" b="1" dirty="0"/>
            </a:p>
            <a:p>
              <a:pPr algn="ctr"/>
              <a:r>
                <a:rPr lang="en-US" sz="1600" b="1" dirty="0"/>
                <a:t>SOFTWARE </a:t>
              </a:r>
              <a:br>
                <a:rPr lang="en-US" sz="1600" b="1" dirty="0"/>
              </a:br>
              <a:endParaRPr lang="en-US" sz="1600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85BB07-0E9A-4E2D-9E64-8472B706AC11}"/>
                </a:ext>
              </a:extLst>
            </p:cNvPr>
            <p:cNvSpPr txBox="1"/>
            <p:nvPr/>
          </p:nvSpPr>
          <p:spPr>
            <a:xfrm>
              <a:off x="1116106" y="5502640"/>
              <a:ext cx="477581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SOFTWARE DEVELOPMENT</a:t>
              </a:r>
              <a:br>
                <a:rPr lang="en-US" sz="1600" b="1" dirty="0"/>
              </a:br>
              <a:br>
                <a:rPr lang="en-US" sz="1600" b="1" dirty="0"/>
              </a:br>
              <a:r>
                <a:rPr lang="en-US" sz="1600" b="1" dirty="0"/>
                <a:t>COMPLAINT MANAGEMENT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61CF03-8C48-4574-8DB5-AB7229477AAF}"/>
                </a:ext>
              </a:extLst>
            </p:cNvPr>
            <p:cNvSpPr txBox="1"/>
            <p:nvPr/>
          </p:nvSpPr>
          <p:spPr>
            <a:xfrm>
              <a:off x="6423957" y="5214240"/>
              <a:ext cx="477581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highlight>
                    <a:srgbClr val="FF6600"/>
                  </a:highlight>
                </a:rPr>
                <a:t>FREE</a:t>
              </a:r>
              <a:br>
                <a:rPr lang="en-US" sz="1600" b="1" dirty="0"/>
              </a:br>
              <a:br>
                <a:rPr lang="en-US" sz="1600" b="1" dirty="0"/>
              </a:br>
              <a:r>
                <a:rPr lang="en-US" sz="1600" b="1" dirty="0">
                  <a:highlight>
                    <a:srgbClr val="CCFF33"/>
                  </a:highlight>
                </a:rPr>
                <a:t>SKYPEOUT PRE-PAID OR SUBSCRIPTIONS</a:t>
              </a:r>
              <a:br>
                <a:rPr lang="en-US" sz="1600" b="1" dirty="0"/>
              </a:br>
              <a:br>
                <a:rPr lang="en-US" sz="1600" b="1" dirty="0"/>
              </a:br>
              <a:r>
                <a:rPr lang="en-US" sz="1600" b="1" dirty="0"/>
                <a:t>HARDWARE SALES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81117C-77B3-48E3-8B60-EAE08726BC3A}"/>
                </a:ext>
              </a:extLst>
            </p:cNvPr>
            <p:cNvSpPr txBox="1"/>
            <p:nvPr/>
          </p:nvSpPr>
          <p:spPr>
            <a:xfrm>
              <a:off x="5334138" y="1945888"/>
              <a:ext cx="171713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highlight>
                    <a:srgbClr val="FF6600"/>
                  </a:highlight>
                </a:rPr>
                <a:t>FREE INTERNET &amp; </a:t>
              </a:r>
              <a:br>
                <a:rPr lang="en-US" sz="1600" b="1" dirty="0">
                  <a:highlight>
                    <a:srgbClr val="FF6600"/>
                  </a:highlight>
                </a:rPr>
              </a:br>
              <a:r>
                <a:rPr lang="en-US" sz="1600" b="1" dirty="0">
                  <a:highlight>
                    <a:srgbClr val="FF6600"/>
                  </a:highlight>
                </a:rPr>
                <a:t>VIDEOCALLING</a:t>
              </a:r>
              <a:br>
                <a:rPr lang="en-US" sz="1600" b="1" dirty="0"/>
              </a:br>
              <a:endParaRPr lang="en-US" sz="1600" b="1" dirty="0"/>
            </a:p>
            <a:p>
              <a:pPr algn="ctr"/>
              <a:r>
                <a:rPr lang="en-US" sz="1600" b="1" dirty="0">
                  <a:highlight>
                    <a:srgbClr val="CCFF33"/>
                  </a:highlight>
                </a:rPr>
                <a:t>CHEAP CALLS TO </a:t>
              </a:r>
              <a:br>
                <a:rPr lang="en-US" sz="1600" b="1" dirty="0">
                  <a:highlight>
                    <a:srgbClr val="CCFF33"/>
                  </a:highlight>
                </a:rPr>
              </a:br>
              <a:r>
                <a:rPr lang="en-US" sz="1600" b="1" dirty="0">
                  <a:highlight>
                    <a:srgbClr val="CCFF33"/>
                  </a:highlight>
                </a:rPr>
                <a:t>PHONE</a:t>
              </a:r>
              <a:br>
                <a:rPr lang="en-US" sz="1600" b="1" dirty="0">
                  <a:highlight>
                    <a:srgbClr val="CCFF33"/>
                  </a:highlight>
                </a:rPr>
              </a:br>
              <a:r>
                <a:rPr lang="en-US" sz="1600" b="1" dirty="0">
                  <a:highlight>
                    <a:srgbClr val="CCFF33"/>
                  </a:highlight>
                </a:rPr>
                <a:t>(SKYPEOUT)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EC93B8-6A7C-4FF8-9041-19CD5CEC3279}"/>
                </a:ext>
              </a:extLst>
            </p:cNvPr>
            <p:cNvSpPr txBox="1"/>
            <p:nvPr/>
          </p:nvSpPr>
          <p:spPr>
            <a:xfrm>
              <a:off x="7683011" y="1543533"/>
              <a:ext cx="132010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MASS </a:t>
              </a:r>
            </a:p>
            <a:p>
              <a:pPr algn="ctr"/>
              <a:r>
                <a:rPr lang="en-US" sz="1600" b="1" dirty="0"/>
                <a:t>CUSTOMISED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CE93752-491C-4A4D-9C38-4FCB9BAD2D68}"/>
                </a:ext>
              </a:extLst>
            </p:cNvPr>
            <p:cNvSpPr txBox="1"/>
            <p:nvPr/>
          </p:nvSpPr>
          <p:spPr>
            <a:xfrm>
              <a:off x="7361846" y="3263927"/>
              <a:ext cx="2000804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SKYPE.COM</a:t>
              </a:r>
            </a:p>
            <a:p>
              <a:pPr algn="ctr"/>
              <a:br>
                <a:rPr lang="en-US" sz="1600" b="1" dirty="0"/>
              </a:br>
              <a:r>
                <a:rPr lang="en-US" sz="1600" b="1" dirty="0"/>
                <a:t>SKYPE APP</a:t>
              </a:r>
              <a:br>
                <a:rPr lang="en-US" sz="1600" b="1" dirty="0"/>
              </a:br>
              <a:r>
                <a:rPr lang="en-US" sz="1600" b="1" dirty="0"/>
                <a:t>(ANDROID, IOS, WIN)</a:t>
              </a:r>
              <a:br>
                <a:rPr lang="en-US" sz="1600" b="1" dirty="0"/>
              </a:br>
              <a:br>
                <a:rPr lang="en-US" sz="1600" b="1" dirty="0"/>
              </a:br>
              <a:r>
                <a:rPr lang="en-US" sz="1600" b="1" dirty="0"/>
                <a:t>HEADSET </a:t>
              </a:r>
              <a:br>
                <a:rPr lang="en-US" sz="1600" b="1" dirty="0"/>
              </a:br>
              <a:r>
                <a:rPr lang="en-US" sz="1600" b="1" dirty="0"/>
                <a:t>PARTNERSHIPS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34B5432-4763-49A3-9DD0-CF3F06C62C3A}"/>
                </a:ext>
              </a:extLst>
            </p:cNvPr>
            <p:cNvSpPr txBox="1"/>
            <p:nvPr/>
          </p:nvSpPr>
          <p:spPr>
            <a:xfrm>
              <a:off x="9536986" y="2427446"/>
              <a:ext cx="1909177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highlight>
                    <a:srgbClr val="FF6600"/>
                  </a:highlight>
                </a:rPr>
                <a:t>WEB USERS</a:t>
              </a:r>
              <a:br>
                <a:rPr lang="en-US" sz="1600" b="1" dirty="0">
                  <a:highlight>
                    <a:srgbClr val="FF6600"/>
                  </a:highlight>
                </a:rPr>
              </a:br>
              <a:r>
                <a:rPr lang="en-US" sz="1600" b="1" dirty="0">
                  <a:highlight>
                    <a:srgbClr val="FF6600"/>
                  </a:highlight>
                </a:rPr>
                <a:t>GLOBALLY</a:t>
              </a:r>
            </a:p>
            <a:p>
              <a:pPr algn="ctr"/>
              <a:br>
                <a:rPr lang="en-US" sz="1600" b="1" dirty="0"/>
              </a:br>
              <a:r>
                <a:rPr lang="en-US" sz="1600" b="1" dirty="0">
                  <a:highlight>
                    <a:srgbClr val="CCFF33"/>
                  </a:highlight>
                </a:rPr>
                <a:t>PEOPLE WHO WANT</a:t>
              </a:r>
              <a:br>
                <a:rPr lang="en-US" sz="1600" b="1" dirty="0">
                  <a:highlight>
                    <a:srgbClr val="CCFF33"/>
                  </a:highlight>
                </a:rPr>
              </a:br>
              <a:r>
                <a:rPr lang="en-US" sz="1600" b="1" dirty="0">
                  <a:highlight>
                    <a:srgbClr val="CCFF33"/>
                  </a:highlight>
                </a:rPr>
                <a:t>TO CALL PHONES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E76755B-B149-4977-8D5C-0237C3F0E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21"/>
                </a:ext>
              </a:extLst>
            </a:blip>
            <a:stretch>
              <a:fillRect/>
            </a:stretch>
          </p:blipFill>
          <p:spPr>
            <a:xfrm>
              <a:off x="630231" y="231684"/>
              <a:ext cx="1051359" cy="4704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4947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EA27B089-0F24-19C9-D150-4A4CDC89FD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4" b="19192"/>
          <a:stretch/>
        </p:blipFill>
        <p:spPr>
          <a:xfrm>
            <a:off x="962892" y="873270"/>
            <a:ext cx="9843654" cy="5866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04356-37C4-CF44-4EC5-9BF51EEB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963" y="304801"/>
            <a:ext cx="9511145" cy="85941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Which Company’s Product Business Model?</a:t>
            </a:r>
          </a:p>
        </p:txBody>
      </p:sp>
    </p:spTree>
    <p:extLst>
      <p:ext uri="{BB962C8B-B14F-4D97-AF65-F5344CB8AC3E}">
        <p14:creationId xmlns:p14="http://schemas.microsoft.com/office/powerpoint/2010/main" val="97086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14DE-F3A6-0B52-2DAE-F4E84E56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285" y="2569585"/>
            <a:ext cx="7499189" cy="85941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Canvas Model Design Group Activity</a:t>
            </a:r>
          </a:p>
        </p:txBody>
      </p:sp>
    </p:spTree>
    <p:extLst>
      <p:ext uri="{BB962C8B-B14F-4D97-AF65-F5344CB8AC3E}">
        <p14:creationId xmlns:p14="http://schemas.microsoft.com/office/powerpoint/2010/main" val="757935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E8F2D5D7-C5B6-4C07-A277-0F21D879FD0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CC0432B-A22A-4F79-99A8-B20051D25D06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249713" y="1173709"/>
              <a:chExt cx="11491415" cy="5319167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1DC67D-0D98-4B91-900A-9BEA41BED2E6}"/>
                  </a:ext>
                </a:extLst>
              </p:cNvPr>
              <p:cNvSpPr/>
              <p:nvPr/>
            </p:nvSpPr>
            <p:spPr>
              <a:xfrm>
                <a:off x="249713" y="1173709"/>
                <a:ext cx="11491415" cy="5319167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6E998E7-CA66-44F9-98DD-FD1369EADC82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/>
              <p:nvPr/>
            </p:nvSpPr>
            <p:spPr>
              <a:xfrm>
                <a:off x="318660" y="1244604"/>
                <a:ext cx="2303489" cy="3841571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>
                    <a:ln w="0"/>
                    <a:solidFill>
                      <a:schemeClr val="tx1"/>
                    </a:solidFill>
                  </a:rPr>
                  <a:t>KP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2530005-83C1-48A4-8C39-01A1BD859A1F}"/>
                  </a:ext>
                </a:extLst>
              </p:cNvPr>
              <p:cNvSpPr/>
              <p:nvPr/>
            </p:nvSpPr>
            <p:spPr>
              <a:xfrm>
                <a:off x="9468990" y="1241946"/>
                <a:ext cx="2196020" cy="384157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CS</a:t>
                </a:r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1620974-0813-4803-955C-FBD73C530208}"/>
                  </a:ext>
                </a:extLst>
              </p:cNvPr>
              <p:cNvSpPr/>
              <p:nvPr/>
            </p:nvSpPr>
            <p:spPr>
              <a:xfrm>
                <a:off x="4876800" y="1241946"/>
                <a:ext cx="2319130" cy="384688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VP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0938CA-DFDD-424F-8007-44453B0136E3}"/>
                  </a:ext>
                </a:extLst>
              </p:cNvPr>
              <p:cNvSpPr/>
              <p:nvPr/>
            </p:nvSpPr>
            <p:spPr>
              <a:xfrm>
                <a:off x="2723011" y="1241946"/>
                <a:ext cx="2071336" cy="18281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KA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1806D3-EDF4-4341-82CA-D2A1517D1C76}"/>
                  </a:ext>
                </a:extLst>
              </p:cNvPr>
              <p:cNvSpPr/>
              <p:nvPr/>
            </p:nvSpPr>
            <p:spPr>
              <a:xfrm>
                <a:off x="2723011" y="3152005"/>
                <a:ext cx="2071336" cy="1925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KR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478CA06-9F40-4AA7-8FCD-6C6A234D83C7}"/>
                  </a:ext>
                </a:extLst>
              </p:cNvPr>
              <p:cNvSpPr/>
              <p:nvPr/>
            </p:nvSpPr>
            <p:spPr>
              <a:xfrm>
                <a:off x="7296792" y="1241946"/>
                <a:ext cx="2071336" cy="18281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CR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2937F00-006D-41BE-8CB1-0AE89AD07909}"/>
                  </a:ext>
                </a:extLst>
              </p:cNvPr>
              <p:cNvSpPr/>
              <p:nvPr/>
            </p:nvSpPr>
            <p:spPr>
              <a:xfrm>
                <a:off x="7296792" y="3157917"/>
                <a:ext cx="2071336" cy="19256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CH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6F6623D-6038-40DE-9982-5256A0732B53}"/>
                  </a:ext>
                </a:extLst>
              </p:cNvPr>
              <p:cNvSpPr/>
              <p:nvPr/>
            </p:nvSpPr>
            <p:spPr>
              <a:xfrm>
                <a:off x="310796" y="5160040"/>
                <a:ext cx="5785204" cy="12665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C$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5271B59-E772-4762-A277-BBD25EC3779F}"/>
                  </a:ext>
                </a:extLst>
              </p:cNvPr>
              <p:cNvSpPr/>
              <p:nvPr/>
            </p:nvSpPr>
            <p:spPr>
              <a:xfrm>
                <a:off x="6161135" y="5158062"/>
                <a:ext cx="5503875" cy="126657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b="1" dirty="0"/>
                  <a:t>R$</a:t>
                </a:r>
              </a:p>
            </p:txBody>
          </p:sp>
        </p:grpSp>
        <p:pic>
          <p:nvPicPr>
            <p:cNvPr id="18" name="Graphic 17" descr="Wedding rings">
              <a:extLst>
                <a:ext uri="{FF2B5EF4-FFF2-40B4-BE49-F238E27FC236}">
                  <a16:creationId xmlns:a16="http://schemas.microsoft.com/office/drawing/2014/main" id="{AE08409E-5950-4112-BCB6-E7150BEFF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28694" y="85432"/>
              <a:ext cx="365760" cy="365760"/>
            </a:xfrm>
            <a:prstGeom prst="rect">
              <a:avLst/>
            </a:prstGeom>
          </p:spPr>
        </p:pic>
        <p:pic>
          <p:nvPicPr>
            <p:cNvPr id="19" name="Graphic 18" descr="Box trolley">
              <a:extLst>
                <a:ext uri="{FF2B5EF4-FFF2-40B4-BE49-F238E27FC236}">
                  <a16:creationId xmlns:a16="http://schemas.microsoft.com/office/drawing/2014/main" id="{A35B5986-91A2-4281-B6D4-16B7596D5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17843" y="85432"/>
              <a:ext cx="365760" cy="365760"/>
            </a:xfrm>
            <a:prstGeom prst="rect">
              <a:avLst/>
            </a:prstGeom>
          </p:spPr>
        </p:pic>
        <p:pic>
          <p:nvPicPr>
            <p:cNvPr id="20" name="Graphic 19" descr="Present">
              <a:extLst>
                <a:ext uri="{FF2B5EF4-FFF2-40B4-BE49-F238E27FC236}">
                  <a16:creationId xmlns:a16="http://schemas.microsoft.com/office/drawing/2014/main" id="{4C6FDCBC-5CFA-40AF-BAEF-14A7FB7DE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81320" y="85432"/>
              <a:ext cx="365760" cy="365760"/>
            </a:xfrm>
            <a:prstGeom prst="rect">
              <a:avLst/>
            </a:prstGeom>
          </p:spPr>
        </p:pic>
        <p:pic>
          <p:nvPicPr>
            <p:cNvPr id="21" name="Graphic 20" descr="Heart">
              <a:extLst>
                <a:ext uri="{FF2B5EF4-FFF2-40B4-BE49-F238E27FC236}">
                  <a16:creationId xmlns:a16="http://schemas.microsoft.com/office/drawing/2014/main" id="{2F2D7DBB-158E-463E-ADC7-345B09D05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05479" y="85432"/>
              <a:ext cx="365760" cy="365760"/>
            </a:xfrm>
            <a:prstGeom prst="rect">
              <a:avLst/>
            </a:prstGeom>
          </p:spPr>
        </p:pic>
        <p:pic>
          <p:nvPicPr>
            <p:cNvPr id="22" name="Graphic 21" descr="Target Audience">
              <a:extLst>
                <a:ext uri="{FF2B5EF4-FFF2-40B4-BE49-F238E27FC236}">
                  <a16:creationId xmlns:a16="http://schemas.microsoft.com/office/drawing/2014/main" id="{7958F469-F2B6-4007-A8C8-F848315B3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727752" y="85432"/>
              <a:ext cx="365760" cy="365760"/>
            </a:xfrm>
            <a:prstGeom prst="rect">
              <a:avLst/>
            </a:prstGeom>
          </p:spPr>
        </p:pic>
        <p:pic>
          <p:nvPicPr>
            <p:cNvPr id="23" name="Graphic 22" descr="Truck">
              <a:extLst>
                <a:ext uri="{FF2B5EF4-FFF2-40B4-BE49-F238E27FC236}">
                  <a16:creationId xmlns:a16="http://schemas.microsoft.com/office/drawing/2014/main" id="{933EDFB3-6759-4082-A705-876EC3942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76418" y="2540573"/>
              <a:ext cx="365760" cy="365760"/>
            </a:xfrm>
            <a:prstGeom prst="rect">
              <a:avLst/>
            </a:prstGeom>
          </p:spPr>
        </p:pic>
        <p:pic>
          <p:nvPicPr>
            <p:cNvPr id="24" name="Graphic 23" descr="Woman with stroller">
              <a:extLst>
                <a:ext uri="{FF2B5EF4-FFF2-40B4-BE49-F238E27FC236}">
                  <a16:creationId xmlns:a16="http://schemas.microsoft.com/office/drawing/2014/main" id="{BE14C8A6-9699-48E5-B174-A4A161A0A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435927" y="2567873"/>
              <a:ext cx="365760" cy="365760"/>
            </a:xfrm>
            <a:prstGeom prst="rect">
              <a:avLst/>
            </a:prstGeom>
          </p:spPr>
        </p:pic>
        <p:pic>
          <p:nvPicPr>
            <p:cNvPr id="25" name="Graphic 24" descr="Register">
              <a:extLst>
                <a:ext uri="{FF2B5EF4-FFF2-40B4-BE49-F238E27FC236}">
                  <a16:creationId xmlns:a16="http://schemas.microsoft.com/office/drawing/2014/main" id="{73F6CA9F-D406-44B1-81BC-349DAE116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706631" y="5164427"/>
              <a:ext cx="365760" cy="365760"/>
            </a:xfrm>
            <a:prstGeom prst="rect">
              <a:avLst/>
            </a:prstGeom>
          </p:spPr>
        </p:pic>
        <p:pic>
          <p:nvPicPr>
            <p:cNvPr id="26" name="Graphic 25" descr="List RTL">
              <a:extLst>
                <a:ext uri="{FF2B5EF4-FFF2-40B4-BE49-F238E27FC236}">
                  <a16:creationId xmlns:a16="http://schemas.microsoft.com/office/drawing/2014/main" id="{A3126B2E-64E1-4B37-B929-86D512293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844309" y="5164427"/>
              <a:ext cx="365760" cy="365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2584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600F620A-C900-42A2-AC46-C2B21DF52D2D}"/>
              </a:ext>
            </a:extLst>
          </p:cNvPr>
          <p:cNvGrpSpPr/>
          <p:nvPr/>
        </p:nvGrpSpPr>
        <p:grpSpPr>
          <a:xfrm>
            <a:off x="571500" y="739587"/>
            <a:ext cx="11049000" cy="5930153"/>
            <a:chOff x="571500" y="739587"/>
            <a:chExt cx="11049000" cy="593015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8F2D5D7-C5B6-4C07-A277-0F21D879FD07}"/>
                </a:ext>
              </a:extLst>
            </p:cNvPr>
            <p:cNvGrpSpPr/>
            <p:nvPr/>
          </p:nvGrpSpPr>
          <p:grpSpPr>
            <a:xfrm>
              <a:off x="571500" y="739587"/>
              <a:ext cx="11049000" cy="5930153"/>
              <a:chOff x="0" y="0"/>
              <a:chExt cx="12192000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CC0432B-A22A-4F79-99A8-B20051D25D06}"/>
                  </a:ext>
                </a:extLst>
              </p:cNvPr>
              <p:cNvGrpSpPr/>
              <p:nvPr/>
            </p:nvGrpSpPr>
            <p:grpSpPr>
              <a:xfrm>
                <a:off x="0" y="0"/>
                <a:ext cx="12192000" cy="6858000"/>
                <a:chOff x="249713" y="1173709"/>
                <a:chExt cx="11491415" cy="5319167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F1DC67D-0D98-4B91-900A-9BEA41BED2E6}"/>
                    </a:ext>
                  </a:extLst>
                </p:cNvPr>
                <p:cNvSpPr/>
                <p:nvPr/>
              </p:nvSpPr>
              <p:spPr>
                <a:xfrm>
                  <a:off x="249713" y="1173709"/>
                  <a:ext cx="11491415" cy="5319167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6E998E7-CA66-44F9-98DD-FD1369EADC82}"/>
                    </a:ext>
                    <a:ext uri="{C183D7F6-B498-43B3-948B-1728B52AA6E4}">
                      <adec:decorative xmlns:adec="http://schemas.microsoft.com/office/drawing/2017/decorative" val="0"/>
                    </a:ext>
                  </a:extLst>
                </p:cNvPr>
                <p:cNvSpPr/>
                <p:nvPr/>
              </p:nvSpPr>
              <p:spPr>
                <a:xfrm>
                  <a:off x="318660" y="1244604"/>
                  <a:ext cx="2303489" cy="3841571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>
                      <a:ln w="0"/>
                      <a:solidFill>
                        <a:schemeClr val="tx1"/>
                      </a:solidFill>
                    </a:rPr>
                    <a:t>KP</a:t>
                  </a:r>
                  <a:br>
                    <a:rPr lang="en-US" b="1" dirty="0">
                      <a:ln w="0"/>
                      <a:solidFill>
                        <a:schemeClr val="tx1"/>
                      </a:solidFill>
                    </a:rPr>
                  </a:br>
                  <a:br>
                    <a:rPr lang="en-US" b="1" dirty="0">
                      <a:ln w="0"/>
                      <a:solidFill>
                        <a:schemeClr val="tx1"/>
                      </a:solidFill>
                    </a:rPr>
                  </a:br>
                  <a:br>
                    <a:rPr lang="en-US" b="1" dirty="0">
                      <a:ln w="0"/>
                      <a:solidFill>
                        <a:schemeClr val="tx1"/>
                      </a:solidFill>
                    </a:rPr>
                  </a:br>
                  <a:endParaRPr lang="en-US" b="1" dirty="0">
                    <a:ln w="0"/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2530005-83C1-48A4-8C39-01A1BD859A1F}"/>
                    </a:ext>
                  </a:extLst>
                </p:cNvPr>
                <p:cNvSpPr/>
                <p:nvPr/>
              </p:nvSpPr>
              <p:spPr>
                <a:xfrm>
                  <a:off x="9468990" y="1241946"/>
                  <a:ext cx="2196020" cy="3841571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CS</a:t>
                  </a:r>
                  <a:endParaRPr lang="en-US" dirty="0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1620974-0813-4803-955C-FBD73C530208}"/>
                    </a:ext>
                  </a:extLst>
                </p:cNvPr>
                <p:cNvSpPr/>
                <p:nvPr/>
              </p:nvSpPr>
              <p:spPr>
                <a:xfrm>
                  <a:off x="4876800" y="1241946"/>
                  <a:ext cx="2319130" cy="3846889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VP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80938CA-DFDD-424F-8007-44453B0136E3}"/>
                    </a:ext>
                  </a:extLst>
                </p:cNvPr>
                <p:cNvSpPr/>
                <p:nvPr/>
              </p:nvSpPr>
              <p:spPr>
                <a:xfrm>
                  <a:off x="2723011" y="1241946"/>
                  <a:ext cx="2071336" cy="18281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KA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71806D3-EDF4-4341-82CA-D2A1517D1C76}"/>
                    </a:ext>
                  </a:extLst>
                </p:cNvPr>
                <p:cNvSpPr/>
                <p:nvPr/>
              </p:nvSpPr>
              <p:spPr>
                <a:xfrm>
                  <a:off x="2723011" y="3152005"/>
                  <a:ext cx="2071336" cy="1925600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KR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478CA06-9F40-4AA7-8FCD-6C6A234D83C7}"/>
                    </a:ext>
                  </a:extLst>
                </p:cNvPr>
                <p:cNvSpPr/>
                <p:nvPr/>
              </p:nvSpPr>
              <p:spPr>
                <a:xfrm>
                  <a:off x="7296792" y="1241946"/>
                  <a:ext cx="2071336" cy="18281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CR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2937F00-006D-41BE-8CB1-0AE89AD07909}"/>
                    </a:ext>
                  </a:extLst>
                </p:cNvPr>
                <p:cNvSpPr/>
                <p:nvPr/>
              </p:nvSpPr>
              <p:spPr>
                <a:xfrm>
                  <a:off x="7296792" y="3157917"/>
                  <a:ext cx="2071336" cy="1925600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CH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6F6623D-6038-40DE-9982-5256A0732B53}"/>
                    </a:ext>
                  </a:extLst>
                </p:cNvPr>
                <p:cNvSpPr/>
                <p:nvPr/>
              </p:nvSpPr>
              <p:spPr>
                <a:xfrm>
                  <a:off x="310796" y="5160040"/>
                  <a:ext cx="5785204" cy="12665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C$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35271B59-E772-4762-A277-BBD25EC3779F}"/>
                    </a:ext>
                  </a:extLst>
                </p:cNvPr>
                <p:cNvSpPr/>
                <p:nvPr/>
              </p:nvSpPr>
              <p:spPr>
                <a:xfrm>
                  <a:off x="6161135" y="5158062"/>
                  <a:ext cx="5503875" cy="12665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R$</a:t>
                  </a:r>
                </a:p>
              </p:txBody>
            </p:sp>
          </p:grpSp>
          <p:pic>
            <p:nvPicPr>
              <p:cNvPr id="18" name="Graphic 17" descr="Wedding rings">
                <a:extLst>
                  <a:ext uri="{FF2B5EF4-FFF2-40B4-BE49-F238E27FC236}">
                    <a16:creationId xmlns:a16="http://schemas.microsoft.com/office/drawing/2014/main" id="{AE08409E-5950-4112-BCB6-E7150BEFF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128694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19" name="Graphic 18" descr="Box trolley">
                <a:extLst>
                  <a:ext uri="{FF2B5EF4-FFF2-40B4-BE49-F238E27FC236}">
                    <a16:creationId xmlns:a16="http://schemas.microsoft.com/office/drawing/2014/main" id="{A35B5986-91A2-4281-B6D4-16B7596D5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17843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0" name="Graphic 19" descr="Present">
                <a:extLst>
                  <a:ext uri="{FF2B5EF4-FFF2-40B4-BE49-F238E27FC236}">
                    <a16:creationId xmlns:a16="http://schemas.microsoft.com/office/drawing/2014/main" id="{4C6FDCBC-5CFA-40AF-BAEF-14A7FB7DE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981320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1" name="Graphic 20" descr="Heart">
                <a:extLst>
                  <a:ext uri="{FF2B5EF4-FFF2-40B4-BE49-F238E27FC236}">
                    <a16:creationId xmlns:a16="http://schemas.microsoft.com/office/drawing/2014/main" id="{2F2D7DBB-158E-463E-ADC7-345B09D05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305479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2" name="Graphic 21" descr="Target Audience">
                <a:extLst>
                  <a:ext uri="{FF2B5EF4-FFF2-40B4-BE49-F238E27FC236}">
                    <a16:creationId xmlns:a16="http://schemas.microsoft.com/office/drawing/2014/main" id="{7958F469-F2B6-4007-A8C8-F848315B3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727752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3" name="Graphic 22" descr="Truck">
                <a:extLst>
                  <a:ext uri="{FF2B5EF4-FFF2-40B4-BE49-F238E27FC236}">
                    <a16:creationId xmlns:a16="http://schemas.microsoft.com/office/drawing/2014/main" id="{933EDFB3-6759-4082-A705-876EC39420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9276418" y="2540573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4" name="Graphic 23" descr="Woman with stroller">
                <a:extLst>
                  <a:ext uri="{FF2B5EF4-FFF2-40B4-BE49-F238E27FC236}">
                    <a16:creationId xmlns:a16="http://schemas.microsoft.com/office/drawing/2014/main" id="{BE14C8A6-9699-48E5-B174-A4A161A0A3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435927" y="2567873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5" name="Graphic 24" descr="Register">
                <a:extLst>
                  <a:ext uri="{FF2B5EF4-FFF2-40B4-BE49-F238E27FC236}">
                    <a16:creationId xmlns:a16="http://schemas.microsoft.com/office/drawing/2014/main" id="{73F6CA9F-D406-44B1-81BC-349DAE116E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1706631" y="5164427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6" name="Graphic 25" descr="List RTL">
                <a:extLst>
                  <a:ext uri="{FF2B5EF4-FFF2-40B4-BE49-F238E27FC236}">
                    <a16:creationId xmlns:a16="http://schemas.microsoft.com/office/drawing/2014/main" id="{A3126B2E-64E1-4B37-B929-86D512293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5841567" y="5164426"/>
                <a:ext cx="365760" cy="365760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926E30C-83B4-4B20-97AB-7286F69A9B63}"/>
                </a:ext>
              </a:extLst>
            </p:cNvPr>
            <p:cNvSpPr txBox="1"/>
            <p:nvPr/>
          </p:nvSpPr>
          <p:spPr>
            <a:xfrm>
              <a:off x="962771" y="2122155"/>
              <a:ext cx="15648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Google AdSense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EACC27-0361-4C7C-8BD0-E5C0A0071C83}"/>
                </a:ext>
              </a:extLst>
            </p:cNvPr>
            <p:cNvSpPr txBox="1"/>
            <p:nvPr/>
          </p:nvSpPr>
          <p:spPr>
            <a:xfrm>
              <a:off x="2978714" y="1632343"/>
              <a:ext cx="196245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/>
                <a:t>Platform Development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/>
                <a:t>Optimizing Ads </a:t>
              </a:r>
            </a:p>
            <a:p>
              <a:r>
                <a:rPr lang="en-US" sz="1400" b="1" dirty="0"/>
                <a:t>       and Content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EA45FBE-4F2A-4C16-8610-EA18779683F2}"/>
                </a:ext>
              </a:extLst>
            </p:cNvPr>
            <p:cNvSpPr txBox="1"/>
            <p:nvPr/>
          </p:nvSpPr>
          <p:spPr>
            <a:xfrm>
              <a:off x="2985124" y="3595149"/>
              <a:ext cx="184813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Algorithms </a:t>
              </a:r>
            </a:p>
            <a:p>
              <a:pPr algn="ctr"/>
              <a:endParaRPr lang="en-US" sz="1600" b="1" dirty="0"/>
            </a:p>
            <a:p>
              <a:pPr algn="ctr"/>
              <a:r>
                <a:rPr lang="en-US" sz="1600" b="1" dirty="0"/>
                <a:t>Data Platforms </a:t>
              </a:r>
              <a:br>
                <a:rPr lang="en-US" sz="1600" b="1" dirty="0"/>
              </a:br>
              <a:r>
                <a:rPr lang="en-US" sz="1600" b="1" dirty="0"/>
                <a:t>1.5 billion active users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85BB07-0E9A-4E2D-9E64-8472B706AC11}"/>
                </a:ext>
              </a:extLst>
            </p:cNvPr>
            <p:cNvSpPr txBox="1"/>
            <p:nvPr/>
          </p:nvSpPr>
          <p:spPr>
            <a:xfrm>
              <a:off x="1989204" y="5396510"/>
              <a:ext cx="2751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Maintenance  &amp; Development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61CF03-8C48-4574-8DB5-AB7229477AAF}"/>
                </a:ext>
              </a:extLst>
            </p:cNvPr>
            <p:cNvSpPr txBox="1"/>
            <p:nvPr/>
          </p:nvSpPr>
          <p:spPr>
            <a:xfrm>
              <a:off x="6423957" y="5214240"/>
              <a:ext cx="477581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FREEMIUM</a:t>
              </a:r>
              <a:br>
                <a:rPr lang="en-US" sz="1600" b="1" dirty="0"/>
              </a:br>
              <a:br>
                <a:rPr lang="en-US" sz="1600" b="1" dirty="0"/>
              </a:br>
              <a:r>
                <a:rPr lang="en-US" sz="1600" b="1" dirty="0">
                  <a:highlight>
                    <a:srgbClr val="CCFF33"/>
                  </a:highlight>
                </a:rPr>
                <a:t>PREMIUM</a:t>
              </a:r>
              <a:br>
                <a:rPr lang="en-US" sz="1600" b="1" dirty="0"/>
              </a:br>
              <a:br>
                <a:rPr lang="en-US" sz="1600" b="1" dirty="0"/>
              </a:br>
              <a:r>
                <a:rPr lang="en-US" sz="1600" b="1" dirty="0"/>
                <a:t>PAID ADS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81117C-77B3-48E3-8B60-EAE08726BC3A}"/>
                </a:ext>
              </a:extLst>
            </p:cNvPr>
            <p:cNvSpPr txBox="1"/>
            <p:nvPr/>
          </p:nvSpPr>
          <p:spPr>
            <a:xfrm>
              <a:off x="5316671" y="1945888"/>
              <a:ext cx="175208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Search &amp; Watch 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Videos Free</a:t>
              </a:r>
              <a:br>
                <a:rPr lang="en-US" sz="1600" b="1" dirty="0"/>
              </a:br>
              <a:endParaRPr lang="en-US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Upload Content to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 make money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EC93B8-6A7C-4FF8-9041-19CD5CEC3279}"/>
                </a:ext>
              </a:extLst>
            </p:cNvPr>
            <p:cNvSpPr txBox="1"/>
            <p:nvPr/>
          </p:nvSpPr>
          <p:spPr>
            <a:xfrm>
              <a:off x="7589399" y="1543533"/>
              <a:ext cx="150733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Feed, Reviews,</a:t>
              </a:r>
            </a:p>
            <a:p>
              <a:pPr algn="ctr"/>
              <a:r>
                <a:rPr lang="en-US" sz="1600" b="1" dirty="0"/>
                <a:t> Comments</a:t>
              </a:r>
            </a:p>
            <a:p>
              <a:pPr algn="ctr"/>
              <a:endParaRPr lang="en-US" sz="1600" b="1" dirty="0"/>
            </a:p>
            <a:p>
              <a:pPr algn="ctr"/>
              <a:r>
                <a:rPr lang="en-US" sz="1600" b="1" dirty="0"/>
                <a:t>YouTube Studio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CE93752-491C-4A4D-9C38-4FCB9BAD2D68}"/>
                </a:ext>
              </a:extLst>
            </p:cNvPr>
            <p:cNvSpPr txBox="1"/>
            <p:nvPr/>
          </p:nvSpPr>
          <p:spPr>
            <a:xfrm>
              <a:off x="7466361" y="3263927"/>
              <a:ext cx="179177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Youtube.com</a:t>
              </a:r>
            </a:p>
            <a:p>
              <a:pPr algn="ctr"/>
              <a:br>
                <a:rPr lang="en-US" sz="1600" b="1" dirty="0"/>
              </a:br>
              <a:r>
                <a:rPr lang="en-US" sz="1600" b="1" dirty="0"/>
                <a:t>YouTube Web, APP</a:t>
              </a:r>
              <a:br>
                <a:rPr lang="en-US" sz="1600" b="1" dirty="0"/>
              </a:br>
              <a:r>
                <a:rPr lang="en-US" sz="1600" b="1" dirty="0"/>
                <a:t>Smart Tv</a:t>
              </a:r>
              <a:br>
                <a:rPr lang="en-US" sz="1600" b="1" dirty="0"/>
              </a:br>
              <a:endParaRPr lang="en-US" sz="16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34B5432-4763-49A3-9DD0-CF3F06C62C3A}"/>
                </a:ext>
              </a:extLst>
            </p:cNvPr>
            <p:cNvSpPr txBox="1"/>
            <p:nvPr/>
          </p:nvSpPr>
          <p:spPr>
            <a:xfrm>
              <a:off x="9916547" y="2427446"/>
              <a:ext cx="115005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Viewers</a:t>
              </a:r>
            </a:p>
            <a:p>
              <a:pPr algn="ctr"/>
              <a:br>
                <a:rPr lang="en-US" sz="1600" b="1" dirty="0"/>
              </a:br>
              <a:r>
                <a:rPr lang="en-US" sz="1600" b="1" dirty="0">
                  <a:highlight>
                    <a:srgbClr val="CCFF33"/>
                  </a:highlight>
                </a:rPr>
                <a:t>Creators</a:t>
              </a:r>
            </a:p>
            <a:p>
              <a:pPr algn="ctr"/>
              <a:endParaRPr lang="en-US" sz="1600" b="1" dirty="0">
                <a:highlight>
                  <a:srgbClr val="CCFF33"/>
                </a:highlight>
              </a:endParaRPr>
            </a:p>
            <a:p>
              <a:pPr algn="ctr"/>
              <a:r>
                <a:rPr lang="en-US" sz="1600" b="1" dirty="0">
                  <a:highlight>
                    <a:srgbClr val="CCFF33"/>
                  </a:highlight>
                </a:rPr>
                <a:t>Advertisers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3055C7-A56D-DC65-DE41-3349587AD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40119"/>
            <a:ext cx="973275" cy="41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0236D-4FA8-7B70-51F4-90707E011EE9}"/>
              </a:ext>
            </a:extLst>
          </p:cNvPr>
          <p:cNvSpPr txBox="1"/>
          <p:nvPr/>
        </p:nvSpPr>
        <p:spPr>
          <a:xfrm>
            <a:off x="2043473" y="5735064"/>
            <a:ext cx="2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Team Cost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C08F8-7446-97F3-E466-39FFEA880C9C}"/>
              </a:ext>
            </a:extLst>
          </p:cNvPr>
          <p:cNvSpPr txBox="1"/>
          <p:nvPr/>
        </p:nvSpPr>
        <p:spPr>
          <a:xfrm>
            <a:off x="2037567" y="6039375"/>
            <a:ext cx="2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Data Centers</a:t>
            </a:r>
          </a:p>
        </p:txBody>
      </p:sp>
    </p:spTree>
    <p:extLst>
      <p:ext uri="{BB962C8B-B14F-4D97-AF65-F5344CB8AC3E}">
        <p14:creationId xmlns:p14="http://schemas.microsoft.com/office/powerpoint/2010/main" val="2785559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y should Data Analyst use Github? | by Kevin Adinata | tiket.com | Medium">
            <a:extLst>
              <a:ext uri="{FF2B5EF4-FFF2-40B4-BE49-F238E27FC236}">
                <a16:creationId xmlns:a16="http://schemas.microsoft.com/office/drawing/2014/main" id="{99EE6FCE-C74E-6D4F-85F3-1CF6D1163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035" y="1106652"/>
            <a:ext cx="8411929" cy="464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168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ndered Image">
            <a:extLst>
              <a:ext uri="{FF2B5EF4-FFF2-40B4-BE49-F238E27FC236}">
                <a16:creationId xmlns:a16="http://schemas.microsoft.com/office/drawing/2014/main" id="{32D22EA3-33B1-3489-0810-973721CB64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3" t="8283" r="30565"/>
          <a:stretch/>
        </p:blipFill>
        <p:spPr bwMode="auto">
          <a:xfrm>
            <a:off x="333851" y="911410"/>
            <a:ext cx="4193903" cy="502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6B9A8C-D4D9-8DA5-879B-EC1624D60582}"/>
              </a:ext>
            </a:extLst>
          </p:cNvPr>
          <p:cNvSpPr txBox="1"/>
          <p:nvPr/>
        </p:nvSpPr>
        <p:spPr>
          <a:xfrm>
            <a:off x="7600946" y="1828232"/>
            <a:ext cx="4527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Teach and learn better, together. </a:t>
            </a:r>
          </a:p>
          <a:p>
            <a:r>
              <a:rPr lang="en-US" b="1" dirty="0"/>
              <a:t>GitHub is free for students and teachers. </a:t>
            </a:r>
          </a:p>
          <a:p>
            <a:r>
              <a:rPr lang="en-US" b="1" dirty="0"/>
              <a:t>Discounts available for other educational uses.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04356-37C4-CF44-4EC5-9BF51EEB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946" y="1055777"/>
            <a:ext cx="3643745" cy="85941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272727"/>
                </a:solidFill>
              </a:rPr>
              <a:t>GitHub Education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A10B96-1162-3B64-5B34-BC847B001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8C668-34AC-7A1D-A7DC-5D669E75E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183" y="3838524"/>
            <a:ext cx="4527752" cy="19202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555273-98CA-93CB-D4E4-53EBE1BD2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182"/>
            <a:ext cx="12192000" cy="902228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4C90626-9240-1A8C-33E0-A1652B1D8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964" y="1068319"/>
            <a:ext cx="2103779" cy="135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9B673A9-7311-0A84-A54E-2FD09BBB1782}"/>
              </a:ext>
            </a:extLst>
          </p:cNvPr>
          <p:cNvSpPr txBox="1">
            <a:spLocks/>
          </p:cNvSpPr>
          <p:nvPr/>
        </p:nvSpPr>
        <p:spPr>
          <a:xfrm>
            <a:off x="3532160" y="2593851"/>
            <a:ext cx="3098136" cy="579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272727"/>
                </a:solidFill>
              </a:rPr>
              <a:t>GitHub Campus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563853-ED65-6E5B-680C-C110526C6C74}"/>
              </a:ext>
            </a:extLst>
          </p:cNvPr>
          <p:cNvSpPr txBox="1"/>
          <p:nvPr/>
        </p:nvSpPr>
        <p:spPr>
          <a:xfrm>
            <a:off x="3664914" y="3264349"/>
            <a:ext cx="3643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65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https://education.github.com/pack</a:t>
            </a:r>
            <a:endParaRPr lang="en-US" b="1" dirty="0">
              <a:solidFill>
                <a:srgbClr val="2EA6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006A9F-E771-479B-196E-8FFEF5B3DA33}"/>
              </a:ext>
            </a:extLst>
          </p:cNvPr>
          <p:cNvSpPr txBox="1"/>
          <p:nvPr/>
        </p:nvSpPr>
        <p:spPr>
          <a:xfrm>
            <a:off x="3672267" y="3945412"/>
            <a:ext cx="3301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Student Developer Program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6ECEDA2-BC54-DAFD-F3B0-864E13CF0C3C}"/>
              </a:ext>
            </a:extLst>
          </p:cNvPr>
          <p:cNvGrpSpPr/>
          <p:nvPr/>
        </p:nvGrpSpPr>
        <p:grpSpPr>
          <a:xfrm>
            <a:off x="3024312" y="4369940"/>
            <a:ext cx="4035821" cy="1426071"/>
            <a:chOff x="3024312" y="4369940"/>
            <a:chExt cx="4035821" cy="142607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CF534DD-47B9-D20D-E53E-09E96C399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62821" y="4369940"/>
              <a:ext cx="2010056" cy="85737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A871B5E-1431-23F6-F622-8DB20C5B6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30972" y="4640982"/>
              <a:ext cx="2229161" cy="57158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77E2418-CAA8-1448-F00C-76BEFAECB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24312" y="5281589"/>
              <a:ext cx="2152950" cy="51442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6BD140C-6E16-9FE4-C2D3-6A4C3E0F9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204909" y="5238783"/>
              <a:ext cx="1826182" cy="523232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50947880-BF10-4197-81AB-872BBCA792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9183" y="3220383"/>
            <a:ext cx="2886478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17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3B05-373A-12A5-870A-9A791D9D4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066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272727"/>
                </a:solidFill>
              </a:rPr>
              <a:t>GitHub Education</a:t>
            </a:r>
            <a:endParaRPr lang="en-US" dirty="0"/>
          </a:p>
        </p:txBody>
      </p:sp>
      <p:pic>
        <p:nvPicPr>
          <p:cNvPr id="4" name="Picture 4" descr="Features • GitHub Actions · GitHub">
            <a:extLst>
              <a:ext uri="{FF2B5EF4-FFF2-40B4-BE49-F238E27FC236}">
                <a16:creationId xmlns:a16="http://schemas.microsoft.com/office/drawing/2014/main" id="{80CF899A-354F-4AC9-B621-18692A438B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18" y="938248"/>
            <a:ext cx="10540182" cy="544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5F32AB-F78F-C735-240A-76B3092B0CC1}"/>
              </a:ext>
            </a:extLst>
          </p:cNvPr>
          <p:cNvSpPr txBox="1"/>
          <p:nvPr/>
        </p:nvSpPr>
        <p:spPr>
          <a:xfrm>
            <a:off x="1224117" y="4380271"/>
            <a:ext cx="67846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effectLst/>
                <a:latin typeface="-apple-system"/>
              </a:rPr>
              <a:t>Automate, customize, and execute your software development </a:t>
            </a:r>
          </a:p>
          <a:p>
            <a:r>
              <a:rPr lang="en-US" sz="2000" i="0" dirty="0">
                <a:solidFill>
                  <a:schemeClr val="bg1"/>
                </a:solidFill>
                <a:effectLst/>
                <a:latin typeface="-apple-system"/>
              </a:rPr>
              <a:t>workflows right in your repository with GitHub Actions.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328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600F620A-C900-42A2-AC46-C2B21DF52D2D}"/>
              </a:ext>
            </a:extLst>
          </p:cNvPr>
          <p:cNvGrpSpPr/>
          <p:nvPr/>
        </p:nvGrpSpPr>
        <p:grpSpPr>
          <a:xfrm>
            <a:off x="571500" y="739587"/>
            <a:ext cx="11049000" cy="6044313"/>
            <a:chOff x="571500" y="739587"/>
            <a:chExt cx="11049000" cy="604431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8F2D5D7-C5B6-4C07-A277-0F21D879FD07}"/>
                </a:ext>
              </a:extLst>
            </p:cNvPr>
            <p:cNvGrpSpPr/>
            <p:nvPr/>
          </p:nvGrpSpPr>
          <p:grpSpPr>
            <a:xfrm>
              <a:off x="571500" y="739587"/>
              <a:ext cx="11049000" cy="5930153"/>
              <a:chOff x="0" y="0"/>
              <a:chExt cx="12192000" cy="68580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CC0432B-A22A-4F79-99A8-B20051D25D06}"/>
                  </a:ext>
                </a:extLst>
              </p:cNvPr>
              <p:cNvGrpSpPr/>
              <p:nvPr/>
            </p:nvGrpSpPr>
            <p:grpSpPr>
              <a:xfrm>
                <a:off x="0" y="0"/>
                <a:ext cx="12192000" cy="6858000"/>
                <a:chOff x="249713" y="1173709"/>
                <a:chExt cx="11491415" cy="5319167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F1DC67D-0D98-4B91-900A-9BEA41BED2E6}"/>
                    </a:ext>
                  </a:extLst>
                </p:cNvPr>
                <p:cNvSpPr/>
                <p:nvPr/>
              </p:nvSpPr>
              <p:spPr>
                <a:xfrm>
                  <a:off x="249713" y="1173709"/>
                  <a:ext cx="11491415" cy="5319167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6E998E7-CA66-44F9-98DD-FD1369EADC82}"/>
                    </a:ext>
                    <a:ext uri="{C183D7F6-B498-43B3-948B-1728B52AA6E4}">
                      <adec:decorative xmlns:adec="http://schemas.microsoft.com/office/drawing/2017/decorative" val="0"/>
                    </a:ext>
                  </a:extLst>
                </p:cNvPr>
                <p:cNvSpPr/>
                <p:nvPr/>
              </p:nvSpPr>
              <p:spPr>
                <a:xfrm>
                  <a:off x="318660" y="1244604"/>
                  <a:ext cx="2303489" cy="3841571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>
                      <a:ln w="0"/>
                      <a:solidFill>
                        <a:schemeClr val="tx1"/>
                      </a:solidFill>
                    </a:rPr>
                    <a:t>KP</a:t>
                  </a:r>
                  <a:br>
                    <a:rPr lang="en-US" b="1" dirty="0">
                      <a:ln w="0"/>
                      <a:solidFill>
                        <a:schemeClr val="tx1"/>
                      </a:solidFill>
                    </a:rPr>
                  </a:br>
                  <a:br>
                    <a:rPr lang="en-US" b="1" dirty="0">
                      <a:ln w="0"/>
                      <a:solidFill>
                        <a:schemeClr val="tx1"/>
                      </a:solidFill>
                    </a:rPr>
                  </a:br>
                  <a:br>
                    <a:rPr lang="en-US" b="1" dirty="0">
                      <a:ln w="0"/>
                      <a:solidFill>
                        <a:schemeClr val="tx1"/>
                      </a:solidFill>
                    </a:rPr>
                  </a:br>
                  <a:endParaRPr lang="en-US" b="1" dirty="0">
                    <a:ln w="0"/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2530005-83C1-48A4-8C39-01A1BD859A1F}"/>
                    </a:ext>
                  </a:extLst>
                </p:cNvPr>
                <p:cNvSpPr/>
                <p:nvPr/>
              </p:nvSpPr>
              <p:spPr>
                <a:xfrm>
                  <a:off x="9468990" y="1241946"/>
                  <a:ext cx="2196020" cy="3841571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CS</a:t>
                  </a:r>
                  <a:endParaRPr lang="en-US" dirty="0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1620974-0813-4803-955C-FBD73C530208}"/>
                    </a:ext>
                  </a:extLst>
                </p:cNvPr>
                <p:cNvSpPr/>
                <p:nvPr/>
              </p:nvSpPr>
              <p:spPr>
                <a:xfrm>
                  <a:off x="4876800" y="1241946"/>
                  <a:ext cx="2319130" cy="3846889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VP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80938CA-DFDD-424F-8007-44453B0136E3}"/>
                    </a:ext>
                  </a:extLst>
                </p:cNvPr>
                <p:cNvSpPr/>
                <p:nvPr/>
              </p:nvSpPr>
              <p:spPr>
                <a:xfrm>
                  <a:off x="2723011" y="1241946"/>
                  <a:ext cx="2071336" cy="18281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KA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71806D3-EDF4-4341-82CA-D2A1517D1C76}"/>
                    </a:ext>
                  </a:extLst>
                </p:cNvPr>
                <p:cNvSpPr/>
                <p:nvPr/>
              </p:nvSpPr>
              <p:spPr>
                <a:xfrm>
                  <a:off x="2723011" y="3152005"/>
                  <a:ext cx="2071336" cy="1925600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KR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478CA06-9F40-4AA7-8FCD-6C6A234D83C7}"/>
                    </a:ext>
                  </a:extLst>
                </p:cNvPr>
                <p:cNvSpPr/>
                <p:nvPr/>
              </p:nvSpPr>
              <p:spPr>
                <a:xfrm>
                  <a:off x="7296792" y="1241946"/>
                  <a:ext cx="2071336" cy="18281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CR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2937F00-006D-41BE-8CB1-0AE89AD07909}"/>
                    </a:ext>
                  </a:extLst>
                </p:cNvPr>
                <p:cNvSpPr/>
                <p:nvPr/>
              </p:nvSpPr>
              <p:spPr>
                <a:xfrm>
                  <a:off x="7296792" y="3157917"/>
                  <a:ext cx="2071336" cy="1925600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CH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6F6623D-6038-40DE-9982-5256A0732B53}"/>
                    </a:ext>
                  </a:extLst>
                </p:cNvPr>
                <p:cNvSpPr/>
                <p:nvPr/>
              </p:nvSpPr>
              <p:spPr>
                <a:xfrm>
                  <a:off x="310796" y="5160040"/>
                  <a:ext cx="5785204" cy="12665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C$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35271B59-E772-4762-A277-BBD25EC3779F}"/>
                    </a:ext>
                  </a:extLst>
                </p:cNvPr>
                <p:cNvSpPr/>
                <p:nvPr/>
              </p:nvSpPr>
              <p:spPr>
                <a:xfrm>
                  <a:off x="6161135" y="5158062"/>
                  <a:ext cx="5503875" cy="1266574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b="1" dirty="0"/>
                    <a:t>R$</a:t>
                  </a:r>
                </a:p>
              </p:txBody>
            </p:sp>
          </p:grpSp>
          <p:pic>
            <p:nvPicPr>
              <p:cNvPr id="18" name="Graphic 17" descr="Wedding rings">
                <a:extLst>
                  <a:ext uri="{FF2B5EF4-FFF2-40B4-BE49-F238E27FC236}">
                    <a16:creationId xmlns:a16="http://schemas.microsoft.com/office/drawing/2014/main" id="{AE08409E-5950-4112-BCB6-E7150BEFF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128694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19" name="Graphic 18" descr="Box trolley">
                <a:extLst>
                  <a:ext uri="{FF2B5EF4-FFF2-40B4-BE49-F238E27FC236}">
                    <a16:creationId xmlns:a16="http://schemas.microsoft.com/office/drawing/2014/main" id="{A35B5986-91A2-4281-B6D4-16B7596D5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17843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0" name="Graphic 19" descr="Present">
                <a:extLst>
                  <a:ext uri="{FF2B5EF4-FFF2-40B4-BE49-F238E27FC236}">
                    <a16:creationId xmlns:a16="http://schemas.microsoft.com/office/drawing/2014/main" id="{4C6FDCBC-5CFA-40AF-BAEF-14A7FB7DE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981320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1" name="Graphic 20" descr="Heart">
                <a:extLst>
                  <a:ext uri="{FF2B5EF4-FFF2-40B4-BE49-F238E27FC236}">
                    <a16:creationId xmlns:a16="http://schemas.microsoft.com/office/drawing/2014/main" id="{2F2D7DBB-158E-463E-ADC7-345B09D05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305479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2" name="Graphic 21" descr="Target Audience">
                <a:extLst>
                  <a:ext uri="{FF2B5EF4-FFF2-40B4-BE49-F238E27FC236}">
                    <a16:creationId xmlns:a16="http://schemas.microsoft.com/office/drawing/2014/main" id="{7958F469-F2B6-4007-A8C8-F848315B3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727752" y="85432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3" name="Graphic 22" descr="Truck">
                <a:extLst>
                  <a:ext uri="{FF2B5EF4-FFF2-40B4-BE49-F238E27FC236}">
                    <a16:creationId xmlns:a16="http://schemas.microsoft.com/office/drawing/2014/main" id="{933EDFB3-6759-4082-A705-876EC39420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9276418" y="2540573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4" name="Graphic 23" descr="Woman with stroller">
                <a:extLst>
                  <a:ext uri="{FF2B5EF4-FFF2-40B4-BE49-F238E27FC236}">
                    <a16:creationId xmlns:a16="http://schemas.microsoft.com/office/drawing/2014/main" id="{BE14C8A6-9699-48E5-B174-A4A161A0A3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435927" y="2567873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5" name="Graphic 24" descr="Register">
                <a:extLst>
                  <a:ext uri="{FF2B5EF4-FFF2-40B4-BE49-F238E27FC236}">
                    <a16:creationId xmlns:a16="http://schemas.microsoft.com/office/drawing/2014/main" id="{73F6CA9F-D406-44B1-81BC-349DAE116E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1706631" y="5164427"/>
                <a:ext cx="365760" cy="365760"/>
              </a:xfrm>
              <a:prstGeom prst="rect">
                <a:avLst/>
              </a:prstGeom>
            </p:spPr>
          </p:pic>
          <p:pic>
            <p:nvPicPr>
              <p:cNvPr id="26" name="Graphic 25" descr="List RTL">
                <a:extLst>
                  <a:ext uri="{FF2B5EF4-FFF2-40B4-BE49-F238E27FC236}">
                    <a16:creationId xmlns:a16="http://schemas.microsoft.com/office/drawing/2014/main" id="{A3126B2E-64E1-4B37-B929-86D512293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5841567" y="5164426"/>
                <a:ext cx="365760" cy="365760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926E30C-83B4-4B20-97AB-7286F69A9B63}"/>
                </a:ext>
              </a:extLst>
            </p:cNvPr>
            <p:cNvSpPr txBox="1"/>
            <p:nvPr/>
          </p:nvSpPr>
          <p:spPr>
            <a:xfrm>
              <a:off x="850498" y="1680992"/>
              <a:ext cx="165013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Opensource &amp; IT </a:t>
              </a:r>
            </a:p>
            <a:p>
              <a:pPr algn="ctr"/>
              <a:r>
                <a:rPr lang="en-US" sz="1600" b="1" dirty="0"/>
                <a:t>Community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EACC27-0361-4C7C-8BD0-E5C0A0071C83}"/>
                </a:ext>
              </a:extLst>
            </p:cNvPr>
            <p:cNvSpPr txBox="1"/>
            <p:nvPr/>
          </p:nvSpPr>
          <p:spPr>
            <a:xfrm>
              <a:off x="3004364" y="1434047"/>
              <a:ext cx="1962454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/>
                <a:t>Development &amp; Maintenance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/>
                <a:t>Security &amp; Update of Platform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EA45FBE-4F2A-4C16-8610-EA18779683F2}"/>
                </a:ext>
              </a:extLst>
            </p:cNvPr>
            <p:cNvSpPr txBox="1"/>
            <p:nvPr/>
          </p:nvSpPr>
          <p:spPr>
            <a:xfrm>
              <a:off x="2985124" y="3595149"/>
              <a:ext cx="184813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GitHub Platform</a:t>
              </a:r>
            </a:p>
            <a:p>
              <a:pPr algn="ctr"/>
              <a:endParaRPr lang="en-US" sz="1600" b="1" dirty="0"/>
            </a:p>
            <a:p>
              <a:pPr algn="ctr"/>
              <a:r>
                <a:rPr lang="en-US" sz="1600" b="1" dirty="0"/>
                <a:t>33 Million users &amp; its repositories</a:t>
              </a:r>
              <a:br>
                <a:rPr lang="en-US" sz="1600" b="1" dirty="0"/>
              </a:br>
              <a:endParaRPr lang="en-US" sz="1600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85BB07-0E9A-4E2D-9E64-8472B706AC11}"/>
                </a:ext>
              </a:extLst>
            </p:cNvPr>
            <p:cNvSpPr txBox="1"/>
            <p:nvPr/>
          </p:nvSpPr>
          <p:spPr>
            <a:xfrm>
              <a:off x="1989204" y="5396510"/>
              <a:ext cx="2751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Personal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61CF03-8C48-4574-8DB5-AB7229477AAF}"/>
                </a:ext>
              </a:extLst>
            </p:cNvPr>
            <p:cNvSpPr txBox="1"/>
            <p:nvPr/>
          </p:nvSpPr>
          <p:spPr>
            <a:xfrm>
              <a:off x="6423957" y="5214240"/>
              <a:ext cx="477581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600" b="1" dirty="0">
                <a:solidFill>
                  <a:schemeClr val="bg1"/>
                </a:solidFill>
                <a:highlight>
                  <a:srgbClr val="272727"/>
                </a:highlight>
              </a:endParaRP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  <a:t>FREEMIUM</a:t>
              </a:r>
              <a:b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</a:br>
              <a:b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</a:br>
              <a: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  <a:t>PREMIUM</a:t>
              </a:r>
              <a:br>
                <a:rPr lang="en-US" sz="1600" b="1" dirty="0"/>
              </a:br>
              <a:br>
                <a:rPr lang="en-US" sz="1600" b="1" dirty="0"/>
              </a:br>
              <a:endParaRPr lang="en-US" sz="16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81117C-77B3-48E3-8B60-EAE08726BC3A}"/>
                </a:ext>
              </a:extLst>
            </p:cNvPr>
            <p:cNvSpPr txBox="1"/>
            <p:nvPr/>
          </p:nvSpPr>
          <p:spPr>
            <a:xfrm>
              <a:off x="5176069" y="2217554"/>
              <a:ext cx="207422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  <a:t>Store, track &amp; Control 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  <a:t>Versions of code 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  <a:t>Development Projects</a:t>
              </a:r>
              <a:br>
                <a:rPr lang="en-US" sz="1600" b="1" dirty="0"/>
              </a:br>
              <a:endParaRPr 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EC93B8-6A7C-4FF8-9041-19CD5CEC3279}"/>
                </a:ext>
              </a:extLst>
            </p:cNvPr>
            <p:cNvSpPr txBox="1"/>
            <p:nvPr/>
          </p:nvSpPr>
          <p:spPr>
            <a:xfrm>
              <a:off x="7452440" y="1543533"/>
              <a:ext cx="178125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Self-service</a:t>
              </a:r>
            </a:p>
            <a:p>
              <a:pPr algn="ctr"/>
              <a:endParaRPr lang="en-US" sz="1600" b="1" dirty="0"/>
            </a:p>
            <a:p>
              <a:pPr algn="ctr"/>
              <a:r>
                <a:rPr lang="en-US" sz="1600" b="1" dirty="0"/>
                <a:t>Consumer Support</a:t>
              </a:r>
              <a:br>
                <a:rPr lang="en-US" sz="1600" b="1" dirty="0"/>
              </a:br>
              <a:r>
                <a:rPr lang="en-US" sz="1600" b="1" dirty="0"/>
                <a:t>(GitHub One)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CE93752-491C-4A4D-9C38-4FCB9BAD2D68}"/>
                </a:ext>
              </a:extLst>
            </p:cNvPr>
            <p:cNvSpPr txBox="1"/>
            <p:nvPr/>
          </p:nvSpPr>
          <p:spPr>
            <a:xfrm>
              <a:off x="7786320" y="3263927"/>
              <a:ext cx="115185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github.com</a:t>
              </a:r>
            </a:p>
            <a:p>
              <a:pPr algn="ctr"/>
              <a:br>
                <a:rPr lang="en-US" sz="1600" b="1" dirty="0"/>
              </a:br>
              <a:r>
                <a:rPr lang="en-US" sz="1600" b="1" dirty="0"/>
                <a:t>Sales Team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34B5432-4763-49A3-9DD0-CF3F06C62C3A}"/>
                </a:ext>
              </a:extLst>
            </p:cNvPr>
            <p:cNvSpPr txBox="1"/>
            <p:nvPr/>
          </p:nvSpPr>
          <p:spPr>
            <a:xfrm>
              <a:off x="9435840" y="1991971"/>
              <a:ext cx="2047355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  <a:t>Individuals Free Users</a:t>
              </a:r>
            </a:p>
            <a:p>
              <a:pPr algn="ctr"/>
              <a:br>
                <a:rPr lang="en-US" sz="1600" b="1" dirty="0">
                  <a:highlight>
                    <a:srgbClr val="272727"/>
                  </a:highlight>
                </a:rPr>
              </a:br>
              <a: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  <a:t>Organizations Paid 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  <a:highlight>
                    <a:srgbClr val="272727"/>
                  </a:highlight>
                </a:rPr>
                <a:t>Licenses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E0236D-4FA8-7B70-51F4-90707E011EE9}"/>
              </a:ext>
            </a:extLst>
          </p:cNvPr>
          <p:cNvSpPr txBox="1"/>
          <p:nvPr/>
        </p:nvSpPr>
        <p:spPr>
          <a:xfrm>
            <a:off x="2043473" y="5743305"/>
            <a:ext cx="275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Cloud Infrastructures</a:t>
            </a:r>
          </a:p>
        </p:txBody>
      </p:sp>
      <p:pic>
        <p:nvPicPr>
          <p:cNvPr id="4" name="Picture 2" descr="Why should Data Analyst use Github? | by Kevin Adinata | tiket.com | Medium">
            <a:extLst>
              <a:ext uri="{FF2B5EF4-FFF2-40B4-BE49-F238E27FC236}">
                <a16:creationId xmlns:a16="http://schemas.microsoft.com/office/drawing/2014/main" id="{AE927DF5-5F44-57DC-AE5F-20983E3B5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93" y="156306"/>
            <a:ext cx="907228" cy="50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E091143-9886-E478-460A-8ACD2B9F2B6F}"/>
              </a:ext>
            </a:extLst>
          </p:cNvPr>
          <p:cNvSpPr txBox="1"/>
          <p:nvPr/>
        </p:nvSpPr>
        <p:spPr>
          <a:xfrm>
            <a:off x="804172" y="2484414"/>
            <a:ext cx="1882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3</a:t>
            </a:r>
            <a:r>
              <a:rPr lang="en-US" sz="1600" b="1" baseline="30000" dirty="0"/>
              <a:t>rd</a:t>
            </a:r>
            <a:r>
              <a:rPr lang="en-US" sz="1600" b="1" dirty="0"/>
              <a:t> Party Integrators</a:t>
            </a:r>
          </a:p>
        </p:txBody>
      </p:sp>
    </p:spTree>
    <p:extLst>
      <p:ext uri="{BB962C8B-B14F-4D97-AF65-F5344CB8AC3E}">
        <p14:creationId xmlns:p14="http://schemas.microsoft.com/office/powerpoint/2010/main" val="2899497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27B089-0F24-19C9-D150-4A4CDC89F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58" b="12258"/>
          <a:stretch/>
        </p:blipFill>
        <p:spPr>
          <a:xfrm>
            <a:off x="1586347" y="873270"/>
            <a:ext cx="9843654" cy="5866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04356-37C4-CF44-4EC5-9BF51EEB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892" y="873270"/>
            <a:ext cx="9511145" cy="85941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Lean Canvas Model Practice(s)</a:t>
            </a:r>
          </a:p>
        </p:txBody>
      </p:sp>
    </p:spTree>
    <p:extLst>
      <p:ext uri="{BB962C8B-B14F-4D97-AF65-F5344CB8AC3E}">
        <p14:creationId xmlns:p14="http://schemas.microsoft.com/office/powerpoint/2010/main" val="3403406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D012E8A-6BDE-4669-A87B-D9D48D843866}"/>
              </a:ext>
            </a:extLst>
          </p:cNvPr>
          <p:cNvGrpSpPr/>
          <p:nvPr/>
        </p:nvGrpSpPr>
        <p:grpSpPr>
          <a:xfrm>
            <a:off x="749206" y="1678056"/>
            <a:ext cx="10693587" cy="3501887"/>
            <a:chOff x="624484" y="1282148"/>
            <a:chExt cx="10693587" cy="350188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5B5216B-CF6C-4B82-A2B1-D975B6238B99}"/>
                </a:ext>
              </a:extLst>
            </p:cNvPr>
            <p:cNvGrpSpPr/>
            <p:nvPr/>
          </p:nvGrpSpPr>
          <p:grpSpPr>
            <a:xfrm>
              <a:off x="624484" y="1616766"/>
              <a:ext cx="2938924" cy="3167269"/>
              <a:chOff x="624484" y="1520512"/>
              <a:chExt cx="2938924" cy="3167269"/>
            </a:xfrm>
          </p:grpSpPr>
          <p:sp>
            <p:nvSpPr>
              <p:cNvPr id="4" name="Rectangle: Folded Corner 3">
                <a:extLst>
                  <a:ext uri="{FF2B5EF4-FFF2-40B4-BE49-F238E27FC236}">
                    <a16:creationId xmlns:a16="http://schemas.microsoft.com/office/drawing/2014/main" id="{35B64723-FC65-425B-AABB-B7F67362DF3B}"/>
                  </a:ext>
                </a:extLst>
              </p:cNvPr>
              <p:cNvSpPr/>
              <p:nvPr/>
            </p:nvSpPr>
            <p:spPr>
              <a:xfrm rot="20794960">
                <a:off x="793704" y="1520512"/>
                <a:ext cx="2769704" cy="3167269"/>
              </a:xfrm>
              <a:prstGeom prst="foldedCorner">
                <a:avLst/>
              </a:prstGeom>
              <a:solidFill>
                <a:srgbClr val="FF66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sz="4000" dirty="0">
                    <a:solidFill>
                      <a:schemeClr val="bg1"/>
                    </a:solidFill>
                  </a:rPr>
                  <a:t>Plot the canvas </a:t>
                </a:r>
                <a:br>
                  <a:rPr lang="en-US" sz="4000" dirty="0">
                    <a:solidFill>
                      <a:schemeClr val="bg1"/>
                    </a:solidFill>
                  </a:rPr>
                </a:br>
                <a:r>
                  <a:rPr lang="en-US" sz="4000" dirty="0">
                    <a:solidFill>
                      <a:schemeClr val="bg1"/>
                    </a:solidFill>
                  </a:rPr>
                  <a:t>on a Chart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C8824D2-4CF0-4708-8634-E04DB15FCC05}"/>
                  </a:ext>
                </a:extLst>
              </p:cNvPr>
              <p:cNvSpPr/>
              <p:nvPr/>
            </p:nvSpPr>
            <p:spPr>
              <a:xfrm>
                <a:off x="624484" y="1934818"/>
                <a:ext cx="477078" cy="46382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7E4031F-42C2-43AD-BB24-D0100DD685AE}"/>
                </a:ext>
              </a:extLst>
            </p:cNvPr>
            <p:cNvGrpSpPr/>
            <p:nvPr/>
          </p:nvGrpSpPr>
          <p:grpSpPr>
            <a:xfrm>
              <a:off x="4787348" y="1282148"/>
              <a:ext cx="2769704" cy="3167269"/>
              <a:chOff x="4787348" y="1282148"/>
              <a:chExt cx="2769704" cy="3167269"/>
            </a:xfrm>
          </p:grpSpPr>
          <p:sp>
            <p:nvSpPr>
              <p:cNvPr id="5" name="Rectangle: Folded Corner 4">
                <a:extLst>
                  <a:ext uri="{FF2B5EF4-FFF2-40B4-BE49-F238E27FC236}">
                    <a16:creationId xmlns:a16="http://schemas.microsoft.com/office/drawing/2014/main" id="{E1C13CC0-28AA-403F-870B-9E3A17C66C51}"/>
                  </a:ext>
                </a:extLst>
              </p:cNvPr>
              <p:cNvSpPr/>
              <p:nvPr/>
            </p:nvSpPr>
            <p:spPr>
              <a:xfrm>
                <a:off x="4787348" y="1282148"/>
                <a:ext cx="2769704" cy="3167269"/>
              </a:xfrm>
              <a:prstGeom prst="foldedCorner">
                <a:avLst/>
              </a:prstGeom>
              <a:solidFill>
                <a:srgbClr val="CCFF3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br>
                  <a:rPr lang="en-US" sz="4000" dirty="0">
                    <a:solidFill>
                      <a:schemeClr val="tx1"/>
                    </a:solidFill>
                  </a:rPr>
                </a:br>
                <a:br>
                  <a:rPr lang="en-US" sz="4000" dirty="0">
                    <a:solidFill>
                      <a:schemeClr val="tx1"/>
                    </a:solidFill>
                  </a:rPr>
                </a:br>
                <a:br>
                  <a:rPr lang="en-US" sz="4000" dirty="0">
                    <a:solidFill>
                      <a:schemeClr val="tx1"/>
                    </a:solidFill>
                  </a:rPr>
                </a:br>
                <a:r>
                  <a:rPr lang="en-US" sz="4000" dirty="0">
                    <a:solidFill>
                      <a:schemeClr val="tx1"/>
                    </a:solidFill>
                  </a:rPr>
                  <a:t>Put the Chart on the wall</a:t>
                </a:r>
              </a:p>
              <a:p>
                <a:pPr algn="ctr"/>
                <a:endParaRPr lang="en-US" sz="4000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895D7ED-DB44-49F0-BFAC-B3584FACEC9F}"/>
                  </a:ext>
                </a:extLst>
              </p:cNvPr>
              <p:cNvSpPr/>
              <p:nvPr/>
            </p:nvSpPr>
            <p:spPr>
              <a:xfrm>
                <a:off x="4898310" y="1384853"/>
                <a:ext cx="477078" cy="46382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2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B867D59-8C16-4330-80FF-E73236DEF2DB}"/>
                </a:ext>
              </a:extLst>
            </p:cNvPr>
            <p:cNvGrpSpPr/>
            <p:nvPr/>
          </p:nvGrpSpPr>
          <p:grpSpPr>
            <a:xfrm>
              <a:off x="8548367" y="1451114"/>
              <a:ext cx="2769704" cy="3210994"/>
              <a:chOff x="8548367" y="1451114"/>
              <a:chExt cx="2769704" cy="3210994"/>
            </a:xfrm>
          </p:grpSpPr>
          <p:sp>
            <p:nvSpPr>
              <p:cNvPr id="6" name="Rectangle: Folded Corner 5">
                <a:extLst>
                  <a:ext uri="{FF2B5EF4-FFF2-40B4-BE49-F238E27FC236}">
                    <a16:creationId xmlns:a16="http://schemas.microsoft.com/office/drawing/2014/main" id="{0CCBB940-774D-4F94-A7FE-868D31609516}"/>
                  </a:ext>
                </a:extLst>
              </p:cNvPr>
              <p:cNvSpPr/>
              <p:nvPr/>
            </p:nvSpPr>
            <p:spPr>
              <a:xfrm rot="588266">
                <a:off x="8548367" y="1494839"/>
                <a:ext cx="2769704" cy="3167269"/>
              </a:xfrm>
              <a:prstGeom prst="foldedCorner">
                <a:avLst/>
              </a:prstGeom>
              <a:solidFill>
                <a:srgbClr val="0099C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sz="2800" dirty="0"/>
                  <a:t>Sketch out your business model with sticky notes and pencil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2784189-E69F-4D00-954E-13D0645987C1}"/>
                  </a:ext>
                </a:extLst>
              </p:cNvPr>
              <p:cNvSpPr/>
              <p:nvPr/>
            </p:nvSpPr>
            <p:spPr>
              <a:xfrm>
                <a:off x="8900467" y="1451114"/>
                <a:ext cx="477078" cy="46382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3</a:t>
                </a:r>
              </a:p>
            </p:txBody>
          </p:sp>
        </p:grp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D9FA90BD-E912-4385-B0D6-77013124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754" y="289567"/>
            <a:ext cx="10515600" cy="1297725"/>
          </a:xfrm>
        </p:spPr>
        <p:txBody>
          <a:bodyPr>
            <a:noAutofit/>
          </a:bodyPr>
          <a:lstStyle/>
          <a:p>
            <a:br>
              <a:rPr lang="en-US" sz="4800" dirty="0">
                <a:solidFill>
                  <a:srgbClr val="FF3300"/>
                </a:solidFill>
              </a:rPr>
            </a:br>
            <a:r>
              <a:rPr lang="en-US" sz="4800" dirty="0">
                <a:solidFill>
                  <a:srgbClr val="FF6600"/>
                </a:solidFill>
              </a:rPr>
              <a:t>Activity</a:t>
            </a:r>
            <a:br>
              <a:rPr lang="en-US" sz="4800" dirty="0">
                <a:solidFill>
                  <a:srgbClr val="FF3300"/>
                </a:solidFill>
              </a:rPr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68664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20F10FB-5D27-654A-0AE6-6B570C765148}"/>
              </a:ext>
            </a:extLst>
          </p:cNvPr>
          <p:cNvGrpSpPr/>
          <p:nvPr/>
        </p:nvGrpSpPr>
        <p:grpSpPr>
          <a:xfrm>
            <a:off x="0" y="9182"/>
            <a:ext cx="12192000" cy="6848818"/>
            <a:chOff x="0" y="9182"/>
            <a:chExt cx="12192000" cy="684881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AA10B96-1162-3B64-5B34-BC847B001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934670"/>
              <a:ext cx="12192000" cy="92333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6555273-98CA-93CB-D4E4-53EBE1BD2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182"/>
              <a:ext cx="12192000" cy="71040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94622D8-28B3-F658-9767-6C4658905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9098" y="5998141"/>
              <a:ext cx="2208101" cy="801999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EB45D02-2371-ED64-7078-E8E52F17DDF2}"/>
              </a:ext>
            </a:extLst>
          </p:cNvPr>
          <p:cNvSpPr txBox="1"/>
          <p:nvPr/>
        </p:nvSpPr>
        <p:spPr>
          <a:xfrm>
            <a:off x="6096000" y="6177196"/>
            <a:ext cx="4085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https://www.facebook.com/techpigeon/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C4525-E676-9C25-6C71-CFEA4C4E2477}"/>
              </a:ext>
            </a:extLst>
          </p:cNvPr>
          <p:cNvSpPr txBox="1"/>
          <p:nvPr/>
        </p:nvSpPr>
        <p:spPr>
          <a:xfrm>
            <a:off x="6079954" y="6446990"/>
            <a:ext cx="2720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hello@techpigeon.org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199F15-A1A8-FF49-97EE-580F47DB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596" y="1943943"/>
            <a:ext cx="3566715" cy="85941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Contact 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70506-8A26-1B85-99C1-E98A53719678}"/>
              </a:ext>
            </a:extLst>
          </p:cNvPr>
          <p:cNvSpPr txBox="1"/>
          <p:nvPr/>
        </p:nvSpPr>
        <p:spPr>
          <a:xfrm>
            <a:off x="4383505" y="3045884"/>
            <a:ext cx="55305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BEA33E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www.Techpigeon.org</a:t>
            </a:r>
            <a:endParaRPr lang="en-US" sz="1600" b="1" dirty="0">
              <a:solidFill>
                <a:srgbClr val="BEA33E"/>
              </a:solidFill>
            </a:endParaRPr>
          </a:p>
          <a:p>
            <a:r>
              <a:rPr lang="en-US" sz="1600" b="1" dirty="0">
                <a:solidFill>
                  <a:srgbClr val="BEA33E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https://techpigeon-smc-private-limited.dmc-microsite.com/</a:t>
            </a:r>
            <a:endParaRPr lang="en-US" sz="1600" b="1" dirty="0">
              <a:solidFill>
                <a:srgbClr val="BEA33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06A4C-0FB5-D029-D36E-029DFBEDA5E8}"/>
              </a:ext>
            </a:extLst>
          </p:cNvPr>
          <p:cNvSpPr txBox="1"/>
          <p:nvPr/>
        </p:nvSpPr>
        <p:spPr>
          <a:xfrm>
            <a:off x="4383505" y="3873185"/>
            <a:ext cx="55305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BEA33E"/>
                </a:solidFill>
              </a:rPr>
              <a:t>Email: hello@techpigeon.org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E275E8-3ABD-A077-AC37-D8DAD5902B67}"/>
              </a:ext>
            </a:extLst>
          </p:cNvPr>
          <p:cNvSpPr txBox="1"/>
          <p:nvPr/>
        </p:nvSpPr>
        <p:spPr>
          <a:xfrm>
            <a:off x="4391526" y="4344044"/>
            <a:ext cx="55305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BEA33E"/>
                </a:solidFill>
              </a:rPr>
              <a:t>Phone: +92 (300) 0529696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151A9-C63E-2B7C-822A-990C8E84BF12}"/>
              </a:ext>
            </a:extLst>
          </p:cNvPr>
          <p:cNvSpPr txBox="1"/>
          <p:nvPr/>
        </p:nvSpPr>
        <p:spPr>
          <a:xfrm>
            <a:off x="4391526" y="4759579"/>
            <a:ext cx="55305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BEA33E"/>
                </a:solidFill>
              </a:rPr>
              <a:t>WhatsApp: +1 (786) 8226386</a:t>
            </a:r>
          </a:p>
        </p:txBody>
      </p:sp>
    </p:spTree>
    <p:extLst>
      <p:ext uri="{BB962C8B-B14F-4D97-AF65-F5344CB8AC3E}">
        <p14:creationId xmlns:p14="http://schemas.microsoft.com/office/powerpoint/2010/main" val="2063643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815</Words>
  <Application>Microsoft Office PowerPoint</Application>
  <PresentationFormat>Widescreen</PresentationFormat>
  <Paragraphs>216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-apple-system</vt:lpstr>
      <vt:lpstr>Arial</vt:lpstr>
      <vt:lpstr>Baskerville Old Face</vt:lpstr>
      <vt:lpstr>Calibri</vt:lpstr>
      <vt:lpstr>Calibri Light</vt:lpstr>
      <vt:lpstr>Inter</vt:lpstr>
      <vt:lpstr>Office Theme</vt:lpstr>
      <vt:lpstr>Business Model Development</vt:lpstr>
      <vt:lpstr>PowerPoint Presentation</vt:lpstr>
      <vt:lpstr>PowerPoint Presentation</vt:lpstr>
      <vt:lpstr>PowerPoint Presentation</vt:lpstr>
      <vt:lpstr>The Lean Canvas Model</vt:lpstr>
      <vt:lpstr>Def_Business Model</vt:lpstr>
      <vt:lpstr>The 9 Building Blocks of Canvas</vt:lpstr>
      <vt:lpstr>PowerPoint Presentation</vt:lpstr>
      <vt:lpstr>Lean Canvas Model </vt:lpstr>
      <vt:lpstr>PowerPoint Presentation</vt:lpstr>
      <vt:lpstr>PowerPoint Presentation</vt:lpstr>
      <vt:lpstr>PowerPoint Presentation</vt:lpstr>
      <vt:lpstr>Which Company’s Product Business Model?</vt:lpstr>
      <vt:lpstr>Canvas Model Design Group Activity</vt:lpstr>
      <vt:lpstr>PowerPoint Presentation</vt:lpstr>
      <vt:lpstr>PowerPoint Presentation</vt:lpstr>
      <vt:lpstr>PowerPoint Presentation</vt:lpstr>
      <vt:lpstr>GitHub Education</vt:lpstr>
      <vt:lpstr>GitHub Education</vt:lpstr>
      <vt:lpstr>PowerPoint Presentation</vt:lpstr>
      <vt:lpstr>Lean Canvas Model Practice(s)</vt:lpstr>
      <vt:lpstr> Activity </vt:lpstr>
      <vt:lpstr>Contact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Development</dc:title>
  <dc:creator>Umer Siddique Lone</dc:creator>
  <cp:lastModifiedBy>Umer Siddique</cp:lastModifiedBy>
  <cp:revision>71</cp:revision>
  <dcterms:created xsi:type="dcterms:W3CDTF">2020-01-16T07:08:18Z</dcterms:created>
  <dcterms:modified xsi:type="dcterms:W3CDTF">2022-10-12T14:39:51Z</dcterms:modified>
</cp:coreProperties>
</file>